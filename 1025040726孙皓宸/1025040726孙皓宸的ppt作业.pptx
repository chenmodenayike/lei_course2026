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80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25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6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89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79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87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68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52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67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421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877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941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3624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048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8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965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C0733DF-071A-4F8A-AFEA-FE0B2D9C457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BFFDC59-162F-4C70-BD0A-0576F4E66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743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00022-5880-1014-3F0C-6C0BDD128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564" y="593436"/>
            <a:ext cx="10529454" cy="1706420"/>
          </a:xfrm>
        </p:spPr>
        <p:txBody>
          <a:bodyPr>
            <a:normAutofit/>
          </a:bodyPr>
          <a:lstStyle/>
          <a:p>
            <a:pPr algn="ctr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主题模型赋能物联网智能运维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从海量日志到故障模式自动发现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188A7E-DA39-5B10-F61B-A9191AD26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1230" y="5377105"/>
            <a:ext cx="2578245" cy="490296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1025040726</a:t>
            </a:r>
            <a:r>
              <a:rPr lang="zh-CN" altLang="en-US" dirty="0">
                <a:solidFill>
                  <a:schemeClr val="bg1"/>
                </a:solidFill>
              </a:rPr>
              <a:t>孙皓宸</a:t>
            </a:r>
          </a:p>
        </p:txBody>
      </p:sp>
    </p:spTree>
    <p:extLst>
      <p:ext uri="{BB962C8B-B14F-4D97-AF65-F5344CB8AC3E}">
        <p14:creationId xmlns:p14="http://schemas.microsoft.com/office/powerpoint/2010/main" val="325663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03" y="1394691"/>
            <a:ext cx="10952886" cy="3168073"/>
          </a:xfrm>
        </p:spPr>
        <p:txBody>
          <a:bodyPr>
            <a:normAutofit/>
          </a:bodyPr>
          <a:lstStyle/>
          <a:p>
            <a:pPr algn="l"/>
            <a:b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数百万传感器、网关、边缘设备 → 每日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PB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级日志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日志格式多样：报错栈、状态码、事件序列、模糊文本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传统方法：关键字检索 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规则告警 → 漏报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误报高、无法发现未知故障模式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1" i="0" dirty="0">
                <a:solidFill>
                  <a:srgbClr val="0F1115"/>
                </a:solidFill>
                <a:effectLst/>
                <a:latin typeface="quote-cjk-patch"/>
              </a:rPr>
              <a:t>核心痛点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：大量日志“沉睡”，缺乏自动化语义归纳能力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7083570" cy="7088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4400" b="1" i="0" dirty="0">
                <a:solidFill>
                  <a:srgbClr val="0F1115"/>
                </a:solidFill>
                <a:effectLst/>
                <a:latin typeface="quote-cjk-patch"/>
              </a:rPr>
              <a:t>物联网运维面临的数据洪流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62851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03" y="1394691"/>
            <a:ext cx="10952886" cy="3168073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一种</a:t>
            </a:r>
            <a:r>
              <a:rPr lang="zh-CN" altLang="en-US" sz="2800" b="1" i="0" dirty="0">
                <a:solidFill>
                  <a:srgbClr val="0F1115"/>
                </a:solidFill>
                <a:effectLst/>
                <a:latin typeface="quote-cjk-patch"/>
              </a:rPr>
              <a:t>无监督概率图模型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：自动发现文档集合中的“隐主题”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假设每篇文档是多个主题的混合，每个主题是词的分布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1" i="0" dirty="0">
                <a:solidFill>
                  <a:srgbClr val="0F1115"/>
                </a:solidFill>
                <a:effectLst/>
                <a:latin typeface="quote-cjk-patch"/>
              </a:rPr>
              <a:t>类比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：浏览大量设备日志 → 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LDA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会自动总结出“网络超时”、“内存泄漏”、“传感器漂移”等典型主题</a:t>
            </a:r>
            <a:b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Menlo"/>
              </a:rPr>
              <a:t>日志文档 → 主题比例 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Menlo"/>
              </a:rPr>
              <a:t>(30%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Menlo"/>
              </a:rPr>
              <a:t>网络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Menlo"/>
              </a:rPr>
              <a:t>+50%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Menlo"/>
              </a:rPr>
              <a:t>内存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Menlo"/>
              </a:rPr>
              <a:t>+20%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Menlo"/>
              </a:rPr>
              <a:t>其他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Menlo"/>
              </a:rPr>
              <a:t>) → 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Menlo"/>
              </a:rPr>
              <a:t>词分布 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Menlo"/>
              </a:rPr>
              <a:t>(</a:t>
            </a:r>
            <a:r>
              <a:rPr lang="en-US" altLang="zh-CN" sz="2800" b="0" i="0" dirty="0" err="1">
                <a:solidFill>
                  <a:srgbClr val="0F1115"/>
                </a:solidFill>
                <a:effectLst/>
                <a:latin typeface="Menlo"/>
              </a:rPr>
              <a:t>tcp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Menlo"/>
              </a:rPr>
              <a:t>, retry, fail)</a:t>
            </a:r>
            <a:endParaRPr lang="zh-CN" altLang="en-US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4400" b="1" i="0" dirty="0">
                <a:solidFill>
                  <a:srgbClr val="0F1115"/>
                </a:solidFill>
                <a:effectLst/>
                <a:latin typeface="quote-cjk-patch"/>
              </a:rPr>
              <a:t>什么是主题模型？以</a:t>
            </a:r>
            <a:r>
              <a:rPr lang="en-US" altLang="zh-CN" sz="4400" b="1" i="0" dirty="0">
                <a:solidFill>
                  <a:srgbClr val="0F1115"/>
                </a:solidFill>
                <a:effectLst/>
                <a:latin typeface="quote-cjk-patch"/>
              </a:rPr>
              <a:t>LDA</a:t>
            </a:r>
            <a:r>
              <a:rPr lang="zh-CN" altLang="en-US" sz="4400" b="1" i="0" dirty="0">
                <a:solidFill>
                  <a:srgbClr val="0F1115"/>
                </a:solidFill>
                <a:effectLst/>
                <a:latin typeface="quote-cjk-patch"/>
              </a:rPr>
              <a:t>为例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39635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03" y="1394691"/>
            <a:ext cx="10952886" cy="3168073"/>
          </a:xfrm>
        </p:spPr>
        <p:txBody>
          <a:bodyPr>
            <a:normAutofit/>
          </a:bodyPr>
          <a:lstStyle/>
          <a:p>
            <a:pPr algn="l"/>
            <a:endParaRPr lang="zh-CN" altLang="en-US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847716" cy="7088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4400" b="1" i="0" dirty="0">
                <a:solidFill>
                  <a:srgbClr val="0F1115"/>
                </a:solidFill>
                <a:effectLst/>
                <a:latin typeface="quote-cjk-patch"/>
              </a:rPr>
              <a:t>从原始日志到故障主题的四个阶段</a:t>
            </a:r>
            <a:endParaRPr lang="zh-CN" altLang="en-US" sz="4400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27FA6A-471A-5BA0-D9FE-DCA0FEF32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030376"/>
              </p:ext>
            </p:extLst>
          </p:nvPr>
        </p:nvGraphicFramePr>
        <p:xfrm>
          <a:off x="887050" y="2013527"/>
          <a:ext cx="10417899" cy="309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2633">
                  <a:extLst>
                    <a:ext uri="{9D8B030D-6E8A-4147-A177-3AD203B41FA5}">
                      <a16:colId xmlns:a16="http://schemas.microsoft.com/office/drawing/2014/main" val="2158675019"/>
                    </a:ext>
                  </a:extLst>
                </a:gridCol>
                <a:gridCol w="3472633">
                  <a:extLst>
                    <a:ext uri="{9D8B030D-6E8A-4147-A177-3AD203B41FA5}">
                      <a16:colId xmlns:a16="http://schemas.microsoft.com/office/drawing/2014/main" val="554148812"/>
                    </a:ext>
                  </a:extLst>
                </a:gridCol>
                <a:gridCol w="3472633">
                  <a:extLst>
                    <a:ext uri="{9D8B030D-6E8A-4147-A177-3AD203B41FA5}">
                      <a16:colId xmlns:a16="http://schemas.microsoft.com/office/drawing/2014/main" val="3251014172"/>
                    </a:ext>
                  </a:extLst>
                </a:gridCol>
              </a:tblGrid>
              <a:tr h="514772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 dirty="0">
                          <a:effectLst/>
                          <a:latin typeface="quote-cjk-patch"/>
                        </a:rPr>
                        <a:t>阶段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任务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关键技术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42457485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altLang="zh-CN" b="0">
                          <a:effectLst/>
                          <a:latin typeface="quote-cjk-patch"/>
                        </a:rPr>
                        <a:t>1.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日志预处理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提取模板、分词、去除停用词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DrainParser,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正则表达式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42840763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altLang="zh-CN" b="0">
                          <a:effectLst/>
                          <a:latin typeface="quote-cjk-patch"/>
                        </a:rPr>
                        <a:t>2.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数值编码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数值参数符号化（如延迟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&gt;100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ms → “high_latency”）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分箱、阈值映射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74480002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altLang="zh-CN" b="0">
                          <a:effectLst/>
                          <a:latin typeface="quote-cjk-patch"/>
                        </a:rPr>
                        <a:t>3.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主题建模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quote-cjk-patch"/>
                        </a:rPr>
                        <a:t>训练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LDA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模型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effectLst/>
                          <a:latin typeface="quote-cjk-patch"/>
                        </a:rPr>
                        <a:t>Gibbs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采样、变分推断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18518338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altLang="zh-CN" b="0">
                          <a:effectLst/>
                          <a:latin typeface="quote-cjk-patch"/>
                        </a:rPr>
                        <a:t>4.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故障解释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quote-cjk-patch"/>
                        </a:rPr>
                        <a:t>每个主题的前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N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个关键词 → 定义故障类型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quote-cjk-patch"/>
                        </a:rPr>
                        <a:t>人工标签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+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运维规则库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95742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443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57" y="1844963"/>
            <a:ext cx="10952886" cy="3168073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日志解析：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Drain / Spell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将原始消息转为事件模板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例：“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Connection to 192.168.1.10 timed out after 5000ms” → “Connection to &lt;*&gt; timed out after &lt;*&gt;</a:t>
            </a:r>
            <a:r>
              <a:rPr lang="en-US" altLang="zh-CN" sz="2800" b="0" i="0" dirty="0" err="1">
                <a:solidFill>
                  <a:srgbClr val="0F1115"/>
                </a:solidFill>
                <a:effectLst/>
                <a:latin typeface="quote-cjk-patch"/>
              </a:rPr>
              <a:t>ms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”</a:t>
            </a:r>
            <a:b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构建“词袋”：每个事件模板 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数值参数区间 作为词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文档划分：按时间窗口（如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10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分钟）或按设备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ID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聚合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zh-CN" altLang="en-US" sz="4000" b="1" dirty="0">
                <a:solidFill>
                  <a:srgbClr val="0F1115"/>
                </a:solidFill>
                <a:effectLst/>
                <a:latin typeface="quote-cjk-patch"/>
              </a:rPr>
              <a:t>预处理细节 </a:t>
            </a:r>
            <a:r>
              <a:rPr lang="en-US" altLang="zh-CN" sz="4000" b="1" dirty="0">
                <a:solidFill>
                  <a:srgbClr val="0F1115"/>
                </a:solidFill>
                <a:effectLst/>
                <a:latin typeface="quote-cjk-patch"/>
              </a:rPr>
              <a:t>—— </a:t>
            </a:r>
            <a:r>
              <a:rPr lang="zh-CN" altLang="en-US" sz="4000" b="1" dirty="0">
                <a:solidFill>
                  <a:srgbClr val="0F1115"/>
                </a:solidFill>
                <a:effectLst/>
                <a:latin typeface="quote-cjk-patch"/>
              </a:rPr>
              <a:t>化非结构为结构</a:t>
            </a:r>
          </a:p>
        </p:txBody>
      </p:sp>
    </p:spTree>
    <p:extLst>
      <p:ext uri="{BB962C8B-B14F-4D97-AF65-F5344CB8AC3E}">
        <p14:creationId xmlns:p14="http://schemas.microsoft.com/office/powerpoint/2010/main" val="325500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57" y="1844963"/>
            <a:ext cx="10952886" cy="3168073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太小 → 合并多种故障（如网络问题和磁盘写满被归为一类）</a:t>
            </a: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太大 → 主题碎片化，难以解释</a:t>
            </a:r>
            <a:b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常用方法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主题一致性（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coherence score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肘部法则（困惑度曲线拐点）</a:t>
            </a: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运维经验：典型设备常见故障种类 ≈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5~15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zh-CN" altLang="en-US" sz="4000" b="1" i="0" dirty="0">
                <a:solidFill>
                  <a:srgbClr val="0F1115"/>
                </a:solidFill>
                <a:effectLst/>
                <a:latin typeface="quote-cjk-patch"/>
              </a:rPr>
              <a:t>主题数</a:t>
            </a:r>
            <a:r>
              <a:rPr lang="en-US" altLang="zh-CN" sz="4000" b="1" i="0" dirty="0">
                <a:solidFill>
                  <a:srgbClr val="0F1115"/>
                </a:solidFill>
                <a:effectLst/>
                <a:latin typeface="quote-cjk-patch"/>
              </a:rPr>
              <a:t>K</a:t>
            </a:r>
            <a:r>
              <a:rPr lang="zh-CN" altLang="en-US" sz="4000" b="1" i="0" dirty="0">
                <a:solidFill>
                  <a:srgbClr val="0F1115"/>
                </a:solidFill>
                <a:effectLst/>
                <a:latin typeface="quote-cjk-patch"/>
              </a:rPr>
              <a:t>如何确定？</a:t>
            </a:r>
            <a:endParaRPr lang="zh-CN" altLang="en-US" sz="4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65049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57" y="1844963"/>
            <a:ext cx="10952886" cy="1457383"/>
          </a:xfrm>
        </p:spPr>
        <p:txBody>
          <a:bodyPr>
            <a:normAutofit/>
          </a:bodyPr>
          <a:lstStyle/>
          <a:p>
            <a:pPr algn="l"/>
            <a:r>
              <a:rPr lang="en-US" altLang="zh-CN" sz="2700" b="0" i="0" dirty="0">
                <a:solidFill>
                  <a:srgbClr val="0F1115"/>
                </a:solidFill>
                <a:effectLst/>
                <a:latin typeface="quote-cjk-patch"/>
              </a:rPr>
              <a:t>2000</a:t>
            </a:r>
            <a:r>
              <a:rPr lang="zh-CN" altLang="en-US" sz="2700" b="0" i="0" dirty="0">
                <a:solidFill>
                  <a:srgbClr val="0F1115"/>
                </a:solidFill>
                <a:effectLst/>
                <a:latin typeface="quote-cjk-patch"/>
              </a:rPr>
              <a:t>台智能电表，</a:t>
            </a:r>
            <a:r>
              <a:rPr lang="en-US" altLang="zh-CN" sz="2700" b="0" i="0" dirty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zh-CN" altLang="en-US" sz="2700" b="0" i="0" dirty="0">
                <a:solidFill>
                  <a:srgbClr val="0F1115"/>
                </a:solidFill>
                <a:effectLst/>
                <a:latin typeface="quote-cjk-patch"/>
              </a:rPr>
              <a:t>个月上报日志（约</a:t>
            </a:r>
            <a:r>
              <a:rPr lang="en-US" altLang="zh-CN" sz="2700" b="0" i="0" dirty="0">
                <a:solidFill>
                  <a:srgbClr val="0F1115"/>
                </a:solidFill>
                <a:effectLst/>
                <a:latin typeface="quote-cjk-patch"/>
              </a:rPr>
              <a:t>120</a:t>
            </a:r>
            <a:r>
              <a:rPr lang="zh-CN" altLang="en-US" sz="2700" b="0" i="0" dirty="0">
                <a:solidFill>
                  <a:srgbClr val="0F1115"/>
                </a:solidFill>
                <a:effectLst/>
                <a:latin typeface="quote-cjk-patch"/>
              </a:rPr>
              <a:t>万条）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zh-CN" altLang="en-US" sz="4000" b="1" i="0" dirty="0">
                <a:solidFill>
                  <a:srgbClr val="0F1115"/>
                </a:solidFill>
                <a:effectLst/>
                <a:latin typeface="quote-cjk-patch"/>
              </a:rPr>
              <a:t>真实场景：发现三类主要故障</a:t>
            </a:r>
            <a:endParaRPr lang="zh-CN" altLang="en-US" sz="4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1E7E1D-602F-2EB1-C52D-2A6C74491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485623"/>
              </p:ext>
            </p:extLst>
          </p:nvPr>
        </p:nvGraphicFramePr>
        <p:xfrm>
          <a:off x="1819563" y="2573654"/>
          <a:ext cx="8128000" cy="342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323128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628170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06772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7030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 dirty="0">
                          <a:effectLst/>
                          <a:latin typeface="quote-cjk-patch"/>
                        </a:rPr>
                        <a:t>主题编号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高权重词（事件模板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+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参数）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人工解释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占比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232619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T1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quote-cjk-patch"/>
                        </a:rPr>
                        <a:t>PLC_ACK_timeout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&gt;200ms, retry&gt;3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quote-cjk-patch"/>
                        </a:rPr>
                        <a:t>载波通信严重拥塞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altLang="zh-CN" b="0">
                          <a:effectLst/>
                          <a:latin typeface="quote-cjk-patch"/>
                        </a:rPr>
                        <a:t>43%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7202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T2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flash_write_fail, checksum_error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quote-cjk-patch"/>
                        </a:rPr>
                        <a:t>存储单元老化故障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effectLst/>
                          <a:latin typeface="quote-cjk-patch"/>
                        </a:rPr>
                        <a:t>31%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683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T3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da-DK" b="0">
                          <a:effectLst/>
                          <a:latin typeface="quote-cjk-patch"/>
                        </a:rPr>
                        <a:t>voltage_sag&gt;20%, timestamp_loss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电源波动导致复位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altLang="zh-CN" b="0">
                          <a:effectLst/>
                          <a:latin typeface="quote-cjk-patch"/>
                        </a:rPr>
                        <a:t>18%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422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其他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杂项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零星异常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effectLst/>
                          <a:latin typeface="quote-cjk-patch"/>
                        </a:rPr>
                        <a:t>8%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6816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65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57" y="2195945"/>
            <a:ext cx="10952886" cy="3168073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离线阶段：用历史日志训练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LDA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，固定每个故障主题的关键词分布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在线阶段：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新日志按时间窗口生成文档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推断该文档的主题分布（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θ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向量）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若某故障主题占比突增（如超过历史均值</a:t>
            </a:r>
            <a:r>
              <a:rPr lang="en-US" altLang="zh-CN" sz="2800" dirty="0">
                <a:solidFill>
                  <a:srgbClr val="0F1115"/>
                </a:solidFill>
                <a:latin typeface="quote-cjk-patch"/>
              </a:rPr>
              <a:t>+x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），触发告警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示例：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θ = [0.05, 0.7, 0.1, ...] → T2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（存储故障）占比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70% → 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立即发出“集群存储异常”告警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zh-CN" altLang="en-US" sz="4000" b="1" i="0" dirty="0">
                <a:solidFill>
                  <a:srgbClr val="0F1115"/>
                </a:solidFill>
                <a:effectLst/>
                <a:latin typeface="quote-cjk-patch"/>
              </a:rPr>
              <a:t>从离线分析到实时智能告警</a:t>
            </a:r>
            <a:endParaRPr lang="zh-CN" altLang="en-US" sz="4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195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57" y="1844963"/>
            <a:ext cx="10952886" cy="3168073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无监督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：无需标注故障样本，适用于快速变化的物联网环境</a:t>
            </a:r>
            <a:b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可解释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：输出直观的关键词列表，运维能理解主题含义</a:t>
            </a:r>
            <a:b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轻量级扩展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Online LDA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支持增量更新，适应日志流</a:t>
            </a:r>
            <a:b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压缩通信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：边缘节点仅上传主题占比而非原始日志（隐私保护）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zh-CN" altLang="en-US" sz="4000" b="1" i="0" dirty="0">
                <a:solidFill>
                  <a:srgbClr val="0F1115"/>
                </a:solidFill>
                <a:effectLst/>
                <a:latin typeface="quote-cjk-patch"/>
              </a:rPr>
              <a:t>为什么选择主题模型？</a:t>
            </a:r>
            <a:endParaRPr lang="zh-CN" altLang="en-US" sz="4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38320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57" y="1844963"/>
            <a:ext cx="10952886" cy="3168073"/>
          </a:xfrm>
        </p:spPr>
        <p:txBody>
          <a:bodyPr>
            <a:normAutofit/>
          </a:bodyPr>
          <a:lstStyle/>
          <a:p>
            <a:pPr algn="l"/>
            <a:endParaRPr lang="zh-CN" altLang="en-US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zh-CN" altLang="en-US" sz="4000" b="1" i="0" dirty="0">
                <a:solidFill>
                  <a:srgbClr val="0F1115"/>
                </a:solidFill>
                <a:effectLst/>
                <a:latin typeface="quote-cjk-patch"/>
              </a:rPr>
              <a:t>当前挑战与应对思路</a:t>
            </a:r>
            <a:endParaRPr lang="zh-CN" altLang="en-US" sz="4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C25D1F-5803-2CA7-0FC2-B3830846C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405102"/>
              </p:ext>
            </p:extLst>
          </p:nvPr>
        </p:nvGraphicFramePr>
        <p:xfrm>
          <a:off x="2032000" y="1844963"/>
          <a:ext cx="8127999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245070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842504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86000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 dirty="0">
                          <a:effectLst/>
                          <a:latin typeface="quote-cjk-patch"/>
                        </a:rPr>
                        <a:t>挑战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说明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改进方法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255502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日志演化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设备固件升级后日志模板改变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动态更新主题模型（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Online LDA +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遗忘机制）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2866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参数敏感性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预处理参数、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K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值影响大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引入自适应分箱 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+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贝叶斯非参数主题模型（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HDP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8403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罕见故障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低频但重要故障易被忽略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结合异常检测预筛选 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+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主题模型精细分析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4371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时序依赖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词袋模型忽略故障顺序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quote-cjk-patch"/>
                        </a:rPr>
                        <a:t>采用动态主题模型（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DTM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）或融合序列信息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40509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0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85773-D2E7-4C5F-210B-FBD9B8A3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57" y="1844963"/>
            <a:ext cx="10952886" cy="3168073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主题模型为物联网日志分析提供了低成本、可解释的故障归纳能力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显著缩短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MTTR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（平均修复时间），减少告警风暴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未来</a:t>
            </a:r>
            <a:r>
              <a:rPr lang="zh-CN" altLang="en-US" sz="2800" b="0" i="0">
                <a:solidFill>
                  <a:srgbClr val="0F1115"/>
                </a:solidFill>
                <a:effectLst/>
                <a:latin typeface="quote-cjk-patch"/>
              </a:rPr>
              <a:t>方向：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结合大语言模型自动生成故障描述与</a:t>
            </a:r>
            <a:r>
              <a:rPr lang="zh-CN" altLang="en-US" sz="2800" b="0" i="0">
                <a:solidFill>
                  <a:srgbClr val="0F1115"/>
                </a:solidFill>
                <a:effectLst/>
                <a:latin typeface="quote-cjk-patch"/>
              </a:rPr>
              <a:t>修复建议</a:t>
            </a:r>
            <a:b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边缘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quote-cjk-patch"/>
              </a:rPr>
              <a:t>-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云协同的增量主题学习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93511-CF38-5055-02B7-4055B351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8173461" cy="70889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zh-CN" altLang="en-US" sz="4000" b="1" i="0" dirty="0">
                <a:solidFill>
                  <a:srgbClr val="0F1115"/>
                </a:solidFill>
                <a:effectLst/>
                <a:latin typeface="quote-cjk-patch"/>
              </a:rPr>
              <a:t>核心结论</a:t>
            </a:r>
            <a:endParaRPr lang="zh-CN" altLang="en-US" sz="4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289654523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</TotalTime>
  <Words>817</Words>
  <Application>Microsoft Office PowerPoint</Application>
  <PresentationFormat>宽屏</PresentationFormat>
  <Paragraphs>70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Menlo</vt:lpstr>
      <vt:lpstr>quote-cjk-patch</vt:lpstr>
      <vt:lpstr>Arial</vt:lpstr>
      <vt:lpstr>Century Gothic</vt:lpstr>
      <vt:lpstr>Wingdings 3</vt:lpstr>
      <vt:lpstr>切片</vt:lpstr>
      <vt:lpstr>主题模型赋能物联网智能运维 ——从海量日志到故障模式自动发现</vt:lpstr>
      <vt:lpstr> 数百万传感器、网关、边缘设备 → 每日PB级日志 日志格式多样：报错栈、状态码、事件序列、模糊文本 传统方法：关键字检索 + 规则告警 → 漏报/误报高、无法发现未知故障模式 核心痛点：大量日志“沉睡”，缺乏自动化语义归纳能力 </vt:lpstr>
      <vt:lpstr>一种无监督概率图模型：自动发现文档集合中的“隐主题” 假设每篇文档是多个主题的混合，每个主题是词的分布 类比：浏览大量设备日志 → LDA会自动总结出“网络超时”、“内存泄漏”、“传感器漂移”等典型主题  日志文档 → 主题比例 (30%网络+50%内存+20%其他) → 词分布 (tcp, retry, fail)</vt:lpstr>
      <vt:lpstr>PowerPoint 演示文稿</vt:lpstr>
      <vt:lpstr>日志解析：Drain / Spell将原始消息转为事件模板  例：“Connection to 192.168.1.10 timed out after 5000ms” → “Connection to &lt;*&gt; timed out after &lt;*&gt;ms”  构建“词袋”：每个事件模板 + 数值参数区间 作为词  文档划分：按时间窗口（如10分钟）或按设备ID聚合</vt:lpstr>
      <vt:lpstr>太小 → 合并多种故障（如网络问题和磁盘写满被归为一类） 太大 → 主题碎片化，难以解释  常用方法： 主题一致性（coherence score） 肘部法则（困惑度曲线拐点） 运维经验：典型设备常见故障种类 ≈ 5~15</vt:lpstr>
      <vt:lpstr>2000台智能电表，3个月上报日志（约120万条）  </vt:lpstr>
      <vt:lpstr>离线阶段：用历史日志训练LDA，固定每个故障主题的关键词分布  在线阶段：  新日志按时间窗口生成文档 推断该文档的主题分布（θ向量） 若某故障主题占比突增（如超过历史均值+x），触发告警 示例： θ = [0.05, 0.7, 0.1, ...] → T2（存储故障）占比70% → 立即发出“集群存储异常”告警</vt:lpstr>
      <vt:lpstr>无监督：无需标注故障样本，适用于快速变化的物联网环境  可解释：输出直观的关键词列表，运维能理解主题含义  轻量级扩展：Online LDA支持增量更新，适应日志流  压缩通信：边缘节点仅上传主题占比而非原始日志（隐私保护）</vt:lpstr>
      <vt:lpstr>PowerPoint 演示文稿</vt:lpstr>
      <vt:lpstr>主题模型为物联网日志分析提供了低成本、可解释的故障归纳能力 显著缩短MTTR（平均修复时间），减少告警风暴  未来方向： 结合大语言模型自动生成故障描述与修复建议 边缘-云协同的增量主题学习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皓宸 孙</dc:creator>
  <cp:lastModifiedBy>皓宸 孙</cp:lastModifiedBy>
  <cp:revision>3</cp:revision>
  <dcterms:created xsi:type="dcterms:W3CDTF">2026-05-21T08:37:20Z</dcterms:created>
  <dcterms:modified xsi:type="dcterms:W3CDTF">2026-05-21T09:05:13Z</dcterms:modified>
</cp:coreProperties>
</file>