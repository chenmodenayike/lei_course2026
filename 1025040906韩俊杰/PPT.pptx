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00.svg" ContentType="image/svg+xml"/>
  <Override PartName="/ppt/media/image103.svg" ContentType="image/svg+xml"/>
  <Override PartName="/ppt/media/image106.svg" ContentType="image/svg+xml"/>
  <Override PartName="/ppt/media/image108.svg" ContentType="image/svg+xml"/>
  <Override PartName="/ppt/media/image110.svg" ContentType="image/svg+xml"/>
  <Override PartName="/ppt/media/image112.svg" ContentType="image/svg+xml"/>
  <Override PartName="/ppt/media/image114.svg" ContentType="image/svg+xml"/>
  <Override PartName="/ppt/media/image116.svg" ContentType="image/svg+xml"/>
  <Override PartName="/ppt/media/image118.svg" ContentType="image/svg+xml"/>
  <Override PartName="/ppt/media/image12.svg" ContentType="image/svg+xml"/>
  <Override PartName="/ppt/media/image120.svg" ContentType="image/svg+xml"/>
  <Override PartName="/ppt/media/image123.svg" ContentType="image/svg+xml"/>
  <Override PartName="/ppt/media/image125.svg" ContentType="image/svg+xml"/>
  <Override PartName="/ppt/media/image127.svg" ContentType="image/svg+xml"/>
  <Override PartName="/ppt/media/image129.svg" ContentType="image/svg+xml"/>
  <Override PartName="/ppt/media/image131.svg" ContentType="image/svg+xml"/>
  <Override PartName="/ppt/media/image133.svg" ContentType="image/svg+xml"/>
  <Override PartName="/ppt/media/image135.svg" ContentType="image/svg+xml"/>
  <Override PartName="/ppt/media/image137.svg" ContentType="image/svg+xml"/>
  <Override PartName="/ppt/media/image139.svg" ContentType="image/svg+xml"/>
  <Override PartName="/ppt/media/image14.svg" ContentType="image/svg+xml"/>
  <Override PartName="/ppt/media/image142.svg" ContentType="image/svg+xml"/>
  <Override PartName="/ppt/media/image144.svg" ContentType="image/svg+xml"/>
  <Override PartName="/ppt/media/image146.svg" ContentType="image/svg+xml"/>
  <Override PartName="/ppt/media/image148.svg" ContentType="image/svg+xml"/>
  <Override PartName="/ppt/media/image150.svg" ContentType="image/svg+xml"/>
  <Override PartName="/ppt/media/image152.svg" ContentType="image/svg+xml"/>
  <Override PartName="/ppt/media/image154.svg" ContentType="image/svg+xml"/>
  <Override PartName="/ppt/media/image156.svg" ContentType="image/svg+xml"/>
  <Override PartName="/ppt/media/image158.svg" ContentType="image/svg+xml"/>
  <Override PartName="/ppt/media/image16.svg" ContentType="image/svg+xml"/>
  <Override PartName="/ppt/media/image160.svg" ContentType="image/svg+xml"/>
  <Override PartName="/ppt/media/image162.svg" ContentType="image/svg+xml"/>
  <Override PartName="/ppt/media/image164.svg" ContentType="image/svg+xml"/>
  <Override PartName="/ppt/media/image166.svg" ContentType="image/svg+xml"/>
  <Override PartName="/ppt/media/image168.svg" ContentType="image/svg+xml"/>
  <Override PartName="/ppt/media/image170.svg" ContentType="image/svg+xml"/>
  <Override PartName="/ppt/media/image18.svg" ContentType="image/svg+xml"/>
  <Override PartName="/ppt/media/image2.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svg" ContentType="image/svg+xml"/>
  <Override PartName="/ppt/media/image40.svg" ContentType="image/svg+xml"/>
  <Override PartName="/ppt/media/image42.svg" ContentType="image/svg+xml"/>
  <Override PartName="/ppt/media/image44.svg" ContentType="image/svg+xml"/>
  <Override PartName="/ppt/media/image46.svg" ContentType="image/svg+xml"/>
  <Override PartName="/ppt/media/image48.svg" ContentType="image/svg+xml"/>
  <Override PartName="/ppt/media/image50.svg" ContentType="image/svg+xml"/>
  <Override PartName="/ppt/media/image52.svg" ContentType="image/svg+xml"/>
  <Override PartName="/ppt/media/image54.svg" ContentType="image/svg+xml"/>
  <Override PartName="/ppt/media/image56.svg" ContentType="image/svg+xml"/>
  <Override PartName="/ppt/media/image58.svg" ContentType="image/svg+xml"/>
  <Override PartName="/ppt/media/image6.svg" ContentType="image/svg+xml"/>
  <Override PartName="/ppt/media/image60.svg" ContentType="image/svg+xml"/>
  <Override PartName="/ppt/media/image64.svg" ContentType="image/svg+xml"/>
  <Override PartName="/ppt/media/image66.svg" ContentType="image/svg+xml"/>
  <Override PartName="/ppt/media/image68.svg" ContentType="image/svg+xml"/>
  <Override PartName="/ppt/media/image70.svg" ContentType="image/svg+xml"/>
  <Override PartName="/ppt/media/image72.svg" ContentType="image/svg+xml"/>
  <Override PartName="/ppt/media/image75.svg" ContentType="image/svg+xml"/>
  <Override PartName="/ppt/media/image78.svg" ContentType="image/svg+xml"/>
  <Override PartName="/ppt/media/image8.svg" ContentType="image/svg+xml"/>
  <Override PartName="/ppt/media/image80.svg" ContentType="image/svg+xml"/>
  <Override PartName="/ppt/media/image82.svg" ContentType="image/svg+xml"/>
  <Override PartName="/ppt/media/image84.svg" ContentType="image/svg+xml"/>
  <Override PartName="/ppt/media/image86.svg" ContentType="image/svg+xml"/>
  <Override PartName="/ppt/media/image88.svg" ContentType="image/svg+xml"/>
  <Override PartName="/ppt/media/image90.svg" ContentType="image/svg+xml"/>
  <Override PartName="/ppt/media/image92.svg" ContentType="image/svg+xml"/>
  <Override PartName="/ppt/media/image94.svg" ContentType="image/svg+xml"/>
  <Override PartName="/ppt/media/image96.svg" ContentType="image/svg+xml"/>
  <Override PartName="/ppt/media/image9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99" r:id="rId4"/>
    <p:sldId id="328" r:id="rId6"/>
    <p:sldId id="300" r:id="rId7"/>
    <p:sldId id="301" r:id="rId8"/>
    <p:sldId id="302" r:id="rId9"/>
    <p:sldId id="303" r:id="rId10"/>
    <p:sldId id="304" r:id="rId11"/>
    <p:sldId id="305" r:id="rId12"/>
    <p:sldId id="306" r:id="rId13"/>
    <p:sldId id="308" r:id="rId14"/>
    <p:sldId id="309" r:id="rId15"/>
    <p:sldId id="310" r:id="rId16"/>
    <p:sldId id="311" r:id="rId17"/>
    <p:sldId id="312" r:id="rId18"/>
    <p:sldId id="313" r:id="rId19"/>
    <p:sldId id="314" r:id="rId20"/>
    <p:sldId id="315" r:id="rId21"/>
    <p:sldId id="316" r:id="rId22"/>
    <p:sldId id="317" r:id="rId23"/>
    <p:sldId id="318" r:id="rId24"/>
    <p:sldId id="319" r:id="rId25"/>
    <p:sldId id="320" r:id="rId26"/>
    <p:sldId id="321" r:id="rId27"/>
    <p:sldId id="322" r:id="rId28"/>
    <p:sldId id="323" r:id="rId29"/>
    <p:sldId id="324" r:id="rId30"/>
    <p:sldId id="325" r:id="rId31"/>
    <p:sldId id="326" r:id="rId32"/>
    <p:sldId id="327" r:id="rId33"/>
    <p:sldId id="329" r:id="rId3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520" userDrawn="1">
          <p15:clr>
            <a:srgbClr val="747775"/>
          </p15:clr>
        </p15:guide>
        <p15:guide id="2" pos="296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520"/>
        <p:guide pos="296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7" Type="http://schemas.openxmlformats.org/officeDocument/2006/relationships/tableStyles" Target="tableStyles.xml"/><Relationship Id="rId36" Type="http://schemas.openxmlformats.org/officeDocument/2006/relationships/viewProps" Target="viewProps.xml"/><Relationship Id="rId35" Type="http://schemas.openxmlformats.org/officeDocument/2006/relationships/presProps" Target="presProps.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大家好，今天我将为大家分享关于无线网络恶意流量AI检测的技术与实践。随着Wi-Fi技术从4代演进到7代，网络速度越来越快，但安全风险也随之剧增。传统的防御手段在面对日益复杂的攻击时显得力不从心。本次分享将探讨如何利用人工智能技术，实现从传统防御到智能感知的演进，构建更安全的无线网络环境。</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大家好，今天我将为大家分享关于无线网络恶意流量AI检测的技术与实践。随着Wi-Fi技术从4代演进到7代，网络速度越来越快，但安全风险也随之剧增。传统的防御手段在面对日益复杂的攻击时显得力不从心。本次分享将探讨如何利用人工智能技术，实现从传统防御到智能感知的演进，构建更安全的无线网络环境。</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我们正处在一个无线新纪元，从Wi-Fi 4到Wi-Fi 7，网络速率实现了飞跃式增长。然而，速度的提升也带来了新的风险。连接设备的爆炸式增长、攻击向量的多样化以及流量复杂性的剧增，都使得我们的网络攻击面同步扩大。这要求我们必须采用更智能的方法来应对这些挑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无线网络的先天缺陷是其安全性的根本挑战。一方面，物理层的开放性使得信号可以轻易穿透物理边界，为外部攻击提供了便利。另一方面，协议层的设计缺陷，特别是管理帧的未加密，导致了严重的信任危机。攻击者可以利用这些未加密的帧，轻易地发起各种欺骗和拒绝服务攻击。</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恶意流量对企业的威胁是多方面的。首先是数据泄露，攻击者可以窃取敏感信息，造成巨大的经济和声誉损失。其次是业务中断，通过拒绝服务攻击，攻击者可以轻易让整个办公网络瘫痪。最后，这些安全事件还可能引发合规性风险，导致企业面临罚款甚至失去经营资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传统的防御手段已经难以应对现代攻击。WPA3虽然强大，但它只是第一道防线，无法防止内网渗透，也对管理帧攻击无效。而基于静态规则和特征库的检测方法，在面对零日攻击和变种攻击时显得力不从心，并且常常伴随着高误报率和高昂的维护成本。</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接下来，我们进入第二部分，详细了解一下无线恶意流量的分类。我们将从不同维度解析各种典型的攻击行为。</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系统地理解无线威胁，我们可以构建一个分类矩阵。从攻击的目标来看，可以分为三类：破坏可用性、篡改完整性和窃取隐私。结合具体的攻击手法，我们可以看到，不同的攻击类型对应着不同的威胁维度。例如，信标洪泛主要破坏可用性，而邪恶孪生攻击则同时威胁到完整性和隐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大规模攻击之前，攻击者通常会进行潜入和扫描。信标洪泛攻击通过制造大量虚假Wi-Fi网络来干扰用户，而探针请求扫描则用于主动探测和收集附近客户端的信息。这些行为虽然不一定直接造成破坏，但它们是后续更严重攻击的前奏。</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Evil Twin，即邪恶孪生攻击，是一种典型的中间人攻击。攻击者通过创建一个与合法Wi-Fi同名但信号更强的恶意接入点，诱骗用户连接。一旦用户连接，攻击者就能窃听其所有流量。这种攻击的流量特征非常明显：网络中出现重复的SSID，但信号强度和MAC地址不同。</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物联网设备是网络中沉默的大多数，它们数量庞大但安全防护薄弱。正常情况下，它们的行为模式非常固定，比如定期发送心跳包。一旦被攻击者控制，它们的流量行为会发生显著变化，例如通信频率、目标、大小和协议都会出现异常。通过监测这些异常“心跳”，我们可以及时发现被入侵的IoT设备。</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了解了各种攻击类型后，我们来对比一下传统的检测技术和现代的AI检测技术，看看它们各自的优劣。</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基于特征码的检测是传统IDS的核心技术。它通过匹配已知攻击的特征来工作，优点是速度快、准确率高。但它的缺点也非常致命：无法检测未知的零日攻击，并且存在明显的滞后性，难以应对不断变种的攻击手法。</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基于统计门限的检测方法更加简单粗暴，它就像一个计数器，当单位时间内的数据包数量超过某个阈值时就告警。这种方法的最大痛点是高误报率，它很难区分正常的业务高峰和真正的攻击。同时，对于慢速扫描等低速率攻击，它也无能为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现代AI检测的核心思想是异常检测。它不再试图定义“什么是攻击”，而是先通过学习建立一个“正常”行为的基准模型。在实际检测中，任何显著偏离这个模型的行为都会被识别为异常。</a:t>
            </a:r>
            <a:endParaRPr lang="en-US" sz="1400" b="0" i="0" u="none" strike="noStrike">
              <a:solidFill>
                <a:srgbClr val="000000"/>
              </a:solidFill>
            </a:endParaRPr>
          </a:p>
          <a:p>
            <a:pPr indent="0" algn="l">
              <a:lnSpc>
                <a:spcPct val="100000"/>
              </a:lnSpc>
            </a:pPr>
            <a:r>
              <a:rPr lang="en-US" sz="1400" b="0" i="0" u="none" strike="noStrike">
                <a:solidFill>
                  <a:srgbClr val="000000"/>
                </a:solidFill>
              </a:rPr>
              <a:t>这种方法的最大优势在于，它能够检测未知的零日攻击，并且能够适应动态变化的网络环境，有效降低误报率。</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面对日益普及的加密流量，传统检测方法束手无策。而AI的优势在于，它不需要解密流量，而是通过分析加密流量的元数据，如包大小、到达时间间隔等，来识别恶意行为。不同的应用和恶意软件，其通信的“节奏”和“模式”是不同的，AI能够学习并识别这些独特的“指纹”。</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张表格对三种检测技术进行了全面对比。可以看到，基于AI的异常检测在检测能力和准确率上具有压倒性优势，是应对高级威胁的必然选择。当然，它也需要更高的计算资源和更复杂的部署架构。在实际应用中，我们需要根据具体场景在速度、精度和成本之间做出权衡。</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理论说完了，接下来我们进入最激动人心的部分——实战。我将通过一个二分类实验，向大家展示如何使用AI技术来检测无线恶意流量。</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实验的基石是AWID3数据集，这是目前最新的、最权威的无线攻击数据集之一。它包含了丰富的正常流量和超过21种攻击流量，并且每个样本都有清晰的标签。选择这个数据集，能够确保我们的实验结果具有科学性和可比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搭建一个合适的实验环境是成功的第一步。我们需要一台配置较高的计算机，特别是多核CPU和大内存。软件方面，我们选择Python作为主要编程语言，并使用Scikit-learn、Pandas等强大的开源库来完成数据处理、模型训练和可视化的工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特征工程是AI模型成功的关键。我们需要从原始的数据包中提取出有意义的特征。除了直接提取的关键字段，如帧长度、类型和MAC地址，我们还需要创建一些衍生特征，如数据包到达时间间隔、单位时间内的包数量等。这些特征共同构成了模型进行判断的依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众多机器学习模型中，我们选择了随机森林。原因有三：首先，它作为一种集成学习方法，具有强大的抗噪能力和高准确率；其次，它能天然地处理网络数据中的非线性特征；最重要的是，它具有卓越的可解释性，能够告诉我们哪些特征对检测攻击最关键，这对于模型的优化和信任至关重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的实验遵循一个标准的机器学习流程。首先进行数据准备和清洗，然后进行特征工程。接着，我们使用处理好的数据训练随机森林模型。训练完成后，我们会用测试集来评估模型的性能。最后，我们就可以用这个训练好的模型来预测新的未知流量了。</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我们实验的核心Python代码。大家可以看到，整个流程非常简洁。我们使用Pandas加载数据，Scikit-learn划分数据集并训练随机森林模型。最后，我们用classification_report来评估模型的性能。这短短几行代码，就构建了一个强大的AI恶意流量检测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量化模型的性能，我们使用了几个核心指标：准确率、精确率、召回率和F1-Score。在AWID3测试集上，我们的模型取得了非常不错的成绩，准确率达到了99.2%，F1-Score也达到了98.1%，这表明模型具有很高的检测能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随机森林的一大优势就是可解释性。通过分析特征重要性，我们可以一窥模型的“思考过程”。实验发现，帧子类型、数据包长度和到达时间间隔是模型判断恶意流量的最关键特征。这验证了我们的模型确实学习到了与攻击行为强相关的模式。</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当然，我们的实验也存在一些局限性，比如过拟合风险、对小样本攻击识别困难等。未来，我们可以通过模型优化、数据增强和算法升级等方式来改进。例如，我们可以尝试更先进的梯度提升树模型，或者从二分类升级到多分类，以识别具体的攻击类型。</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最后，我们对本次分享进行总结，并展望无线安全的未来趋势。</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总结一下，无线网络安全正面临前所未有的挑战，而AI为我们提供了强大的武器。我们的实验证明，机器学习模型在恶意流量检测任务中是有效且可靠的。</a:t>
            </a:r>
            <a:endParaRPr lang="en-US" sz="1400" b="0" i="0" u="none" strike="noStrike">
              <a:solidFill>
                <a:srgbClr val="000000"/>
              </a:solidFill>
            </a:endParaRPr>
          </a:p>
          <a:p>
            <a:pPr indent="0" algn="l">
              <a:lnSpc>
                <a:spcPct val="100000"/>
              </a:lnSpc>
            </a:pPr>
            <a:r>
              <a:rPr lang="en-US" sz="1400" b="0" i="0" u="none" strike="noStrike">
                <a:solidFill>
                  <a:srgbClr val="000000"/>
                </a:solidFill>
              </a:rPr>
              <a:t>展望未来，无线安全将朝着更智能、更自适应的方向发展，包括从二分类到多分类的演进、轻量化模型的边缘部署，以及联邦学习和知识图谱等新技术的融合。</a:t>
            </a:r>
            <a:endParaRPr lang="en-US" sz="1400" b="0" i="0" u="none" strike="noStrike">
              <a:solidFill>
                <a:srgbClr val="000000"/>
              </a:solidFill>
            </a:endParaRPr>
          </a:p>
          <a:p>
            <a:pPr indent="0" algn="l">
              <a:lnSpc>
                <a:spcPct val="100000"/>
              </a:lnSpc>
            </a:pPr>
            <a:r>
              <a:rPr lang="en-US" sz="1400" b="0" i="0" u="none" strike="noStrike">
                <a:solidFill>
                  <a:srgbClr val="000000"/>
                </a:solidFill>
              </a:rPr>
              <a:t>无线网络安全的未来，是AI驱动的智能、自适应和主动防御的未来。谢谢大家！</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我的分享到此结束，感谢大家的聆听。现在是问答环节，欢迎大家提问交流。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12.xml"/><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3.xml"/><Relationship Id="rId7" Type="http://schemas.openxmlformats.org/officeDocument/2006/relationships/slideLayout" Target="../slideLayouts/slideLayout12.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9" Type="http://schemas.openxmlformats.org/officeDocument/2006/relationships/image" Target="../media/image19.png"/><Relationship Id="rId8" Type="http://schemas.openxmlformats.org/officeDocument/2006/relationships/image" Target="../media/image18.svg"/><Relationship Id="rId7" Type="http://schemas.openxmlformats.org/officeDocument/2006/relationships/image" Target="../media/image17.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 Id="rId3" Type="http://schemas.openxmlformats.org/officeDocument/2006/relationships/image" Target="../media/image13.png"/><Relationship Id="rId2" Type="http://schemas.openxmlformats.org/officeDocument/2006/relationships/image" Target="../media/image12.svg"/><Relationship Id="rId18" Type="http://schemas.openxmlformats.org/officeDocument/2006/relationships/notesSlide" Target="../notesSlides/notesSlide4.xml"/><Relationship Id="rId17" Type="http://schemas.openxmlformats.org/officeDocument/2006/relationships/slideLayout" Target="../slideLayouts/slideLayout12.xml"/><Relationship Id="rId16" Type="http://schemas.openxmlformats.org/officeDocument/2006/relationships/image" Target="../media/image26.svg"/><Relationship Id="rId15" Type="http://schemas.openxmlformats.org/officeDocument/2006/relationships/image" Target="../media/image25.png"/><Relationship Id="rId14" Type="http://schemas.openxmlformats.org/officeDocument/2006/relationships/image" Target="../media/image24.svg"/><Relationship Id="rId13" Type="http://schemas.openxmlformats.org/officeDocument/2006/relationships/image" Target="../media/image23.png"/><Relationship Id="rId12" Type="http://schemas.openxmlformats.org/officeDocument/2006/relationships/image" Target="../media/image22.svg"/><Relationship Id="rId11" Type="http://schemas.openxmlformats.org/officeDocument/2006/relationships/image" Target="../media/image21.png"/><Relationship Id="rId10" Type="http://schemas.openxmlformats.org/officeDocument/2006/relationships/image" Target="../media/image20.svg"/><Relationship Id="rId1" Type="http://schemas.openxmlformats.org/officeDocument/2006/relationships/image" Target="../media/image11.png"/></Relationships>
</file>

<file path=ppt/slides/_rels/slide5.xml.rels><?xml version="1.0" encoding="UTF-8" standalone="yes"?>
<Relationships xmlns="http://schemas.openxmlformats.org/package/2006/relationships"><Relationship Id="rId8" Type="http://schemas.openxmlformats.org/officeDocument/2006/relationships/notesSlide" Target="../notesSlides/notesSlide5.xml"/><Relationship Id="rId7" Type="http://schemas.openxmlformats.org/officeDocument/2006/relationships/slideLayout" Target="../slideLayouts/slideLayout12.xml"/><Relationship Id="rId6" Type="http://schemas.openxmlformats.org/officeDocument/2006/relationships/image" Target="../media/image32.svg"/><Relationship Id="rId5" Type="http://schemas.openxmlformats.org/officeDocument/2006/relationships/image" Target="../media/image31.png"/><Relationship Id="rId4" Type="http://schemas.openxmlformats.org/officeDocument/2006/relationships/image" Target="../media/image30.svg"/><Relationship Id="rId3" Type="http://schemas.openxmlformats.org/officeDocument/2006/relationships/image" Target="../media/image29.png"/><Relationship Id="rId2" Type="http://schemas.openxmlformats.org/officeDocument/2006/relationships/image" Target="../media/image28.svg"/><Relationship Id="rId1" Type="http://schemas.openxmlformats.org/officeDocument/2006/relationships/image" Target="../media/image27.png"/></Relationships>
</file>

<file path=ppt/slides/_rels/slide6.xml.rels><?xml version="1.0" encoding="UTF-8" standalone="yes"?>
<Relationships xmlns="http://schemas.openxmlformats.org/package/2006/relationships"><Relationship Id="rId9" Type="http://schemas.openxmlformats.org/officeDocument/2006/relationships/image" Target="../media/image25.png"/><Relationship Id="rId8" Type="http://schemas.openxmlformats.org/officeDocument/2006/relationships/image" Target="../media/image38.svg"/><Relationship Id="rId7" Type="http://schemas.openxmlformats.org/officeDocument/2006/relationships/image" Target="../media/image37.png"/><Relationship Id="rId6" Type="http://schemas.openxmlformats.org/officeDocument/2006/relationships/image" Target="../media/image36.svg"/><Relationship Id="rId5" Type="http://schemas.openxmlformats.org/officeDocument/2006/relationships/image" Target="../media/image35.png"/><Relationship Id="rId4" Type="http://schemas.openxmlformats.org/officeDocument/2006/relationships/image" Target="../media/image34.svg"/><Relationship Id="rId3" Type="http://schemas.openxmlformats.org/officeDocument/2006/relationships/image" Target="../media/image33.png"/><Relationship Id="rId2" Type="http://schemas.openxmlformats.org/officeDocument/2006/relationships/image" Target="../media/image28.svg"/><Relationship Id="rId14" Type="http://schemas.openxmlformats.org/officeDocument/2006/relationships/notesSlide" Target="../notesSlides/notesSlide6.xml"/><Relationship Id="rId13" Type="http://schemas.openxmlformats.org/officeDocument/2006/relationships/slideLayout" Target="../slideLayouts/slideLayout12.xml"/><Relationship Id="rId12" Type="http://schemas.openxmlformats.org/officeDocument/2006/relationships/image" Target="../media/image40.svg"/><Relationship Id="rId11" Type="http://schemas.openxmlformats.org/officeDocument/2006/relationships/image" Target="../media/image39.png"/><Relationship Id="rId10" Type="http://schemas.openxmlformats.org/officeDocument/2006/relationships/image" Target="../media/image26.svg"/><Relationship Id="rId1" Type="http://schemas.openxmlformats.org/officeDocument/2006/relationships/image" Target="../media/image2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8" Type="http://schemas.openxmlformats.org/officeDocument/2006/relationships/notesSlide" Target="../notesSlides/notesSlide8.xml"/><Relationship Id="rId7" Type="http://schemas.openxmlformats.org/officeDocument/2006/relationships/slideLayout" Target="../slideLayouts/slideLayout12.xml"/><Relationship Id="rId6" Type="http://schemas.openxmlformats.org/officeDocument/2006/relationships/image" Target="../media/image46.svg"/><Relationship Id="rId5" Type="http://schemas.openxmlformats.org/officeDocument/2006/relationships/image" Target="../media/image45.png"/><Relationship Id="rId4" Type="http://schemas.openxmlformats.org/officeDocument/2006/relationships/image" Target="../media/image44.svg"/><Relationship Id="rId3" Type="http://schemas.openxmlformats.org/officeDocument/2006/relationships/image" Target="../media/image43.png"/><Relationship Id="rId2" Type="http://schemas.openxmlformats.org/officeDocument/2006/relationships/image" Target="../media/image42.svg"/><Relationship Id="rId1" Type="http://schemas.openxmlformats.org/officeDocument/2006/relationships/image" Target="../media/image41.png"/></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12.xml"/><Relationship Id="rId4" Type="http://schemas.openxmlformats.org/officeDocument/2006/relationships/image" Target="../media/image50.svg"/><Relationship Id="rId3" Type="http://schemas.openxmlformats.org/officeDocument/2006/relationships/image" Target="../media/image49.png"/><Relationship Id="rId2" Type="http://schemas.openxmlformats.org/officeDocument/2006/relationships/image" Target="../media/image48.svg"/><Relationship Id="rId1" Type="http://schemas.openxmlformats.org/officeDocument/2006/relationships/image" Target="../media/image47.png"/></Relationships>
</file>

<file path=ppt/slides/_rels/slide10.xml.rels><?xml version="1.0" encoding="UTF-8" standalone="yes"?>
<Relationships xmlns="http://schemas.openxmlformats.org/package/2006/relationships"><Relationship Id="rId9" Type="http://schemas.openxmlformats.org/officeDocument/2006/relationships/image" Target="../media/image15.png"/><Relationship Id="rId8" Type="http://schemas.openxmlformats.org/officeDocument/2006/relationships/image" Target="../media/image56.svg"/><Relationship Id="rId7" Type="http://schemas.openxmlformats.org/officeDocument/2006/relationships/image" Target="../media/image55.png"/><Relationship Id="rId6" Type="http://schemas.openxmlformats.org/officeDocument/2006/relationships/image" Target="../media/image54.svg"/><Relationship Id="rId5" Type="http://schemas.openxmlformats.org/officeDocument/2006/relationships/image" Target="../media/image53.png"/><Relationship Id="rId4" Type="http://schemas.openxmlformats.org/officeDocument/2006/relationships/image" Target="../media/image52.svg"/><Relationship Id="rId3" Type="http://schemas.openxmlformats.org/officeDocument/2006/relationships/image" Target="../media/image51.png"/><Relationship Id="rId2" Type="http://schemas.openxmlformats.org/officeDocument/2006/relationships/image" Target="../media/image50.svg"/><Relationship Id="rId16" Type="http://schemas.openxmlformats.org/officeDocument/2006/relationships/notesSlide" Target="../notesSlides/notesSlide10.xml"/><Relationship Id="rId15" Type="http://schemas.openxmlformats.org/officeDocument/2006/relationships/slideLayout" Target="../slideLayouts/slideLayout12.xml"/><Relationship Id="rId14" Type="http://schemas.openxmlformats.org/officeDocument/2006/relationships/image" Target="../media/image60.svg"/><Relationship Id="rId13" Type="http://schemas.openxmlformats.org/officeDocument/2006/relationships/image" Target="../media/image59.png"/><Relationship Id="rId12" Type="http://schemas.openxmlformats.org/officeDocument/2006/relationships/image" Target="../media/image58.svg"/><Relationship Id="rId11" Type="http://schemas.openxmlformats.org/officeDocument/2006/relationships/image" Target="../media/image57.png"/><Relationship Id="rId10" Type="http://schemas.openxmlformats.org/officeDocument/2006/relationships/image" Target="../media/image16.svg"/><Relationship Id="rId1" Type="http://schemas.openxmlformats.org/officeDocument/2006/relationships/image" Target="../media/image49.png"/></Relationships>
</file>

<file path=ppt/slides/_rels/slide11.xml.rels><?xml version="1.0" encoding="UTF-8" standalone="yes"?>
<Relationships xmlns="http://schemas.openxmlformats.org/package/2006/relationships"><Relationship Id="rId9" Type="http://schemas.openxmlformats.org/officeDocument/2006/relationships/image" Target="../media/image67.png"/><Relationship Id="rId8" Type="http://schemas.openxmlformats.org/officeDocument/2006/relationships/image" Target="../media/image66.svg"/><Relationship Id="rId7" Type="http://schemas.openxmlformats.org/officeDocument/2006/relationships/image" Target="../media/image65.png"/><Relationship Id="rId6" Type="http://schemas.openxmlformats.org/officeDocument/2006/relationships/image" Target="../media/image64.svg"/><Relationship Id="rId5" Type="http://schemas.openxmlformats.org/officeDocument/2006/relationships/image" Target="../media/image63.png"/><Relationship Id="rId4" Type="http://schemas.openxmlformats.org/officeDocument/2006/relationships/image" Target="../media/image28.svg"/><Relationship Id="rId3" Type="http://schemas.openxmlformats.org/officeDocument/2006/relationships/image" Target="../media/image62.png"/><Relationship Id="rId2" Type="http://schemas.openxmlformats.org/officeDocument/2006/relationships/image" Target="../media/image6.svg"/><Relationship Id="rId18" Type="http://schemas.openxmlformats.org/officeDocument/2006/relationships/notesSlide" Target="../notesSlides/notesSlide11.xml"/><Relationship Id="rId17" Type="http://schemas.openxmlformats.org/officeDocument/2006/relationships/slideLayout" Target="../slideLayouts/slideLayout12.xml"/><Relationship Id="rId16" Type="http://schemas.openxmlformats.org/officeDocument/2006/relationships/image" Target="../media/image16.svg"/><Relationship Id="rId15" Type="http://schemas.openxmlformats.org/officeDocument/2006/relationships/image" Target="../media/image73.png"/><Relationship Id="rId14" Type="http://schemas.openxmlformats.org/officeDocument/2006/relationships/image" Target="../media/image72.svg"/><Relationship Id="rId13" Type="http://schemas.openxmlformats.org/officeDocument/2006/relationships/image" Target="../media/image71.png"/><Relationship Id="rId12" Type="http://schemas.openxmlformats.org/officeDocument/2006/relationships/image" Target="../media/image70.svg"/><Relationship Id="rId11" Type="http://schemas.openxmlformats.org/officeDocument/2006/relationships/image" Target="../media/image69.png"/><Relationship Id="rId10" Type="http://schemas.openxmlformats.org/officeDocument/2006/relationships/image" Target="../media/image68.svg"/><Relationship Id="rId1" Type="http://schemas.openxmlformats.org/officeDocument/2006/relationships/image" Target="../media/image61.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9" Type="http://schemas.openxmlformats.org/officeDocument/2006/relationships/image" Target="../media/image81.png"/><Relationship Id="rId8" Type="http://schemas.openxmlformats.org/officeDocument/2006/relationships/image" Target="../media/image80.svg"/><Relationship Id="rId7" Type="http://schemas.openxmlformats.org/officeDocument/2006/relationships/image" Target="../media/image79.png"/><Relationship Id="rId6" Type="http://schemas.openxmlformats.org/officeDocument/2006/relationships/image" Target="../media/image78.svg"/><Relationship Id="rId5" Type="http://schemas.openxmlformats.org/officeDocument/2006/relationships/image" Target="../media/image77.png"/><Relationship Id="rId4" Type="http://schemas.openxmlformats.org/officeDocument/2006/relationships/image" Target="../media/image30.svg"/><Relationship Id="rId3" Type="http://schemas.openxmlformats.org/officeDocument/2006/relationships/image" Target="../media/image76.png"/><Relationship Id="rId26" Type="http://schemas.openxmlformats.org/officeDocument/2006/relationships/notesSlide" Target="../notesSlides/notesSlide13.xml"/><Relationship Id="rId25" Type="http://schemas.openxmlformats.org/officeDocument/2006/relationships/slideLayout" Target="../slideLayouts/slideLayout12.xml"/><Relationship Id="rId24" Type="http://schemas.openxmlformats.org/officeDocument/2006/relationships/image" Target="../media/image96.svg"/><Relationship Id="rId23" Type="http://schemas.openxmlformats.org/officeDocument/2006/relationships/image" Target="../media/image95.png"/><Relationship Id="rId22" Type="http://schemas.openxmlformats.org/officeDocument/2006/relationships/image" Target="../media/image94.svg"/><Relationship Id="rId21" Type="http://schemas.openxmlformats.org/officeDocument/2006/relationships/image" Target="../media/image93.png"/><Relationship Id="rId20" Type="http://schemas.openxmlformats.org/officeDocument/2006/relationships/image" Target="../media/image92.svg"/><Relationship Id="rId2" Type="http://schemas.openxmlformats.org/officeDocument/2006/relationships/image" Target="../media/image75.svg"/><Relationship Id="rId19" Type="http://schemas.openxmlformats.org/officeDocument/2006/relationships/image" Target="../media/image91.png"/><Relationship Id="rId18" Type="http://schemas.openxmlformats.org/officeDocument/2006/relationships/image" Target="../media/image90.svg"/><Relationship Id="rId17" Type="http://schemas.openxmlformats.org/officeDocument/2006/relationships/image" Target="../media/image89.png"/><Relationship Id="rId16" Type="http://schemas.openxmlformats.org/officeDocument/2006/relationships/image" Target="../media/image88.svg"/><Relationship Id="rId15" Type="http://schemas.openxmlformats.org/officeDocument/2006/relationships/image" Target="../media/image87.png"/><Relationship Id="rId14" Type="http://schemas.openxmlformats.org/officeDocument/2006/relationships/image" Target="../media/image86.svg"/><Relationship Id="rId13" Type="http://schemas.openxmlformats.org/officeDocument/2006/relationships/image" Target="../media/image85.png"/><Relationship Id="rId12" Type="http://schemas.openxmlformats.org/officeDocument/2006/relationships/image" Target="../media/image84.svg"/><Relationship Id="rId11" Type="http://schemas.openxmlformats.org/officeDocument/2006/relationships/image" Target="../media/image83.png"/><Relationship Id="rId10" Type="http://schemas.openxmlformats.org/officeDocument/2006/relationships/image" Target="../media/image82.svg"/><Relationship Id="rId1" Type="http://schemas.openxmlformats.org/officeDocument/2006/relationships/image" Target="../media/image74.png"/></Relationships>
</file>

<file path=ppt/slides/_rels/slide14.xml.rels><?xml version="1.0" encoding="UTF-8" standalone="yes"?>
<Relationships xmlns="http://schemas.openxmlformats.org/package/2006/relationships"><Relationship Id="rId9" Type="http://schemas.openxmlformats.org/officeDocument/2006/relationships/image" Target="../media/image102.png"/><Relationship Id="rId8" Type="http://schemas.openxmlformats.org/officeDocument/2006/relationships/image" Target="../media/image26.svg"/><Relationship Id="rId7" Type="http://schemas.openxmlformats.org/officeDocument/2006/relationships/image" Target="../media/image101.png"/><Relationship Id="rId6" Type="http://schemas.openxmlformats.org/officeDocument/2006/relationships/image" Target="../media/image100.svg"/><Relationship Id="rId5" Type="http://schemas.openxmlformats.org/officeDocument/2006/relationships/image" Target="../media/image99.png"/><Relationship Id="rId4" Type="http://schemas.openxmlformats.org/officeDocument/2006/relationships/image" Target="../media/image98.svg"/><Relationship Id="rId3" Type="http://schemas.openxmlformats.org/officeDocument/2006/relationships/image" Target="../media/image97.png"/><Relationship Id="rId2" Type="http://schemas.openxmlformats.org/officeDocument/2006/relationships/image" Target="../media/image66.svg"/><Relationship Id="rId12" Type="http://schemas.openxmlformats.org/officeDocument/2006/relationships/notesSlide" Target="../notesSlides/notesSlide14.xml"/><Relationship Id="rId11" Type="http://schemas.openxmlformats.org/officeDocument/2006/relationships/slideLayout" Target="../slideLayouts/slideLayout12.xml"/><Relationship Id="rId10" Type="http://schemas.openxmlformats.org/officeDocument/2006/relationships/image" Target="../media/image103.svg"/><Relationship Id="rId1" Type="http://schemas.openxmlformats.org/officeDocument/2006/relationships/image" Target="../media/image65.png"/></Relationships>
</file>

<file path=ppt/slides/_rels/slide15.xml.rels><?xml version="1.0" encoding="UTF-8" standalone="yes"?>
<Relationships xmlns="http://schemas.openxmlformats.org/package/2006/relationships"><Relationship Id="rId9" Type="http://schemas.openxmlformats.org/officeDocument/2006/relationships/image" Target="../media/image97.png"/><Relationship Id="rId8" Type="http://schemas.openxmlformats.org/officeDocument/2006/relationships/image" Target="../media/image108.svg"/><Relationship Id="rId7" Type="http://schemas.openxmlformats.org/officeDocument/2006/relationships/image" Target="../media/image107.png"/><Relationship Id="rId6" Type="http://schemas.openxmlformats.org/officeDocument/2006/relationships/image" Target="../media/image100.svg"/><Relationship Id="rId5" Type="http://schemas.openxmlformats.org/officeDocument/2006/relationships/image" Target="../media/image99.png"/><Relationship Id="rId4" Type="http://schemas.openxmlformats.org/officeDocument/2006/relationships/image" Target="../media/image106.svg"/><Relationship Id="rId3" Type="http://schemas.openxmlformats.org/officeDocument/2006/relationships/image" Target="../media/image105.png"/><Relationship Id="rId2" Type="http://schemas.openxmlformats.org/officeDocument/2006/relationships/image" Target="../media/image2.svg"/><Relationship Id="rId18" Type="http://schemas.openxmlformats.org/officeDocument/2006/relationships/notesSlide" Target="../notesSlides/notesSlide15.xml"/><Relationship Id="rId17" Type="http://schemas.openxmlformats.org/officeDocument/2006/relationships/slideLayout" Target="../slideLayouts/slideLayout12.xml"/><Relationship Id="rId16" Type="http://schemas.openxmlformats.org/officeDocument/2006/relationships/image" Target="../media/image72.svg"/><Relationship Id="rId15" Type="http://schemas.openxmlformats.org/officeDocument/2006/relationships/image" Target="../media/image71.png"/><Relationship Id="rId14" Type="http://schemas.openxmlformats.org/officeDocument/2006/relationships/image" Target="../media/image112.svg"/><Relationship Id="rId13" Type="http://schemas.openxmlformats.org/officeDocument/2006/relationships/image" Target="../media/image111.png"/><Relationship Id="rId12" Type="http://schemas.openxmlformats.org/officeDocument/2006/relationships/image" Target="../media/image110.svg"/><Relationship Id="rId11" Type="http://schemas.openxmlformats.org/officeDocument/2006/relationships/image" Target="../media/image109.png"/><Relationship Id="rId10" Type="http://schemas.openxmlformats.org/officeDocument/2006/relationships/image" Target="../media/image98.svg"/><Relationship Id="rId1" Type="http://schemas.openxmlformats.org/officeDocument/2006/relationships/image" Target="../media/image104.png"/></Relationships>
</file>

<file path=ppt/slides/_rels/slide16.xml.rels><?xml version="1.0" encoding="UTF-8" standalone="yes"?>
<Relationships xmlns="http://schemas.openxmlformats.org/package/2006/relationships"><Relationship Id="rId9" Type="http://schemas.openxmlformats.org/officeDocument/2006/relationships/image" Target="../media/image73.png"/><Relationship Id="rId8" Type="http://schemas.openxmlformats.org/officeDocument/2006/relationships/image" Target="../media/image118.svg"/><Relationship Id="rId7" Type="http://schemas.openxmlformats.org/officeDocument/2006/relationships/image" Target="../media/image117.png"/><Relationship Id="rId6" Type="http://schemas.openxmlformats.org/officeDocument/2006/relationships/image" Target="../media/image100.svg"/><Relationship Id="rId5" Type="http://schemas.openxmlformats.org/officeDocument/2006/relationships/image" Target="../media/image99.png"/><Relationship Id="rId4" Type="http://schemas.openxmlformats.org/officeDocument/2006/relationships/image" Target="../media/image116.svg"/><Relationship Id="rId3" Type="http://schemas.openxmlformats.org/officeDocument/2006/relationships/image" Target="../media/image115.png"/><Relationship Id="rId2" Type="http://schemas.openxmlformats.org/officeDocument/2006/relationships/image" Target="../media/image114.svg"/><Relationship Id="rId12" Type="http://schemas.openxmlformats.org/officeDocument/2006/relationships/notesSlide" Target="../notesSlides/notesSlide16.xml"/><Relationship Id="rId11" Type="http://schemas.openxmlformats.org/officeDocument/2006/relationships/slideLayout" Target="../slideLayouts/slideLayout12.xml"/><Relationship Id="rId10" Type="http://schemas.openxmlformats.org/officeDocument/2006/relationships/image" Target="../media/image16.svg"/><Relationship Id="rId1" Type="http://schemas.openxmlformats.org/officeDocument/2006/relationships/image" Target="../media/image113.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25.svg"/><Relationship Id="rId7" Type="http://schemas.openxmlformats.org/officeDocument/2006/relationships/image" Target="../media/image124.png"/><Relationship Id="rId6" Type="http://schemas.openxmlformats.org/officeDocument/2006/relationships/image" Target="../media/image123.svg"/><Relationship Id="rId5" Type="http://schemas.openxmlformats.org/officeDocument/2006/relationships/image" Target="../media/image122.png"/><Relationship Id="rId4" Type="http://schemas.openxmlformats.org/officeDocument/2006/relationships/image" Target="../media/image32.svg"/><Relationship Id="rId3" Type="http://schemas.openxmlformats.org/officeDocument/2006/relationships/image" Target="../media/image121.png"/><Relationship Id="rId2" Type="http://schemas.openxmlformats.org/officeDocument/2006/relationships/image" Target="../media/image120.svg"/><Relationship Id="rId10" Type="http://schemas.openxmlformats.org/officeDocument/2006/relationships/notesSlide" Target="../notesSlides/notesSlide19.xml"/><Relationship Id="rId1" Type="http://schemas.openxmlformats.org/officeDocument/2006/relationships/image" Target="../media/image119.png"/></Relationships>
</file>

<file path=ppt/slides/_rels/slide20.xml.rels><?xml version="1.0" encoding="UTF-8" standalone="yes"?>
<Relationships xmlns="http://schemas.openxmlformats.org/package/2006/relationships"><Relationship Id="rId9" Type="http://schemas.openxmlformats.org/officeDocument/2006/relationships/image" Target="../media/image132.png"/><Relationship Id="rId8" Type="http://schemas.openxmlformats.org/officeDocument/2006/relationships/image" Target="../media/image131.svg"/><Relationship Id="rId7" Type="http://schemas.openxmlformats.org/officeDocument/2006/relationships/image" Target="../media/image130.png"/><Relationship Id="rId6" Type="http://schemas.openxmlformats.org/officeDocument/2006/relationships/image" Target="../media/image129.svg"/><Relationship Id="rId5" Type="http://schemas.openxmlformats.org/officeDocument/2006/relationships/image" Target="../media/image128.png"/><Relationship Id="rId4" Type="http://schemas.openxmlformats.org/officeDocument/2006/relationships/image" Target="../media/image108.svg"/><Relationship Id="rId3" Type="http://schemas.openxmlformats.org/officeDocument/2006/relationships/image" Target="../media/image107.png"/><Relationship Id="rId2" Type="http://schemas.openxmlformats.org/officeDocument/2006/relationships/image" Target="../media/image127.svg"/><Relationship Id="rId16" Type="http://schemas.openxmlformats.org/officeDocument/2006/relationships/notesSlide" Target="../notesSlides/notesSlide20.xml"/><Relationship Id="rId15" Type="http://schemas.openxmlformats.org/officeDocument/2006/relationships/slideLayout" Target="../slideLayouts/slideLayout12.xml"/><Relationship Id="rId14" Type="http://schemas.openxmlformats.org/officeDocument/2006/relationships/image" Target="../media/image135.svg"/><Relationship Id="rId13" Type="http://schemas.openxmlformats.org/officeDocument/2006/relationships/image" Target="../media/image134.png"/><Relationship Id="rId12" Type="http://schemas.openxmlformats.org/officeDocument/2006/relationships/image" Target="../media/image123.svg"/><Relationship Id="rId11" Type="http://schemas.openxmlformats.org/officeDocument/2006/relationships/image" Target="../media/image122.png"/><Relationship Id="rId10" Type="http://schemas.openxmlformats.org/officeDocument/2006/relationships/image" Target="../media/image133.svg"/><Relationship Id="rId1" Type="http://schemas.openxmlformats.org/officeDocument/2006/relationships/image" Target="../media/image126.png"/></Relationships>
</file>

<file path=ppt/slides/_rels/slide21.xml.rels><?xml version="1.0" encoding="UTF-8" standalone="yes"?>
<Relationships xmlns="http://schemas.openxmlformats.org/package/2006/relationships"><Relationship Id="rId9" Type="http://schemas.openxmlformats.org/officeDocument/2006/relationships/image" Target="../media/image67.png"/><Relationship Id="rId8" Type="http://schemas.openxmlformats.org/officeDocument/2006/relationships/image" Target="../media/image139.svg"/><Relationship Id="rId7" Type="http://schemas.openxmlformats.org/officeDocument/2006/relationships/image" Target="../media/image138.png"/><Relationship Id="rId6" Type="http://schemas.openxmlformats.org/officeDocument/2006/relationships/image" Target="../media/image137.svg"/><Relationship Id="rId5" Type="http://schemas.openxmlformats.org/officeDocument/2006/relationships/image" Target="../media/image136.png"/><Relationship Id="rId4" Type="http://schemas.openxmlformats.org/officeDocument/2006/relationships/image" Target="../media/image28.svg"/><Relationship Id="rId3" Type="http://schemas.openxmlformats.org/officeDocument/2006/relationships/image" Target="../media/image62.png"/><Relationship Id="rId2" Type="http://schemas.openxmlformats.org/officeDocument/2006/relationships/image" Target="../media/image133.svg"/><Relationship Id="rId16" Type="http://schemas.openxmlformats.org/officeDocument/2006/relationships/notesSlide" Target="../notesSlides/notesSlide21.xml"/><Relationship Id="rId15" Type="http://schemas.openxmlformats.org/officeDocument/2006/relationships/slideLayout" Target="../slideLayouts/slideLayout12.xml"/><Relationship Id="rId14" Type="http://schemas.openxmlformats.org/officeDocument/2006/relationships/image" Target="../media/image142.svg"/><Relationship Id="rId13" Type="http://schemas.openxmlformats.org/officeDocument/2006/relationships/image" Target="../media/image141.png"/><Relationship Id="rId12" Type="http://schemas.openxmlformats.org/officeDocument/2006/relationships/image" Target="../media/image60.svg"/><Relationship Id="rId11" Type="http://schemas.openxmlformats.org/officeDocument/2006/relationships/image" Target="../media/image140.png"/><Relationship Id="rId10" Type="http://schemas.openxmlformats.org/officeDocument/2006/relationships/image" Target="../media/image68.svg"/><Relationship Id="rId1" Type="http://schemas.openxmlformats.org/officeDocument/2006/relationships/image" Target="../media/image132.png"/></Relationships>
</file>

<file path=ppt/slides/_rels/slide22.xml.rels><?xml version="1.0" encoding="UTF-8" standalone="yes"?>
<Relationships xmlns="http://schemas.openxmlformats.org/package/2006/relationships"><Relationship Id="rId8" Type="http://schemas.openxmlformats.org/officeDocument/2006/relationships/notesSlide" Target="../notesSlides/notesSlide22.xml"/><Relationship Id="rId7" Type="http://schemas.openxmlformats.org/officeDocument/2006/relationships/slideLayout" Target="../slideLayouts/slideLayout12.xml"/><Relationship Id="rId6" Type="http://schemas.openxmlformats.org/officeDocument/2006/relationships/image" Target="../media/image146.svg"/><Relationship Id="rId5" Type="http://schemas.openxmlformats.org/officeDocument/2006/relationships/image" Target="../media/image145.png"/><Relationship Id="rId4" Type="http://schemas.openxmlformats.org/officeDocument/2006/relationships/image" Target="../media/image48.svg"/><Relationship Id="rId3" Type="http://schemas.openxmlformats.org/officeDocument/2006/relationships/image" Target="../media/image47.png"/><Relationship Id="rId2" Type="http://schemas.openxmlformats.org/officeDocument/2006/relationships/image" Target="../media/image144.svg"/><Relationship Id="rId1" Type="http://schemas.openxmlformats.org/officeDocument/2006/relationships/image" Target="../media/image143.png"/></Relationships>
</file>

<file path=ppt/slides/_rels/slide23.xml.rels><?xml version="1.0" encoding="UTF-8" standalone="yes"?>
<Relationships xmlns="http://schemas.openxmlformats.org/package/2006/relationships"><Relationship Id="rId9" Type="http://schemas.openxmlformats.org/officeDocument/2006/relationships/image" Target="../media/image97.png"/><Relationship Id="rId8" Type="http://schemas.openxmlformats.org/officeDocument/2006/relationships/image" Target="../media/image66.svg"/><Relationship Id="rId7" Type="http://schemas.openxmlformats.org/officeDocument/2006/relationships/image" Target="../media/image65.png"/><Relationship Id="rId6" Type="http://schemas.openxmlformats.org/officeDocument/2006/relationships/image" Target="../media/image116.svg"/><Relationship Id="rId5" Type="http://schemas.openxmlformats.org/officeDocument/2006/relationships/image" Target="../media/image115.png"/><Relationship Id="rId4" Type="http://schemas.openxmlformats.org/officeDocument/2006/relationships/image" Target="../media/image100.svg"/><Relationship Id="rId3" Type="http://schemas.openxmlformats.org/officeDocument/2006/relationships/image" Target="../media/image99.png"/><Relationship Id="rId2" Type="http://schemas.openxmlformats.org/officeDocument/2006/relationships/image" Target="../media/image148.svg"/><Relationship Id="rId12" Type="http://schemas.openxmlformats.org/officeDocument/2006/relationships/notesSlide" Target="../notesSlides/notesSlide23.xml"/><Relationship Id="rId11" Type="http://schemas.openxmlformats.org/officeDocument/2006/relationships/slideLayout" Target="../slideLayouts/slideLayout12.xml"/><Relationship Id="rId10" Type="http://schemas.openxmlformats.org/officeDocument/2006/relationships/image" Target="../media/image98.svg"/><Relationship Id="rId1" Type="http://schemas.openxmlformats.org/officeDocument/2006/relationships/image" Target="../media/image147.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66.svg"/><Relationship Id="rId7" Type="http://schemas.openxmlformats.org/officeDocument/2006/relationships/image" Target="../media/image65.png"/><Relationship Id="rId6" Type="http://schemas.openxmlformats.org/officeDocument/2006/relationships/image" Target="../media/image78.svg"/><Relationship Id="rId5" Type="http://schemas.openxmlformats.org/officeDocument/2006/relationships/image" Target="../media/image77.png"/><Relationship Id="rId4" Type="http://schemas.openxmlformats.org/officeDocument/2006/relationships/image" Target="../media/image98.svg"/><Relationship Id="rId3" Type="http://schemas.openxmlformats.org/officeDocument/2006/relationships/image" Target="../media/image97.png"/><Relationship Id="rId2" Type="http://schemas.openxmlformats.org/officeDocument/2006/relationships/image" Target="../media/image150.svg"/><Relationship Id="rId10" Type="http://schemas.openxmlformats.org/officeDocument/2006/relationships/notesSlide" Target="../notesSlides/notesSlide25.xml"/><Relationship Id="rId1" Type="http://schemas.openxmlformats.org/officeDocument/2006/relationships/image" Target="../media/image149.png"/></Relationships>
</file>

<file path=ppt/slides/_rels/slide26.xml.rels><?xml version="1.0" encoding="UTF-8" standalone="yes"?>
<Relationships xmlns="http://schemas.openxmlformats.org/package/2006/relationships"><Relationship Id="rId9" Type="http://schemas.openxmlformats.org/officeDocument/2006/relationships/image" Target="../media/image76.png"/><Relationship Id="rId8" Type="http://schemas.openxmlformats.org/officeDocument/2006/relationships/image" Target="../media/image118.svg"/><Relationship Id="rId7" Type="http://schemas.openxmlformats.org/officeDocument/2006/relationships/image" Target="../media/image117.png"/><Relationship Id="rId6" Type="http://schemas.openxmlformats.org/officeDocument/2006/relationships/image" Target="../media/image154.svg"/><Relationship Id="rId5" Type="http://schemas.openxmlformats.org/officeDocument/2006/relationships/image" Target="../media/image153.png"/><Relationship Id="rId4" Type="http://schemas.openxmlformats.org/officeDocument/2006/relationships/image" Target="../media/image152.svg"/><Relationship Id="rId3" Type="http://schemas.openxmlformats.org/officeDocument/2006/relationships/image" Target="../media/image151.png"/><Relationship Id="rId2" Type="http://schemas.openxmlformats.org/officeDocument/2006/relationships/image" Target="../media/image98.svg"/><Relationship Id="rId12" Type="http://schemas.openxmlformats.org/officeDocument/2006/relationships/notesSlide" Target="../notesSlides/notesSlide26.xml"/><Relationship Id="rId11" Type="http://schemas.openxmlformats.org/officeDocument/2006/relationships/slideLayout" Target="../slideLayouts/slideLayout12.xml"/><Relationship Id="rId10" Type="http://schemas.openxmlformats.org/officeDocument/2006/relationships/image" Target="../media/image30.svg"/><Relationship Id="rId1" Type="http://schemas.openxmlformats.org/officeDocument/2006/relationships/image" Target="../media/image97.png"/></Relationships>
</file>

<file path=ppt/slides/_rels/slide27.xml.rels><?xml version="1.0" encoding="UTF-8" standalone="yes"?>
<Relationships xmlns="http://schemas.openxmlformats.org/package/2006/relationships"><Relationship Id="rId9" Type="http://schemas.openxmlformats.org/officeDocument/2006/relationships/image" Target="../media/image163.png"/><Relationship Id="rId8" Type="http://schemas.openxmlformats.org/officeDocument/2006/relationships/image" Target="../media/image162.svg"/><Relationship Id="rId7" Type="http://schemas.openxmlformats.org/officeDocument/2006/relationships/image" Target="../media/image161.png"/><Relationship Id="rId6" Type="http://schemas.openxmlformats.org/officeDocument/2006/relationships/image" Target="../media/image160.svg"/><Relationship Id="rId5" Type="http://schemas.openxmlformats.org/officeDocument/2006/relationships/image" Target="../media/image159.png"/><Relationship Id="rId4" Type="http://schemas.openxmlformats.org/officeDocument/2006/relationships/image" Target="../media/image158.svg"/><Relationship Id="rId3" Type="http://schemas.openxmlformats.org/officeDocument/2006/relationships/image" Target="../media/image157.png"/><Relationship Id="rId2" Type="http://schemas.openxmlformats.org/officeDocument/2006/relationships/image" Target="../media/image156.svg"/><Relationship Id="rId18" Type="http://schemas.openxmlformats.org/officeDocument/2006/relationships/notesSlide" Target="../notesSlides/notesSlide27.xml"/><Relationship Id="rId17" Type="http://schemas.openxmlformats.org/officeDocument/2006/relationships/slideLayout" Target="../slideLayouts/slideLayout12.xml"/><Relationship Id="rId16" Type="http://schemas.openxmlformats.org/officeDocument/2006/relationships/image" Target="../media/image116.svg"/><Relationship Id="rId15" Type="http://schemas.openxmlformats.org/officeDocument/2006/relationships/image" Target="../media/image115.png"/><Relationship Id="rId14" Type="http://schemas.openxmlformats.org/officeDocument/2006/relationships/image" Target="../media/image168.svg"/><Relationship Id="rId13" Type="http://schemas.openxmlformats.org/officeDocument/2006/relationships/image" Target="../media/image167.png"/><Relationship Id="rId12" Type="http://schemas.openxmlformats.org/officeDocument/2006/relationships/image" Target="../media/image166.svg"/><Relationship Id="rId11" Type="http://schemas.openxmlformats.org/officeDocument/2006/relationships/image" Target="../media/image165.png"/><Relationship Id="rId10" Type="http://schemas.openxmlformats.org/officeDocument/2006/relationships/image" Target="../media/image164.svg"/><Relationship Id="rId1" Type="http://schemas.openxmlformats.org/officeDocument/2006/relationships/image" Target="../media/image155.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9" Type="http://schemas.openxmlformats.org/officeDocument/2006/relationships/image" Target="../media/image76.png"/><Relationship Id="rId8" Type="http://schemas.openxmlformats.org/officeDocument/2006/relationships/image" Target="../media/image98.svg"/><Relationship Id="rId7" Type="http://schemas.openxmlformats.org/officeDocument/2006/relationships/image" Target="../media/image97.png"/><Relationship Id="rId6" Type="http://schemas.openxmlformats.org/officeDocument/2006/relationships/image" Target="../media/image66.svg"/><Relationship Id="rId5" Type="http://schemas.openxmlformats.org/officeDocument/2006/relationships/image" Target="../media/image65.png"/><Relationship Id="rId4" Type="http://schemas.openxmlformats.org/officeDocument/2006/relationships/image" Target="../media/image116.svg"/><Relationship Id="rId3" Type="http://schemas.openxmlformats.org/officeDocument/2006/relationships/image" Target="../media/image115.png"/><Relationship Id="rId2" Type="http://schemas.openxmlformats.org/officeDocument/2006/relationships/image" Target="../media/image110.svg"/><Relationship Id="rId16" Type="http://schemas.openxmlformats.org/officeDocument/2006/relationships/notesSlide" Target="../notesSlides/notesSlide29.xml"/><Relationship Id="rId15" Type="http://schemas.openxmlformats.org/officeDocument/2006/relationships/slideLayout" Target="../slideLayouts/slideLayout12.xml"/><Relationship Id="rId14" Type="http://schemas.openxmlformats.org/officeDocument/2006/relationships/image" Target="../media/image16.svg"/><Relationship Id="rId13" Type="http://schemas.openxmlformats.org/officeDocument/2006/relationships/image" Target="../media/image73.png"/><Relationship Id="rId12" Type="http://schemas.openxmlformats.org/officeDocument/2006/relationships/image" Target="../media/image170.svg"/><Relationship Id="rId11" Type="http://schemas.openxmlformats.org/officeDocument/2006/relationships/image" Target="../media/image169.png"/><Relationship Id="rId10" Type="http://schemas.openxmlformats.org/officeDocument/2006/relationships/image" Target="../media/image30.svg"/><Relationship Id="rId1" Type="http://schemas.openxmlformats.org/officeDocument/2006/relationships/image" Target="../media/image109.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953000" y="762000"/>
            <a:ext cx="2286000" cy="2286000"/>
          </a:xfrm>
          <a:prstGeom prst="ellipse">
            <a:avLst/>
          </a:prstGeom>
          <a:solidFill>
            <a:srgbClr val="0052CC">
              <a:alpha val="6000"/>
            </a:srgbClr>
          </a:solidFill>
          <a:ln w="25400" cap="flat" cmpd="sng">
            <a:noFill/>
            <a:prstDash val="solid"/>
            <a:round/>
          </a:ln>
        </p:spPr>
        <p:txBody>
          <a:bodyPr vert="horz" wrap="square" lIns="63500" tIns="63500" rIns="63500" bIns="63500" rtlCol="0" anchor="ctr"/>
          <a:lstStyle/>
          <a:p>
            <a:pPr algn="ctr">
              <a:defRPr/>
            </a:pPr>
          </a:p>
        </p:txBody>
      </p:sp>
      <p:pic>
        <p:nvPicPr>
          <p:cNvPr id="3" name="Picture 3"/>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461000" y="1016000"/>
            <a:ext cx="1270000" cy="1270000"/>
          </a:xfrm>
          <a:prstGeom prst="rect">
            <a:avLst/>
          </a:prstGeom>
        </p:spPr>
      </p:pic>
      <p:pic>
        <p:nvPicPr>
          <p:cNvPr id="4" name="Picture 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651500" y="2413000"/>
            <a:ext cx="889000" cy="889000"/>
          </a:xfrm>
          <a:prstGeom prst="rect">
            <a:avLst/>
          </a:prstGeom>
        </p:spPr>
      </p:pic>
      <p:sp>
        <p:nvSpPr>
          <p:cNvPr id="5" name="AutoShape 5"/>
          <p:cNvSpPr/>
          <p:nvPr/>
        </p:nvSpPr>
        <p:spPr>
          <a:xfrm>
            <a:off x="0" y="3556000"/>
            <a:ext cx="1219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无线网络恶意流量AI检测技术与实践</a:t>
            </a:r>
            <a:endParaRPr lang="en-US" sz="1100"/>
          </a:p>
        </p:txBody>
      </p:sp>
      <p:sp>
        <p:nvSpPr>
          <p:cNvPr id="6" name="AutoShape 6"/>
          <p:cNvSpPr/>
          <p:nvPr/>
        </p:nvSpPr>
        <p:spPr>
          <a:xfrm>
            <a:off x="0" y="4445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0" i="0" u="none" strike="noStrike" spc="100">
                <a:solidFill>
                  <a:srgbClr val="5A6069"/>
                </a:solidFill>
                <a:latin typeface="Noto Sans SC" panose="020B0200000000000000" charset="-122"/>
                <a:ea typeface="Noto Sans SC" panose="020B0200000000000000" charset="-122"/>
                <a:cs typeface="Noto Sans SC" panose="020B0200000000000000" charset="-122"/>
                <a:sym typeface="Noto Sans SC" panose="020B0200000000000000" charset="-122"/>
              </a:rPr>
              <a:t>从传统防御到智能感知的演进之路</a:t>
            </a:r>
            <a:endParaRPr lang="en-US" sz="1100"/>
          </a:p>
        </p:txBody>
      </p:sp>
      <p:sp>
        <p:nvSpPr>
          <p:cNvPr id="7" name="AutoShape 7"/>
          <p:cNvSpPr/>
          <p:nvPr/>
        </p:nvSpPr>
        <p:spPr>
          <a:xfrm>
            <a:off x="5588000" y="5207000"/>
            <a:ext cx="1016000" cy="38100"/>
          </a:xfrm>
          <a:prstGeom prst="roundRect">
            <a:avLst>
              <a:gd name="adj" fmla="val 0"/>
            </a:avLst>
          </a:prstGeom>
          <a:solidFill>
            <a:srgbClr val="0052CC">
              <a:alpha val="6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0" y="5588000"/>
            <a:ext cx="1219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0" i="0" u="none" strike="noStrike">
                <a:solidFill>
                  <a:schemeClr val="tx1"/>
                </a:solidFill>
                <a:effectLst>
                  <a:outerShdw blurRad="38100" dist="19050" dir="2700000" algn="tl" rotWithShape="0">
                    <a:schemeClr val="dk1">
                      <a:alpha val="40000"/>
                    </a:schemeClr>
                  </a:outerShdw>
                </a:effectLst>
                <a:latin typeface="Noto Sans SC" panose="020B0200000000000000" charset="-122"/>
                <a:ea typeface="Noto Sans SC" panose="020B0200000000000000" charset="-122"/>
                <a:cs typeface="Noto Sans SC" panose="020B0200000000000000" charset="-122"/>
                <a:sym typeface="Noto Sans SC" panose="020B0200000000000000" charset="-122"/>
              </a:rPr>
              <a:t>汇报人</a:t>
            </a:r>
            <a:r>
              <a:rPr lang="zh-CN" altLang="en-US" sz="2400" b="0" i="0" u="none" strike="noStrike">
                <a:solidFill>
                  <a:schemeClr val="tx1"/>
                </a:solidFill>
                <a:effectLst>
                  <a:outerShdw blurRad="38100" dist="19050" dir="2700000" algn="tl" rotWithShape="0">
                    <a:schemeClr val="dk1">
                      <a:alpha val="40000"/>
                    </a:schemeClr>
                  </a:outerShdw>
                </a:effectLst>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altLang="zh-CN" sz="2400" b="0" i="0" u="none" strike="noStrike">
                <a:solidFill>
                  <a:schemeClr val="tx1"/>
                </a:solidFill>
                <a:effectLst>
                  <a:outerShdw blurRad="38100" dist="19050" dir="2700000" algn="tl" rotWithShape="0">
                    <a:schemeClr val="dk1">
                      <a:alpha val="40000"/>
                    </a:schemeClr>
                  </a:outerShdw>
                </a:effectLst>
                <a:latin typeface="Noto Sans SC" panose="020B0200000000000000" charset="-122"/>
                <a:ea typeface="Noto Sans SC" panose="020B0200000000000000" charset="-122"/>
                <a:cs typeface="Noto Sans SC" panose="020B0200000000000000" charset="-122"/>
                <a:sym typeface="Noto Sans SC" panose="020B0200000000000000" charset="-122"/>
              </a:rPr>
              <a:t>1025040906</a:t>
            </a:r>
            <a:r>
              <a:rPr lang="zh-CN" altLang="en-US" sz="2400" b="0" i="0" u="none" strike="noStrike">
                <a:solidFill>
                  <a:schemeClr val="tx1"/>
                </a:solidFill>
                <a:effectLst>
                  <a:outerShdw blurRad="38100" dist="19050" dir="2700000" algn="tl" rotWithShape="0">
                    <a:schemeClr val="dk1">
                      <a:alpha val="40000"/>
                    </a:schemeClr>
                  </a:outerShdw>
                </a:effectLst>
                <a:latin typeface="Noto Sans SC" panose="020B0200000000000000" charset="-122"/>
                <a:ea typeface="Noto Sans SC" panose="020B0200000000000000" charset="-122"/>
                <a:cs typeface="Noto Sans SC" panose="020B0200000000000000" charset="-122"/>
                <a:sym typeface="Noto Sans SC" panose="020B0200000000000000" charset="-122"/>
              </a:rPr>
              <a:t>韩俊杰</a:t>
            </a:r>
            <a:endParaRPr lang="zh-CN" altLang="en-US" sz="2400" b="0" i="0" u="none" strike="noStrike">
              <a:solidFill>
                <a:schemeClr val="tx1"/>
              </a:solidFill>
              <a:effectLst>
                <a:outerShdw blurRad="38100" dist="19050" dir="2700000" algn="tl" rotWithShape="0">
                  <a:schemeClr val="dk1">
                    <a:alpha val="40000"/>
                  </a:schemeClr>
                </a:outerShdw>
              </a:effectLst>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0" y="6032500"/>
            <a:ext cx="1219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a:solidFill>
                  <a:srgbClr val="94A3B8"/>
                </a:solidFill>
                <a:latin typeface="Noto Sans SC" panose="020B0200000000000000" charset="-122"/>
                <a:ea typeface="Noto Sans SC" panose="020B0200000000000000" charset="-122"/>
                <a:cs typeface="Noto Sans SC" panose="020B0200000000000000" charset="-122"/>
                <a:sym typeface="Noto Sans SC" panose="020B0200000000000000" charset="-122"/>
              </a:rPr>
              <a:t>DATE：2026年4月</a:t>
            </a:r>
            <a:endParaRPr lang="en-US" sz="18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2032000"/>
            <a:ext cx="12192000" cy="152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9600" b="1" i="0" u="none" strike="noStrike">
                <a:solidFill>
                  <a:srgbClr val="165DFF"/>
                </a:solidFill>
                <a:latin typeface="Noto Sans SC" panose="020B0200000000000000" charset="-122"/>
                <a:ea typeface="Noto Sans SC" panose="020B0200000000000000" charset="-122"/>
                <a:cs typeface="Noto Sans SC" panose="020B0200000000000000" charset="-122"/>
                <a:sym typeface="Noto Sans SC" panose="020B0200000000000000" charset="-122"/>
              </a:rPr>
              <a:t>PART 01</a:t>
            </a:r>
            <a:endParaRPr lang="en-US" sz="1100"/>
          </a:p>
        </p:txBody>
      </p:sp>
      <p:sp>
        <p:nvSpPr>
          <p:cNvPr id="3" name="AutoShape 3"/>
          <p:cNvSpPr/>
          <p:nvPr/>
        </p:nvSpPr>
        <p:spPr>
          <a:xfrm>
            <a:off x="0" y="3683000"/>
            <a:ext cx="1219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000" b="1" i="0" u="none" strike="noStrike" spc="400">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背景介绍</a:t>
            </a:r>
            <a:endParaRPr lang="en-US" sz="1100"/>
          </a:p>
        </p:txBody>
      </p:sp>
      <p:sp>
        <p:nvSpPr>
          <p:cNvPr id="4" name="AutoShape 4"/>
          <p:cNvSpPr/>
          <p:nvPr/>
        </p:nvSpPr>
        <p:spPr>
          <a:xfrm>
            <a:off x="0" y="4699000"/>
            <a:ext cx="1219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spc="600">
                <a:solidFill>
                  <a:srgbClr val="909399"/>
                </a:solidFill>
                <a:latin typeface="Noto Sans SC" panose="020B0200000000000000" charset="-122"/>
                <a:ea typeface="Noto Sans SC" panose="020B0200000000000000" charset="-122"/>
                <a:cs typeface="Noto Sans SC" panose="020B0200000000000000" charset="-122"/>
                <a:sym typeface="Noto Sans SC" panose="020B0200000000000000" charset="-122"/>
              </a:rPr>
              <a:t>BACKGROUND INTRODUCTION</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无线新纪元：速度与风险并存</a:t>
            </a:r>
            <a:endParaRPr lang="en-US" sz="1100"/>
          </a:p>
        </p:txBody>
      </p:sp>
      <p:sp>
        <p:nvSpPr>
          <p:cNvPr id="3" name="AutoShape 3"/>
          <p:cNvSpPr/>
          <p:nvPr/>
        </p:nvSpPr>
        <p:spPr>
          <a:xfrm>
            <a:off x="762000" y="1397000"/>
            <a:ext cx="4953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 技术飞跃：从 Wi-Fi 4 到 Wi-Fi 7</a:t>
            </a:r>
            <a:endParaRPr lang="en-US" sz="1100"/>
          </a:p>
        </p:txBody>
      </p:sp>
      <p:sp>
        <p:nvSpPr>
          <p:cNvPr id="4" name="AutoShape 4"/>
          <p:cNvSpPr/>
          <p:nvPr/>
        </p:nvSpPr>
        <p:spPr>
          <a:xfrm>
            <a:off x="762000" y="1841500"/>
            <a:ext cx="4953000" cy="1079500"/>
          </a:xfrm>
          <a:prstGeom prst="roundRect">
            <a:avLst>
              <a:gd name="adj" fmla="val 14117"/>
            </a:avLst>
          </a:prstGeom>
          <a:solidFill>
            <a:srgbClr val="FFFFFF">
              <a:alpha val="100000"/>
            </a:srgbClr>
          </a:solidFill>
          <a:ln w="25400" cap="flat" cmpd="sng">
            <a:noFill/>
            <a:prstDash val="solid"/>
            <a:round/>
          </a:ln>
          <a:effectLst>
            <a:outerShdw blurRad="152400" dist="38100" dir="2700000" algn="tl" rotWithShape="0">
              <a:srgbClr val="000000">
                <a:alpha val="6000"/>
              </a:srgbClr>
            </a:outerShdw>
          </a:effectLst>
        </p:spPr>
        <p:txBody>
          <a:bodyPr vert="horz" wrap="square" lIns="63500" tIns="63500" rIns="63500" bIns="63500" rtlCol="0" anchor="ctr"/>
          <a:lstStyle/>
          <a:p>
            <a:pPr algn="ctr">
              <a:defRPr/>
            </a:pPr>
          </a:p>
        </p:txBody>
      </p:sp>
      <p:sp>
        <p:nvSpPr>
          <p:cNvPr id="5" name="AutoShape 5"/>
          <p:cNvSpPr/>
          <p:nvPr/>
        </p:nvSpPr>
        <p:spPr>
          <a:xfrm>
            <a:off x="762000" y="1841500"/>
            <a:ext cx="76200" cy="1079500"/>
          </a:xfrm>
          <a:prstGeom prst="roundRect">
            <a:avLst>
              <a:gd name="adj" fmla="val 200000"/>
            </a:avLst>
          </a:prstGeom>
          <a:solidFill>
            <a:srgbClr val="0052CC">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968500"/>
            <a:ext cx="1651000" cy="825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Wi-Fi 4</a:t>
            </a:r>
            <a:endParaRPr lang="en-US" sz="1100"/>
          </a:p>
          <a:p>
            <a:pPr indent="0" algn="l">
              <a:lnSpc>
                <a:spcPct val="125000"/>
              </a:lnSpc>
            </a:pPr>
            <a:r>
              <a:rPr lang="en-US" sz="1200" b="0" i="0" u="none" strike="noStrike">
                <a:solidFill>
                  <a:srgbClr val="969696"/>
                </a:solidFill>
                <a:latin typeface="Noto Sans SC" panose="020B0200000000000000" charset="-122"/>
                <a:ea typeface="Noto Sans SC" panose="020B0200000000000000" charset="-122"/>
                <a:cs typeface="Noto Sans SC" panose="020B0200000000000000" charset="-122"/>
                <a:sym typeface="Noto Sans SC" panose="020B0200000000000000" charset="-122"/>
              </a:rPr>
              <a:t>802.11n 标准</a:t>
            </a:r>
            <a:endParaRPr lang="en-US" sz="1200" b="0" i="0" u="none" strike="noStrike">
              <a:solidFill>
                <a:srgbClr val="96969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2794000" y="1968500"/>
            <a:ext cx="2667000" cy="8255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首次引入 MIMO 多天线技术，物理层速率达到 300-600 Mbps，开启高速无线时代。</a:t>
            </a:r>
            <a:endParaRPr lang="en-US" sz="1100"/>
          </a:p>
        </p:txBody>
      </p:sp>
      <p:sp>
        <p:nvSpPr>
          <p:cNvPr id="8" name="AutoShape 8"/>
          <p:cNvSpPr/>
          <p:nvPr/>
        </p:nvSpPr>
        <p:spPr>
          <a:xfrm>
            <a:off x="762000" y="3048000"/>
            <a:ext cx="4953000" cy="1079500"/>
          </a:xfrm>
          <a:prstGeom prst="roundRect">
            <a:avLst>
              <a:gd name="adj" fmla="val 14117"/>
            </a:avLst>
          </a:prstGeom>
          <a:solidFill>
            <a:srgbClr val="FFFFFF">
              <a:alpha val="100000"/>
            </a:srgbClr>
          </a:solidFill>
          <a:ln w="25400" cap="flat" cmpd="sng">
            <a:noFill/>
            <a:prstDash val="solid"/>
            <a:round/>
          </a:ln>
          <a:effectLst>
            <a:outerShdw blurRad="152400" dist="38100" dir="2700000" algn="tl" rotWithShape="0">
              <a:srgbClr val="000000">
                <a:alpha val="6000"/>
              </a:srgbClr>
            </a:outerShdw>
          </a:effectLst>
        </p:spPr>
        <p:txBody>
          <a:bodyPr vert="horz" wrap="square" lIns="63500" tIns="63500" rIns="63500" bIns="63500" rtlCol="0" anchor="ctr"/>
          <a:lstStyle/>
          <a:p>
            <a:pPr algn="ctr">
              <a:defRPr/>
            </a:pPr>
          </a:p>
        </p:txBody>
      </p:sp>
      <p:sp>
        <p:nvSpPr>
          <p:cNvPr id="9" name="AutoShape 9"/>
          <p:cNvSpPr/>
          <p:nvPr/>
        </p:nvSpPr>
        <p:spPr>
          <a:xfrm>
            <a:off x="762000" y="3048000"/>
            <a:ext cx="76200" cy="1079500"/>
          </a:xfrm>
          <a:prstGeom prst="roundRect">
            <a:avLst>
              <a:gd name="adj" fmla="val 200000"/>
            </a:avLst>
          </a:prstGeom>
          <a:solidFill>
            <a:srgbClr val="0052CC">
              <a:alpha val="8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1016000" y="3175000"/>
            <a:ext cx="1651000" cy="825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Wi-Fi 5</a:t>
            </a:r>
            <a:endParaRPr lang="en-US" sz="1100"/>
          </a:p>
          <a:p>
            <a:pPr indent="0" algn="l">
              <a:lnSpc>
                <a:spcPct val="125000"/>
              </a:lnSpc>
            </a:pPr>
            <a:r>
              <a:rPr lang="en-US" sz="1200" b="0" i="0" u="none" strike="noStrike">
                <a:solidFill>
                  <a:srgbClr val="969696"/>
                </a:solidFill>
                <a:latin typeface="Noto Sans SC" panose="020B0200000000000000" charset="-122"/>
                <a:ea typeface="Noto Sans SC" panose="020B0200000000000000" charset="-122"/>
                <a:cs typeface="Noto Sans SC" panose="020B0200000000000000" charset="-122"/>
                <a:sym typeface="Noto Sans SC" panose="020B0200000000000000" charset="-122"/>
              </a:rPr>
              <a:t>802.11ac 标准</a:t>
            </a:r>
            <a:endParaRPr lang="en-US" sz="1200" b="0" i="0" u="none" strike="noStrike">
              <a:solidFill>
                <a:srgbClr val="96969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nvSpPr>
        <p:spPr>
          <a:xfrm>
            <a:off x="2794000" y="3175000"/>
            <a:ext cx="2667000" cy="8255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专注 5GHz 频段，引入 256-QAM，理论峰值速率提升至 3.5 Gbps，适合高清影音传输。</a:t>
            </a:r>
            <a:endParaRPr lang="en-US" sz="1100"/>
          </a:p>
        </p:txBody>
      </p:sp>
      <p:sp>
        <p:nvSpPr>
          <p:cNvPr id="12" name="AutoShape 12"/>
          <p:cNvSpPr/>
          <p:nvPr/>
        </p:nvSpPr>
        <p:spPr>
          <a:xfrm>
            <a:off x="762000" y="4254500"/>
            <a:ext cx="4953000" cy="1079500"/>
          </a:xfrm>
          <a:prstGeom prst="roundRect">
            <a:avLst>
              <a:gd name="adj" fmla="val 14117"/>
            </a:avLst>
          </a:prstGeom>
          <a:solidFill>
            <a:srgbClr val="FFFFFF">
              <a:alpha val="100000"/>
            </a:srgbClr>
          </a:solidFill>
          <a:ln w="25400" cap="flat" cmpd="sng">
            <a:noFill/>
            <a:prstDash val="solid"/>
            <a:round/>
          </a:ln>
          <a:effectLst>
            <a:outerShdw blurRad="152400" dist="38100" dir="2700000" algn="tl" rotWithShape="0">
              <a:srgbClr val="000000">
                <a:alpha val="6000"/>
              </a:srgbClr>
            </a:outerShdw>
          </a:effectLst>
        </p:spPr>
        <p:txBody>
          <a:bodyPr vert="horz" wrap="square" lIns="63500" tIns="63500" rIns="63500" bIns="63500" rtlCol="0" anchor="ctr"/>
          <a:lstStyle/>
          <a:p>
            <a:pPr algn="ctr">
              <a:defRPr/>
            </a:pPr>
          </a:p>
        </p:txBody>
      </p:sp>
      <p:sp>
        <p:nvSpPr>
          <p:cNvPr id="13" name="AutoShape 13"/>
          <p:cNvSpPr/>
          <p:nvPr/>
        </p:nvSpPr>
        <p:spPr>
          <a:xfrm>
            <a:off x="762000" y="4254500"/>
            <a:ext cx="76200" cy="1079500"/>
          </a:xfrm>
          <a:prstGeom prst="roundRect">
            <a:avLst>
              <a:gd name="adj" fmla="val 200000"/>
            </a:avLst>
          </a:prstGeom>
          <a:solidFill>
            <a:srgbClr val="0052CC">
              <a:alpha val="6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1016000" y="4381500"/>
            <a:ext cx="1651000" cy="825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Wi-Fi 6</a:t>
            </a:r>
            <a:endParaRPr lang="en-US" sz="1100"/>
          </a:p>
          <a:p>
            <a:pPr indent="0" algn="l">
              <a:lnSpc>
                <a:spcPct val="125000"/>
              </a:lnSpc>
            </a:pPr>
            <a:r>
              <a:rPr lang="en-US" sz="1200" b="0" i="0" u="none" strike="noStrike">
                <a:solidFill>
                  <a:srgbClr val="969696"/>
                </a:solidFill>
                <a:latin typeface="Noto Sans SC" panose="020B0200000000000000" charset="-122"/>
                <a:ea typeface="Noto Sans SC" panose="020B0200000000000000" charset="-122"/>
                <a:cs typeface="Noto Sans SC" panose="020B0200000000000000" charset="-122"/>
                <a:sym typeface="Noto Sans SC" panose="020B0200000000000000" charset="-122"/>
              </a:rPr>
              <a:t>802.11ax 标准</a:t>
            </a:r>
            <a:endParaRPr lang="en-US" sz="1200" b="0" i="0" u="none" strike="noStrike">
              <a:solidFill>
                <a:srgbClr val="96969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15"/>
          <p:cNvSpPr/>
          <p:nvPr/>
        </p:nvSpPr>
        <p:spPr>
          <a:xfrm>
            <a:off x="2794000" y="4381500"/>
            <a:ext cx="2667000" cy="8255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面向高密度场景优化，支持 OFDMA 多用户并发，速率逼近 10 Gbps，解决网络拥堵。</a:t>
            </a:r>
            <a:endParaRPr lang="en-US" sz="1100"/>
          </a:p>
        </p:txBody>
      </p:sp>
      <p:sp>
        <p:nvSpPr>
          <p:cNvPr id="16" name="AutoShape 16"/>
          <p:cNvSpPr/>
          <p:nvPr/>
        </p:nvSpPr>
        <p:spPr>
          <a:xfrm>
            <a:off x="762000" y="5461000"/>
            <a:ext cx="4953000" cy="1079500"/>
          </a:xfrm>
          <a:prstGeom prst="roundRect">
            <a:avLst>
              <a:gd name="adj" fmla="val 14117"/>
            </a:avLst>
          </a:prstGeom>
          <a:solidFill>
            <a:srgbClr val="FFFFFF">
              <a:alpha val="100000"/>
            </a:srgbClr>
          </a:solidFill>
          <a:ln w="25400" cap="flat" cmpd="sng">
            <a:noFill/>
            <a:prstDash val="solid"/>
            <a:round/>
          </a:ln>
          <a:effectLst>
            <a:outerShdw blurRad="152400" dist="38100" dir="2700000" algn="tl" rotWithShape="0">
              <a:srgbClr val="000000">
                <a:alpha val="6000"/>
              </a:srgbClr>
            </a:outerShdw>
          </a:effectLst>
        </p:spPr>
        <p:txBody>
          <a:bodyPr vert="horz" wrap="square" lIns="63500" tIns="63500" rIns="63500" bIns="63500" rtlCol="0" anchor="ctr"/>
          <a:lstStyle/>
          <a:p>
            <a:pPr algn="ctr">
              <a:defRPr/>
            </a:pPr>
          </a:p>
        </p:txBody>
      </p:sp>
      <p:sp>
        <p:nvSpPr>
          <p:cNvPr id="17" name="AutoShape 17"/>
          <p:cNvSpPr/>
          <p:nvPr/>
        </p:nvSpPr>
        <p:spPr>
          <a:xfrm>
            <a:off x="762000" y="5461000"/>
            <a:ext cx="76200" cy="1079500"/>
          </a:xfrm>
          <a:prstGeom prst="roundRect">
            <a:avLst>
              <a:gd name="adj" fmla="val 200000"/>
            </a:avLst>
          </a:prstGeom>
          <a:solidFill>
            <a:srgbClr val="0052CC">
              <a:alpha val="4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1016000" y="5588000"/>
            <a:ext cx="1651000" cy="825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Wi-Fi 7</a:t>
            </a:r>
            <a:endParaRPr lang="en-US" sz="1100"/>
          </a:p>
          <a:p>
            <a:pPr indent="0" algn="l">
              <a:lnSpc>
                <a:spcPct val="125000"/>
              </a:lnSpc>
            </a:pPr>
            <a:r>
              <a:rPr lang="en-US" sz="1200" b="0" i="0" u="none" strike="noStrike">
                <a:solidFill>
                  <a:srgbClr val="969696"/>
                </a:solidFill>
                <a:latin typeface="Noto Sans SC" panose="020B0200000000000000" charset="-122"/>
                <a:ea typeface="Noto Sans SC" panose="020B0200000000000000" charset="-122"/>
                <a:cs typeface="Noto Sans SC" panose="020B0200000000000000" charset="-122"/>
                <a:sym typeface="Noto Sans SC" panose="020B0200000000000000" charset="-122"/>
              </a:rPr>
              <a:t>802.11be 标准</a:t>
            </a:r>
            <a:endParaRPr lang="en-US" sz="1200" b="0" i="0" u="none" strike="noStrike">
              <a:solidFill>
                <a:srgbClr val="96969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9" name="AutoShape 19"/>
          <p:cNvSpPr/>
          <p:nvPr/>
        </p:nvSpPr>
        <p:spPr>
          <a:xfrm>
            <a:off x="2794000" y="5588000"/>
            <a:ext cx="2667000" cy="8255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引入 320MHz 超宽信道与 4096-QAM，速率突破 30 Gbps，赋能 AR/VR 等极致体验。</a:t>
            </a:r>
            <a:endParaRPr lang="en-US" sz="1100"/>
          </a:p>
        </p:txBody>
      </p:sp>
      <p:sp>
        <p:nvSpPr>
          <p:cNvPr id="20" name="AutoShape 20"/>
          <p:cNvSpPr/>
          <p:nvPr/>
        </p:nvSpPr>
        <p:spPr>
          <a:xfrm>
            <a:off x="6096000" y="1397000"/>
            <a:ext cx="4953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EA4335"/>
                </a:solidFill>
                <a:latin typeface="Noto Sans SC" panose="020B0200000000000000" charset="-122"/>
                <a:ea typeface="Noto Sans SC" panose="020B0200000000000000" charset="-122"/>
                <a:cs typeface="Noto Sans SC" panose="020B0200000000000000" charset="-122"/>
                <a:sym typeface="Noto Sans SC" panose="020B0200000000000000" charset="-122"/>
              </a:rPr>
              <a:t>▍ 安全隐忧：攻击面随带宽同步扩大</a:t>
            </a:r>
            <a:endParaRPr lang="en-US" sz="1100"/>
          </a:p>
        </p:txBody>
      </p:sp>
      <p:sp>
        <p:nvSpPr>
          <p:cNvPr id="21" name="AutoShape 21"/>
          <p:cNvSpPr/>
          <p:nvPr/>
        </p:nvSpPr>
        <p:spPr>
          <a:xfrm>
            <a:off x="6096000" y="1841500"/>
            <a:ext cx="5080000" cy="1270000"/>
          </a:xfrm>
          <a:prstGeom prst="roundRect">
            <a:avLst>
              <a:gd name="adj" fmla="val 12000"/>
            </a:avLst>
          </a:prstGeom>
          <a:solidFill>
            <a:srgbClr val="FFFFFF">
              <a:alpha val="100000"/>
            </a:srgbClr>
          </a:solidFill>
          <a:ln w="25400" cap="flat" cmpd="sng">
            <a:noFill/>
            <a:prstDash val="solid"/>
            <a:round/>
          </a:ln>
          <a:effectLst>
            <a:outerShdw blurRad="152400" dist="38100" dir="2700000" algn="tl" rotWithShape="0">
              <a:srgbClr val="000000">
                <a:alpha val="6000"/>
              </a:srgbClr>
            </a:outerShdw>
          </a:effectLst>
        </p:spPr>
        <p:txBody>
          <a:bodyPr vert="horz" wrap="square" lIns="63500" tIns="63500" rIns="63500" bIns="63500" rtlCol="0" anchor="ctr"/>
          <a:lstStyle/>
          <a:p>
            <a:pPr algn="ctr">
              <a:defRPr/>
            </a:pPr>
          </a:p>
        </p:txBody>
      </p:sp>
      <p:sp>
        <p:nvSpPr>
          <p:cNvPr id="22" name="AutoShape 22"/>
          <p:cNvSpPr/>
          <p:nvPr/>
        </p:nvSpPr>
        <p:spPr>
          <a:xfrm>
            <a:off x="6350000" y="2095500"/>
            <a:ext cx="762000" cy="762000"/>
          </a:xfrm>
          <a:prstGeom prst="ellipse">
            <a:avLst/>
          </a:prstGeom>
          <a:solidFill>
            <a:srgbClr val="EBF2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3" name="Picture 23"/>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502400" y="2247900"/>
            <a:ext cx="457200" cy="457200"/>
          </a:xfrm>
          <a:prstGeom prst="rect">
            <a:avLst/>
          </a:prstGeom>
        </p:spPr>
      </p:pic>
      <p:sp>
        <p:nvSpPr>
          <p:cNvPr id="24" name="AutoShape 24"/>
          <p:cNvSpPr/>
          <p:nvPr/>
        </p:nvSpPr>
        <p:spPr>
          <a:xfrm>
            <a:off x="7366000" y="2032000"/>
            <a:ext cx="3683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连接设备爆炸式增长</a:t>
            </a:r>
            <a:endParaRPr lang="en-US" sz="1100"/>
          </a:p>
          <a:p>
            <a:pPr indent="0" algn="l">
              <a:lnSpc>
                <a:spcPct val="108000"/>
              </a:lnSpc>
            </a:pPr>
            <a:r>
              <a:rPr lang="en-US" sz="12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IoT设备海量接入，网络边界变得模糊且动态，传统边界防御体系逐渐失效。</a:t>
            </a:r>
            <a:endParaRPr lang="en-US" sz="12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5" name="AutoShape 25"/>
          <p:cNvSpPr/>
          <p:nvPr/>
        </p:nvSpPr>
        <p:spPr>
          <a:xfrm>
            <a:off x="6096000" y="3302000"/>
            <a:ext cx="5080000" cy="1270000"/>
          </a:xfrm>
          <a:prstGeom prst="roundRect">
            <a:avLst>
              <a:gd name="adj" fmla="val 12000"/>
            </a:avLst>
          </a:prstGeom>
          <a:solidFill>
            <a:srgbClr val="FFFFFF">
              <a:alpha val="100000"/>
            </a:srgbClr>
          </a:solidFill>
          <a:ln w="25400" cap="flat" cmpd="sng">
            <a:noFill/>
            <a:prstDash val="solid"/>
            <a:round/>
          </a:ln>
          <a:effectLst>
            <a:outerShdw blurRad="152400" dist="38100" dir="2700000" algn="tl" rotWithShape="0">
              <a:srgbClr val="000000">
                <a:alpha val="6000"/>
              </a:srgbClr>
            </a:outerShdw>
          </a:effectLst>
        </p:spPr>
        <p:txBody>
          <a:bodyPr vert="horz" wrap="square" lIns="63500" tIns="63500" rIns="63500" bIns="63500" rtlCol="0" anchor="ctr"/>
          <a:lstStyle/>
          <a:p>
            <a:pPr algn="ctr">
              <a:defRPr/>
            </a:pPr>
          </a:p>
        </p:txBody>
      </p:sp>
      <p:sp>
        <p:nvSpPr>
          <p:cNvPr id="26" name="AutoShape 26"/>
          <p:cNvSpPr/>
          <p:nvPr/>
        </p:nvSpPr>
        <p:spPr>
          <a:xfrm>
            <a:off x="6350000" y="3556000"/>
            <a:ext cx="762000" cy="762000"/>
          </a:xfrm>
          <a:prstGeom prst="ellipse">
            <a:avLst/>
          </a:prstGeom>
          <a:solidFill>
            <a:srgbClr val="FFF1F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7" name="Picture 2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502400" y="3708400"/>
            <a:ext cx="457200" cy="457200"/>
          </a:xfrm>
          <a:prstGeom prst="rect">
            <a:avLst/>
          </a:prstGeom>
        </p:spPr>
      </p:pic>
      <p:sp>
        <p:nvSpPr>
          <p:cNvPr id="28" name="AutoShape 28"/>
          <p:cNvSpPr/>
          <p:nvPr/>
        </p:nvSpPr>
        <p:spPr>
          <a:xfrm>
            <a:off x="7366000" y="3492500"/>
            <a:ext cx="3683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攻击向量日益多样化</a:t>
            </a:r>
            <a:endParaRPr lang="en-US" sz="1100"/>
          </a:p>
          <a:p>
            <a:pPr indent="0" algn="l">
              <a:lnSpc>
                <a:spcPct val="108000"/>
              </a:lnSpc>
            </a:pPr>
            <a:r>
              <a:rPr lang="en-US" sz="12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更大的带宽意味着攻击者能在更短时间内传输大量载荷，勒索病毒与DDoS攻击更难防范。</a:t>
            </a:r>
            <a:endParaRPr lang="en-US" sz="12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9" name="AutoShape 29"/>
          <p:cNvSpPr/>
          <p:nvPr/>
        </p:nvSpPr>
        <p:spPr>
          <a:xfrm>
            <a:off x="6096000" y="4762500"/>
            <a:ext cx="5080000" cy="1270000"/>
          </a:xfrm>
          <a:prstGeom prst="roundRect">
            <a:avLst>
              <a:gd name="adj" fmla="val 12000"/>
            </a:avLst>
          </a:prstGeom>
          <a:solidFill>
            <a:srgbClr val="FFFFFF">
              <a:alpha val="100000"/>
            </a:srgbClr>
          </a:solidFill>
          <a:ln w="25400" cap="flat" cmpd="sng">
            <a:noFill/>
            <a:prstDash val="solid"/>
            <a:round/>
          </a:ln>
          <a:effectLst>
            <a:outerShdw blurRad="152400" dist="38100" dir="2700000" algn="tl" rotWithShape="0">
              <a:srgbClr val="000000">
                <a:alpha val="6000"/>
              </a:srgbClr>
            </a:outerShdw>
          </a:effectLst>
        </p:spPr>
        <p:txBody>
          <a:bodyPr vert="horz" wrap="square" lIns="63500" tIns="63500" rIns="63500" bIns="63500" rtlCol="0" anchor="ctr"/>
          <a:lstStyle/>
          <a:p>
            <a:pPr algn="ctr">
              <a:defRPr/>
            </a:pPr>
          </a:p>
        </p:txBody>
      </p:sp>
      <p:sp>
        <p:nvSpPr>
          <p:cNvPr id="30" name="AutoShape 30"/>
          <p:cNvSpPr/>
          <p:nvPr/>
        </p:nvSpPr>
        <p:spPr>
          <a:xfrm>
            <a:off x="6350000" y="5016500"/>
            <a:ext cx="762000" cy="762000"/>
          </a:xfrm>
          <a:prstGeom prst="ellipse">
            <a:avLst/>
          </a:prstGeom>
          <a:solidFill>
            <a:srgbClr val="F0FDF4">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31" name="Picture 3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502400" y="5168900"/>
            <a:ext cx="457200" cy="457200"/>
          </a:xfrm>
          <a:prstGeom prst="rect">
            <a:avLst/>
          </a:prstGeom>
        </p:spPr>
      </p:pic>
      <p:sp>
        <p:nvSpPr>
          <p:cNvPr id="32" name="AutoShape 32"/>
          <p:cNvSpPr/>
          <p:nvPr/>
        </p:nvSpPr>
        <p:spPr>
          <a:xfrm>
            <a:off x="7366000" y="4953000"/>
            <a:ext cx="3683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流量复杂性呈指数级剧增</a:t>
            </a:r>
            <a:endParaRPr lang="en-US" sz="1100"/>
          </a:p>
          <a:p>
            <a:pPr indent="0" algn="l">
              <a:lnSpc>
                <a:spcPct val="108000"/>
              </a:lnSpc>
            </a:pPr>
            <a:r>
              <a:rPr lang="en-US" sz="12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高清视频、AR/VR实时流、IoT传感器数据等混合流量交织，异常流量检测难度大幅提升。</a:t>
            </a:r>
            <a:endParaRPr lang="en-US" sz="12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信号的“双刃剑”：开放性与协议的脆弱性</a:t>
            </a:r>
            <a:endParaRPr lang="en-US" sz="1100"/>
          </a:p>
        </p:txBody>
      </p:sp>
      <p:sp>
        <p:nvSpPr>
          <p:cNvPr id="3" name="AutoShape 3"/>
          <p:cNvSpPr/>
          <p:nvPr/>
        </p:nvSpPr>
        <p:spPr>
          <a:xfrm>
            <a:off x="762000" y="1524000"/>
            <a:ext cx="5207000" cy="4826000"/>
          </a:xfrm>
          <a:prstGeom prst="roundRect">
            <a:avLst>
              <a:gd name="adj" fmla="val 4210"/>
            </a:avLst>
          </a:prstGeom>
          <a:solidFill>
            <a:srgbClr val="F0F7FF">
              <a:alpha val="100000"/>
            </a:srgbClr>
          </a:solidFill>
          <a:ln w="25400" cap="flat" cmpd="sng">
            <a:noFill/>
            <a:prstDash val="solid"/>
            <a:round/>
          </a:ln>
          <a:effectLst>
            <a:outerShdw blurRad="254000" dist="63500" dir="2700000" algn="tl" rotWithShape="0">
              <a:srgbClr val="0052CC">
                <a:alpha val="10000"/>
              </a:srgbClr>
            </a:outerShdw>
          </a:effectLst>
        </p:spPr>
        <p:txBody>
          <a:bodyPr vert="horz" wrap="square" lIns="63500" tIns="63500" rIns="63500" bIns="63500" rtlCol="0" anchor="ctr"/>
          <a:lstStyle/>
          <a:p>
            <a:pPr algn="ctr">
              <a:defRPr/>
            </a:pPr>
          </a:p>
        </p:txBody>
      </p:sp>
      <p:sp>
        <p:nvSpPr>
          <p:cNvPr id="4" name="AutoShape 4"/>
          <p:cNvSpPr/>
          <p:nvPr/>
        </p:nvSpPr>
        <p:spPr>
          <a:xfrm>
            <a:off x="1016000" y="1778000"/>
            <a:ext cx="812800" cy="812800"/>
          </a:xfrm>
          <a:prstGeom prst="ellipse">
            <a:avLst/>
          </a:prstGeom>
          <a:solidFill>
            <a:srgbClr val="0052CC">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93800" y="1955800"/>
            <a:ext cx="457200" cy="457200"/>
          </a:xfrm>
          <a:prstGeom prst="rect">
            <a:avLst/>
          </a:prstGeom>
        </p:spPr>
      </p:pic>
      <p:sp>
        <p:nvSpPr>
          <p:cNvPr id="6" name="AutoShape 6"/>
          <p:cNvSpPr/>
          <p:nvPr/>
        </p:nvSpPr>
        <p:spPr>
          <a:xfrm>
            <a:off x="2032000" y="1841500"/>
            <a:ext cx="3556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物理层的开放性</a:t>
            </a:r>
            <a:endParaRPr lang="en-US" sz="1100"/>
          </a:p>
        </p:txBody>
      </p:sp>
      <p:sp>
        <p:nvSpPr>
          <p:cNvPr id="7" name="AutoShape 7"/>
          <p:cNvSpPr/>
          <p:nvPr/>
        </p:nvSpPr>
        <p:spPr>
          <a:xfrm>
            <a:off x="2032000" y="2413000"/>
            <a:ext cx="3556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16161"/>
                </a:solidFill>
                <a:latin typeface="Noto Sans SC" panose="020B0200000000000000" charset="-122"/>
                <a:ea typeface="Noto Sans SC" panose="020B0200000000000000" charset="-122"/>
                <a:cs typeface="Noto Sans SC" panose="020B0200000000000000" charset="-122"/>
                <a:sym typeface="Noto Sans SC" panose="020B0200000000000000" charset="-122"/>
              </a:rPr>
              <a:t>信号超脱物理边界，安全防线易被突破</a:t>
            </a:r>
            <a:endParaRPr lang="en-US" sz="1100"/>
          </a:p>
        </p:txBody>
      </p:sp>
      <p:sp>
        <p:nvSpPr>
          <p:cNvPr id="8" name="AutoShape 8"/>
          <p:cNvSpPr/>
          <p:nvPr/>
        </p:nvSpPr>
        <p:spPr>
          <a:xfrm>
            <a:off x="1016000" y="3048000"/>
            <a:ext cx="4699000" cy="1079500"/>
          </a:xfrm>
          <a:prstGeom prst="roundRect">
            <a:avLst>
              <a:gd name="adj" fmla="val 11764"/>
            </a:avLst>
          </a:prstGeom>
          <a:solidFill>
            <a:srgbClr val="FFFFFF">
              <a:alpha val="100000"/>
            </a:srgbClr>
          </a:solidFill>
          <a:ln w="25400" cap="flat" cmpd="sng">
            <a:noFill/>
            <a:prstDash val="solid"/>
            <a:round/>
          </a:ln>
          <a:effectLst>
            <a:outerShdw blurRad="127000" dist="25400" dir="2700000" algn="tl" rotWithShape="0">
              <a:srgbClr val="000000">
                <a:alpha val="5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06500" y="3302000"/>
            <a:ext cx="457200" cy="457200"/>
          </a:xfrm>
          <a:prstGeom prst="rect">
            <a:avLst/>
          </a:prstGeom>
        </p:spPr>
      </p:pic>
      <p:sp>
        <p:nvSpPr>
          <p:cNvPr id="10" name="AutoShape 10"/>
          <p:cNvSpPr/>
          <p:nvPr/>
        </p:nvSpPr>
        <p:spPr>
          <a:xfrm>
            <a:off x="1905000" y="3175000"/>
            <a:ext cx="3683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覆盖范围不可控</a:t>
            </a:r>
            <a:endParaRPr lang="en-US" sz="1100"/>
          </a:p>
        </p:txBody>
      </p:sp>
      <p:sp>
        <p:nvSpPr>
          <p:cNvPr id="11" name="AutoShape 11"/>
          <p:cNvSpPr/>
          <p:nvPr/>
        </p:nvSpPr>
        <p:spPr>
          <a:xfrm>
            <a:off x="1905000" y="3556000"/>
            <a:ext cx="3683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616161"/>
                </a:solidFill>
                <a:latin typeface="Noto Sans SC" panose="020B0200000000000000" charset="-122"/>
                <a:ea typeface="Noto Sans SC" panose="020B0200000000000000" charset="-122"/>
                <a:cs typeface="Noto Sans SC" panose="020B0200000000000000" charset="-122"/>
                <a:sym typeface="Noto Sans SC" panose="020B0200000000000000" charset="-122"/>
              </a:rPr>
              <a:t>Wi-Fi信号穿透墙壁与障碍物，实际覆盖范围往往远超物理建筑的边界，难以被物理手段限制。</a:t>
            </a:r>
            <a:endParaRPr lang="en-US" sz="1100"/>
          </a:p>
        </p:txBody>
      </p:sp>
      <p:sp>
        <p:nvSpPr>
          <p:cNvPr id="12" name="AutoShape 12"/>
          <p:cNvSpPr/>
          <p:nvPr/>
        </p:nvSpPr>
        <p:spPr>
          <a:xfrm>
            <a:off x="1016000" y="4254500"/>
            <a:ext cx="4699000" cy="1079500"/>
          </a:xfrm>
          <a:prstGeom prst="roundRect">
            <a:avLst>
              <a:gd name="adj" fmla="val 11764"/>
            </a:avLst>
          </a:prstGeom>
          <a:solidFill>
            <a:srgbClr val="FFFFFF">
              <a:alpha val="100000"/>
            </a:srgbClr>
          </a:solidFill>
          <a:ln w="25400" cap="flat" cmpd="sng">
            <a:noFill/>
            <a:prstDash val="solid"/>
            <a:round/>
          </a:ln>
          <a:effectLst>
            <a:outerShdw blurRad="127000" dist="25400" dir="2700000" algn="tl" rotWithShape="0">
              <a:srgbClr val="000000">
                <a:alpha val="5000"/>
              </a:srgbClr>
            </a:outerShdw>
          </a:effectLst>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206500" y="4508500"/>
            <a:ext cx="457200" cy="457200"/>
          </a:xfrm>
          <a:prstGeom prst="rect">
            <a:avLst/>
          </a:prstGeom>
        </p:spPr>
      </p:pic>
      <p:sp>
        <p:nvSpPr>
          <p:cNvPr id="14" name="AutoShape 14"/>
          <p:cNvSpPr/>
          <p:nvPr/>
        </p:nvSpPr>
        <p:spPr>
          <a:xfrm>
            <a:off x="1905000" y="4381500"/>
            <a:ext cx="3683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共享媒介特性</a:t>
            </a:r>
            <a:endParaRPr lang="en-US" sz="1100"/>
          </a:p>
        </p:txBody>
      </p:sp>
      <p:sp>
        <p:nvSpPr>
          <p:cNvPr id="15" name="AutoShape 15"/>
          <p:cNvSpPr/>
          <p:nvPr/>
        </p:nvSpPr>
        <p:spPr>
          <a:xfrm>
            <a:off x="1905000" y="4762500"/>
            <a:ext cx="3683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616161"/>
                </a:solidFill>
                <a:latin typeface="Noto Sans SC" panose="020B0200000000000000" charset="-122"/>
                <a:ea typeface="Noto Sans SC" panose="020B0200000000000000" charset="-122"/>
                <a:cs typeface="Noto Sans SC" panose="020B0200000000000000" charset="-122"/>
                <a:sym typeface="Noto Sans SC" panose="020B0200000000000000" charset="-122"/>
              </a:rPr>
              <a:t>无线信道是广播式的共享媒介，任何处于信号覆盖范围内的设备，理论上都能“听到”空中传输的所有数据包。</a:t>
            </a:r>
            <a:endParaRPr lang="en-US" sz="1100"/>
          </a:p>
        </p:txBody>
      </p:sp>
      <p:sp>
        <p:nvSpPr>
          <p:cNvPr id="16" name="AutoShape 16"/>
          <p:cNvSpPr/>
          <p:nvPr/>
        </p:nvSpPr>
        <p:spPr>
          <a:xfrm>
            <a:off x="1016000" y="5461000"/>
            <a:ext cx="4699000" cy="825500"/>
          </a:xfrm>
          <a:prstGeom prst="roundRect">
            <a:avLst>
              <a:gd name="adj" fmla="val 15384"/>
            </a:avLst>
          </a:prstGeom>
          <a:solidFill>
            <a:srgbClr val="FFFFFF">
              <a:alpha val="100000"/>
            </a:srgbClr>
          </a:solidFill>
          <a:ln w="25400" cap="flat" cmpd="sng">
            <a:noFill/>
            <a:prstDash val="solid"/>
            <a:round/>
          </a:ln>
          <a:effectLst>
            <a:outerShdw blurRad="127000" dist="25400" dir="2700000" algn="tl" rotWithShape="0">
              <a:srgbClr val="000000">
                <a:alpha val="5000"/>
              </a:srgbClr>
            </a:outerShdw>
          </a:effectLst>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206500" y="5651500"/>
            <a:ext cx="457200" cy="457200"/>
          </a:xfrm>
          <a:prstGeom prst="rect">
            <a:avLst/>
          </a:prstGeom>
        </p:spPr>
      </p:pic>
      <p:sp>
        <p:nvSpPr>
          <p:cNvPr id="18" name="AutoShape 18"/>
          <p:cNvSpPr/>
          <p:nvPr/>
        </p:nvSpPr>
        <p:spPr>
          <a:xfrm>
            <a:off x="1905000" y="5588000"/>
            <a:ext cx="3683000" cy="571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1" i="0" u="none" strike="noStrike">
                <a:solidFill>
                  <a:srgbClr val="616161"/>
                </a:solidFill>
                <a:latin typeface="Noto Sans SC" panose="020B0200000000000000" charset="-122"/>
                <a:ea typeface="Noto Sans SC" panose="020B0200000000000000" charset="-122"/>
                <a:cs typeface="Noto Sans SC" panose="020B0200000000000000" charset="-122"/>
                <a:sym typeface="Noto Sans SC" panose="020B0200000000000000" charset="-122"/>
              </a:rPr>
              <a:t>攻击示例：</a:t>
            </a:r>
            <a:r>
              <a:rPr lang="en-US" sz="1200" b="0" i="0" u="none" strike="noStrike">
                <a:solidFill>
                  <a:srgbClr val="616161"/>
                </a:solidFill>
                <a:latin typeface="Noto Sans SC" panose="020B0200000000000000" charset="-122"/>
                <a:ea typeface="Noto Sans SC" panose="020B0200000000000000" charset="-122"/>
                <a:cs typeface="Noto Sans SC" panose="020B0200000000000000" charset="-122"/>
                <a:sym typeface="Noto Sans SC" panose="020B0200000000000000" charset="-122"/>
              </a:rPr>
              <a:t>攻击者利用高增益天线，可在数百米外发起监听或中间人攻击，窃取敏感数据。</a:t>
            </a:r>
            <a:endParaRPr lang="en-US" sz="1100"/>
          </a:p>
        </p:txBody>
      </p:sp>
      <p:sp>
        <p:nvSpPr>
          <p:cNvPr id="19" name="AutoShape 19"/>
          <p:cNvSpPr/>
          <p:nvPr/>
        </p:nvSpPr>
        <p:spPr>
          <a:xfrm>
            <a:off x="6223000" y="1524000"/>
            <a:ext cx="5207000" cy="4826000"/>
          </a:xfrm>
          <a:prstGeom prst="roundRect">
            <a:avLst>
              <a:gd name="adj" fmla="val 4210"/>
            </a:avLst>
          </a:prstGeom>
          <a:solidFill>
            <a:srgbClr val="FFF5F2">
              <a:alpha val="100000"/>
            </a:srgbClr>
          </a:solidFill>
          <a:ln w="25400" cap="flat" cmpd="sng">
            <a:noFill/>
            <a:prstDash val="solid"/>
            <a:round/>
          </a:ln>
          <a:effectLst>
            <a:outerShdw blurRad="254000" dist="63500" dir="2700000" algn="tl" rotWithShape="0">
              <a:srgbClr val="FF5733">
                <a:alpha val="10000"/>
              </a:srgbClr>
            </a:outerShdw>
          </a:effectLst>
        </p:spPr>
        <p:txBody>
          <a:bodyPr vert="horz" wrap="square" lIns="63500" tIns="63500" rIns="63500" bIns="63500" rtlCol="0" anchor="ctr"/>
          <a:lstStyle/>
          <a:p>
            <a:pPr algn="ctr">
              <a:defRPr/>
            </a:pPr>
          </a:p>
        </p:txBody>
      </p:sp>
      <p:sp>
        <p:nvSpPr>
          <p:cNvPr id="20" name="AutoShape 20"/>
          <p:cNvSpPr/>
          <p:nvPr/>
        </p:nvSpPr>
        <p:spPr>
          <a:xfrm>
            <a:off x="6477000" y="1778000"/>
            <a:ext cx="812800" cy="812800"/>
          </a:xfrm>
          <a:prstGeom prst="ellipse">
            <a:avLst/>
          </a:prstGeom>
          <a:solidFill>
            <a:srgbClr val="FF5733">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654800" y="1955800"/>
            <a:ext cx="457200" cy="457200"/>
          </a:xfrm>
          <a:prstGeom prst="rect">
            <a:avLst/>
          </a:prstGeom>
        </p:spPr>
      </p:pic>
      <p:sp>
        <p:nvSpPr>
          <p:cNvPr id="22" name="AutoShape 22"/>
          <p:cNvSpPr/>
          <p:nvPr/>
        </p:nvSpPr>
        <p:spPr>
          <a:xfrm>
            <a:off x="7493000" y="1841500"/>
            <a:ext cx="3556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FF5733"/>
                </a:solidFill>
                <a:latin typeface="Noto Sans SC" panose="020B0200000000000000" charset="-122"/>
                <a:ea typeface="Noto Sans SC" panose="020B0200000000000000" charset="-122"/>
                <a:cs typeface="Noto Sans SC" panose="020B0200000000000000" charset="-122"/>
                <a:sym typeface="Noto Sans SC" panose="020B0200000000000000" charset="-122"/>
              </a:rPr>
              <a:t>协议层的弱点</a:t>
            </a:r>
            <a:endParaRPr lang="en-US" sz="1100"/>
          </a:p>
        </p:txBody>
      </p:sp>
      <p:sp>
        <p:nvSpPr>
          <p:cNvPr id="23" name="AutoShape 23"/>
          <p:cNvSpPr/>
          <p:nvPr/>
        </p:nvSpPr>
        <p:spPr>
          <a:xfrm>
            <a:off x="7493000" y="2413000"/>
            <a:ext cx="3556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16161"/>
                </a:solidFill>
                <a:latin typeface="Noto Sans SC" panose="020B0200000000000000" charset="-122"/>
                <a:ea typeface="Noto Sans SC" panose="020B0200000000000000" charset="-122"/>
                <a:cs typeface="Noto Sans SC" panose="020B0200000000000000" charset="-122"/>
                <a:sym typeface="Noto Sans SC" panose="020B0200000000000000" charset="-122"/>
              </a:rPr>
              <a:t>管理帧引发的信任危机，设计上的先天缺陷</a:t>
            </a:r>
            <a:endParaRPr lang="en-US" sz="1100"/>
          </a:p>
        </p:txBody>
      </p:sp>
      <p:sp>
        <p:nvSpPr>
          <p:cNvPr id="24" name="AutoShape 24"/>
          <p:cNvSpPr/>
          <p:nvPr/>
        </p:nvSpPr>
        <p:spPr>
          <a:xfrm>
            <a:off x="6477000" y="3048000"/>
            <a:ext cx="4699000" cy="1079500"/>
          </a:xfrm>
          <a:prstGeom prst="roundRect">
            <a:avLst>
              <a:gd name="adj" fmla="val 11764"/>
            </a:avLst>
          </a:prstGeom>
          <a:solidFill>
            <a:srgbClr val="FFFFFF">
              <a:alpha val="100000"/>
            </a:srgbClr>
          </a:solidFill>
          <a:ln w="25400" cap="flat" cmpd="sng">
            <a:noFill/>
            <a:prstDash val="solid"/>
            <a:round/>
          </a:ln>
          <a:effectLst>
            <a:outerShdw blurRad="127000" dist="25400" dir="2700000" algn="tl" rotWithShape="0">
              <a:srgbClr val="000000">
                <a:alpha val="5000"/>
              </a:srgbClr>
            </a:outerShdw>
          </a:effectLst>
        </p:spPr>
        <p:txBody>
          <a:bodyPr vert="horz" wrap="square" lIns="63500" tIns="63500" rIns="63500" bIns="63500" rtlCol="0" anchor="ctr"/>
          <a:lstStyle/>
          <a:p>
            <a:pPr algn="ctr">
              <a:defRPr/>
            </a:pPr>
          </a:p>
        </p:txBody>
      </p:sp>
      <p:pic>
        <p:nvPicPr>
          <p:cNvPr id="25" name="Picture 25"/>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667500" y="3302000"/>
            <a:ext cx="457200" cy="457200"/>
          </a:xfrm>
          <a:prstGeom prst="rect">
            <a:avLst/>
          </a:prstGeom>
        </p:spPr>
      </p:pic>
      <p:sp>
        <p:nvSpPr>
          <p:cNvPr id="26" name="AutoShape 26"/>
          <p:cNvSpPr/>
          <p:nvPr/>
        </p:nvSpPr>
        <p:spPr>
          <a:xfrm>
            <a:off x="7366000" y="3175000"/>
            <a:ext cx="3683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管理帧默认不加密</a:t>
            </a:r>
            <a:endParaRPr lang="en-US" sz="1100"/>
          </a:p>
        </p:txBody>
      </p:sp>
      <p:sp>
        <p:nvSpPr>
          <p:cNvPr id="27" name="AutoShape 27"/>
          <p:cNvSpPr/>
          <p:nvPr/>
        </p:nvSpPr>
        <p:spPr>
          <a:xfrm>
            <a:off x="7366000" y="3556000"/>
            <a:ext cx="3683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616161"/>
                </a:solidFill>
                <a:latin typeface="Noto Sans SC" panose="020B0200000000000000" charset="-122"/>
                <a:ea typeface="Noto Sans SC" panose="020B0200000000000000" charset="-122"/>
                <a:cs typeface="Noto Sans SC" panose="020B0200000000000000" charset="-122"/>
                <a:sym typeface="Noto Sans SC" panose="020B0200000000000000" charset="-122"/>
              </a:rPr>
              <a:t>用于网络发现、连接、认证的关键管理帧（如Beacon、Probe），在802.11协议中默认是明文传输的。</a:t>
            </a:r>
            <a:endParaRPr lang="en-US" sz="1100"/>
          </a:p>
        </p:txBody>
      </p:sp>
      <p:sp>
        <p:nvSpPr>
          <p:cNvPr id="28" name="AutoShape 28"/>
          <p:cNvSpPr/>
          <p:nvPr/>
        </p:nvSpPr>
        <p:spPr>
          <a:xfrm>
            <a:off x="6477000" y="4254500"/>
            <a:ext cx="4699000" cy="1079500"/>
          </a:xfrm>
          <a:prstGeom prst="roundRect">
            <a:avLst>
              <a:gd name="adj" fmla="val 11764"/>
            </a:avLst>
          </a:prstGeom>
          <a:solidFill>
            <a:srgbClr val="FFFFFF">
              <a:alpha val="100000"/>
            </a:srgbClr>
          </a:solidFill>
          <a:ln w="25400" cap="flat" cmpd="sng">
            <a:noFill/>
            <a:prstDash val="solid"/>
            <a:round/>
          </a:ln>
          <a:effectLst>
            <a:outerShdw blurRad="127000" dist="25400" dir="2700000" algn="tl" rotWithShape="0">
              <a:srgbClr val="000000">
                <a:alpha val="5000"/>
              </a:srgbClr>
            </a:outerShdw>
          </a:effectLst>
        </p:spPr>
        <p:txBody>
          <a:bodyPr vert="horz" wrap="square" lIns="63500" tIns="63500" rIns="63500" bIns="63500" rtlCol="0" anchor="ctr"/>
          <a:lstStyle/>
          <a:p>
            <a:pPr algn="ctr">
              <a:defRPr/>
            </a:pPr>
          </a:p>
        </p:txBody>
      </p:sp>
      <p:pic>
        <p:nvPicPr>
          <p:cNvPr id="29" name="Picture 29"/>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667500" y="4508500"/>
            <a:ext cx="457200" cy="457200"/>
          </a:xfrm>
          <a:prstGeom prst="rect">
            <a:avLst/>
          </a:prstGeom>
        </p:spPr>
      </p:pic>
      <p:sp>
        <p:nvSpPr>
          <p:cNvPr id="30" name="AutoShape 30"/>
          <p:cNvSpPr/>
          <p:nvPr/>
        </p:nvSpPr>
        <p:spPr>
          <a:xfrm>
            <a:off x="7366000" y="4381500"/>
            <a:ext cx="3683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信任假设的滥用</a:t>
            </a:r>
            <a:endParaRPr lang="en-US" sz="1100"/>
          </a:p>
        </p:txBody>
      </p:sp>
      <p:sp>
        <p:nvSpPr>
          <p:cNvPr id="31" name="AutoShape 31"/>
          <p:cNvSpPr/>
          <p:nvPr/>
        </p:nvSpPr>
        <p:spPr>
          <a:xfrm>
            <a:off x="7366000" y="4762500"/>
            <a:ext cx="3683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616161"/>
                </a:solidFill>
                <a:latin typeface="Noto Sans SC" panose="020B0200000000000000" charset="-122"/>
                <a:ea typeface="Noto Sans SC" panose="020B0200000000000000" charset="-122"/>
                <a:cs typeface="Noto Sans SC" panose="020B0200000000000000" charset="-122"/>
                <a:sym typeface="Noto Sans SC" panose="020B0200000000000000" charset="-122"/>
              </a:rPr>
              <a:t>客户端逻辑设计上无条件信任接收到的管理帧，缺乏身份验证机制，这为攻击者的欺骗行为打开了大门。</a:t>
            </a:r>
            <a:endParaRPr lang="en-US" sz="1100"/>
          </a:p>
        </p:txBody>
      </p:sp>
      <p:sp>
        <p:nvSpPr>
          <p:cNvPr id="32" name="AutoShape 32"/>
          <p:cNvSpPr/>
          <p:nvPr/>
        </p:nvSpPr>
        <p:spPr>
          <a:xfrm>
            <a:off x="6477000" y="5461000"/>
            <a:ext cx="4699000" cy="825500"/>
          </a:xfrm>
          <a:prstGeom prst="roundRect">
            <a:avLst>
              <a:gd name="adj" fmla="val 15384"/>
            </a:avLst>
          </a:prstGeom>
          <a:solidFill>
            <a:srgbClr val="FFFFFF">
              <a:alpha val="100000"/>
            </a:srgbClr>
          </a:solidFill>
          <a:ln w="25400" cap="flat" cmpd="sng">
            <a:noFill/>
            <a:prstDash val="solid"/>
            <a:round/>
          </a:ln>
          <a:effectLst>
            <a:outerShdw blurRad="127000" dist="25400" dir="2700000" algn="tl" rotWithShape="0">
              <a:srgbClr val="000000">
                <a:alpha val="5000"/>
              </a:srgbClr>
            </a:outerShdw>
          </a:effectLst>
        </p:spPr>
        <p:txBody>
          <a:bodyPr vert="horz" wrap="square" lIns="63500" tIns="63500" rIns="63500" bIns="63500" rtlCol="0" anchor="ctr"/>
          <a:lstStyle/>
          <a:p>
            <a:pPr algn="ctr">
              <a:defRPr/>
            </a:pPr>
          </a:p>
        </p:txBody>
      </p:sp>
      <p:pic>
        <p:nvPicPr>
          <p:cNvPr id="33" name="Picture 33"/>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6667500" y="5651500"/>
            <a:ext cx="457200" cy="457200"/>
          </a:xfrm>
          <a:prstGeom prst="rect">
            <a:avLst/>
          </a:prstGeom>
        </p:spPr>
      </p:pic>
      <p:sp>
        <p:nvSpPr>
          <p:cNvPr id="34" name="AutoShape 34"/>
          <p:cNvSpPr/>
          <p:nvPr/>
        </p:nvSpPr>
        <p:spPr>
          <a:xfrm>
            <a:off x="7366000" y="5588000"/>
            <a:ext cx="3683000" cy="571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1" i="0" u="none" strike="noStrike">
                <a:solidFill>
                  <a:srgbClr val="616161"/>
                </a:solidFill>
                <a:latin typeface="Noto Sans SC" panose="020B0200000000000000" charset="-122"/>
                <a:ea typeface="Noto Sans SC" panose="020B0200000000000000" charset="-122"/>
                <a:cs typeface="Noto Sans SC" panose="020B0200000000000000" charset="-122"/>
                <a:sym typeface="Noto Sans SC" panose="020B0200000000000000" charset="-122"/>
              </a:rPr>
              <a:t>具体风险：</a:t>
            </a:r>
            <a:r>
              <a:rPr lang="en-US" sz="1200" b="0" i="0" u="none" strike="noStrike">
                <a:solidFill>
                  <a:srgbClr val="616161"/>
                </a:solidFill>
                <a:latin typeface="Noto Sans SC" panose="020B0200000000000000" charset="-122"/>
                <a:ea typeface="Noto Sans SC" panose="020B0200000000000000" charset="-122"/>
                <a:cs typeface="Noto Sans SC" panose="020B0200000000000000" charset="-122"/>
                <a:sym typeface="Noto Sans SC" panose="020B0200000000000000" charset="-122"/>
              </a:rPr>
              <a:t>攻击者可发起信标帧伪造、解认证攻击等，导致网络拒绝服务（DoS）或用户频繁掉线。</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无形的冲击：恶意流量带来的三重威胁</a:t>
            </a:r>
            <a:endParaRPr lang="en-US" sz="1100"/>
          </a:p>
        </p:txBody>
      </p:sp>
      <p:sp>
        <p:nvSpPr>
          <p:cNvPr id="3" name="AutoShape 3"/>
          <p:cNvSpPr/>
          <p:nvPr/>
        </p:nvSpPr>
        <p:spPr>
          <a:xfrm>
            <a:off x="762000" y="1651000"/>
            <a:ext cx="3302000" cy="4572000"/>
          </a:xfrm>
          <a:prstGeom prst="roundRect">
            <a:avLst>
              <a:gd name="adj" fmla="val 4615"/>
            </a:avLst>
          </a:prstGeom>
          <a:solidFill>
            <a:srgbClr val="FFFFFF">
              <a:alpha val="100000"/>
            </a:srgbClr>
          </a:solidFill>
          <a:ln w="25400" cap="flat" cmpd="sng">
            <a:noFill/>
            <a:prstDash val="solid"/>
            <a:round/>
          </a:ln>
          <a:effectLst>
            <a:outerShdw blurRad="203200" dist="50800" dir="5400000" algn="tl" rotWithShape="0">
              <a:srgbClr val="000000">
                <a:alpha val="6000"/>
              </a:srgbClr>
            </a:outerShdw>
          </a:effectLst>
        </p:spPr>
        <p:txBody>
          <a:bodyPr vert="horz" wrap="square" lIns="63500" tIns="63500" rIns="63500" bIns="63500" rtlCol="0" anchor="ctr"/>
          <a:lstStyle/>
          <a:p>
            <a:pPr algn="ctr">
              <a:defRPr/>
            </a:pPr>
          </a:p>
        </p:txBody>
      </p:sp>
      <p:sp>
        <p:nvSpPr>
          <p:cNvPr id="4" name="AutoShape 4"/>
          <p:cNvSpPr/>
          <p:nvPr/>
        </p:nvSpPr>
        <p:spPr>
          <a:xfrm>
            <a:off x="1016000" y="1905000"/>
            <a:ext cx="609600" cy="609600"/>
          </a:xfrm>
          <a:prstGeom prst="ellipse">
            <a:avLst/>
          </a:prstGeom>
          <a:solidFill>
            <a:srgbClr val="0052CC">
              <a:alpha val="1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17600" y="2006600"/>
            <a:ext cx="406400" cy="406400"/>
          </a:xfrm>
          <a:prstGeom prst="rect">
            <a:avLst/>
          </a:prstGeom>
        </p:spPr>
      </p:pic>
      <p:sp>
        <p:nvSpPr>
          <p:cNvPr id="6" name="AutoShape 6"/>
          <p:cNvSpPr/>
          <p:nvPr/>
        </p:nvSpPr>
        <p:spPr>
          <a:xfrm>
            <a:off x="1778000" y="1968500"/>
            <a:ext cx="203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数据泄露</a:t>
            </a:r>
            <a:br>
              <a:rPr lang="en-US" sz="1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Data Exfiltration</a:t>
            </a:r>
            <a:endParaRPr lang="en-US" sz="1100"/>
          </a:p>
        </p:txBody>
      </p:sp>
      <p:sp>
        <p:nvSpPr>
          <p:cNvPr id="7" name="AutoShape 7"/>
          <p:cNvSpPr/>
          <p:nvPr/>
        </p:nvSpPr>
        <p:spPr>
          <a:xfrm>
            <a:off x="1016000" y="2794000"/>
            <a:ext cx="2794000" cy="1270000"/>
          </a:xfrm>
          <a:prstGeom prst="roundRect">
            <a:avLst>
              <a:gd name="adj" fmla="val 8000"/>
            </a:avLst>
          </a:prstGeom>
          <a:solidFill>
            <a:srgbClr val="E5F0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206500" y="2921000"/>
            <a:ext cx="2413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 攻击场景 SCENARIO</a:t>
            </a:r>
            <a:endParaRPr lang="en-US" sz="1100"/>
          </a:p>
        </p:txBody>
      </p:sp>
      <p:sp>
        <p:nvSpPr>
          <p:cNvPr id="9" name="AutoShape 9"/>
          <p:cNvSpPr/>
          <p:nvPr/>
        </p:nvSpPr>
        <p:spPr>
          <a:xfrm>
            <a:off x="1206500" y="3238500"/>
            <a:ext cx="2413000" cy="6985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100" b="0" i="0" u="none" strike="noStrike">
                <a:solidFill>
                  <a:srgbClr val="5F6369"/>
                </a:solidFill>
                <a:latin typeface="Noto Sans SC" panose="020B0200000000000000" charset="-122"/>
                <a:ea typeface="Noto Sans SC" panose="020B0200000000000000" charset="-122"/>
                <a:cs typeface="Noto Sans SC" panose="020B0200000000000000" charset="-122"/>
                <a:sym typeface="Noto Sans SC" panose="020B0200000000000000" charset="-122"/>
              </a:rPr>
              <a:t>攻击者利用 Evil Twin 或中间人攻击手段，在用户无感知下窃取登录凭证、财务报表等核心敏感数据。</a:t>
            </a:r>
            <a:endParaRPr lang="en-US" sz="1100"/>
          </a:p>
        </p:txBody>
      </p:sp>
      <p:sp>
        <p:nvSpPr>
          <p:cNvPr id="10" name="AutoShape 10"/>
          <p:cNvSpPr/>
          <p:nvPr/>
        </p:nvSpPr>
        <p:spPr>
          <a:xfrm>
            <a:off x="1016000" y="4254500"/>
            <a:ext cx="2794000" cy="1397000"/>
          </a:xfrm>
          <a:prstGeom prst="roundRect">
            <a:avLst>
              <a:gd name="adj" fmla="val 7272"/>
            </a:avLst>
          </a:prstGeom>
          <a:solidFill>
            <a:srgbClr val="FFEE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206500" y="4381500"/>
            <a:ext cx="2413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FF5733"/>
                </a:solidFill>
                <a:latin typeface="Noto Sans SC" panose="020B0200000000000000" charset="-122"/>
                <a:ea typeface="Noto Sans SC" panose="020B0200000000000000" charset="-122"/>
                <a:cs typeface="Noto Sans SC" panose="020B0200000000000000" charset="-122"/>
                <a:sym typeface="Noto Sans SC" panose="020B0200000000000000" charset="-122"/>
              </a:rPr>
              <a:t>💥 严重影响 IMPACT</a:t>
            </a:r>
            <a:endParaRPr lang="en-US" sz="1100"/>
          </a:p>
        </p:txBody>
      </p:sp>
      <p:sp>
        <p:nvSpPr>
          <p:cNvPr id="12" name="AutoShape 12"/>
          <p:cNvSpPr/>
          <p:nvPr/>
        </p:nvSpPr>
        <p:spPr>
          <a:xfrm>
            <a:off x="1206500" y="4699000"/>
            <a:ext cx="2413000" cy="762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100" b="0" i="0" u="none" strike="noStrike">
                <a:solidFill>
                  <a:srgbClr val="5F6369"/>
                </a:solidFill>
                <a:latin typeface="Noto Sans SC" panose="020B0200000000000000" charset="-122"/>
                <a:ea typeface="Noto Sans SC" panose="020B0200000000000000" charset="-122"/>
                <a:cs typeface="Noto Sans SC" panose="020B0200000000000000" charset="-122"/>
                <a:sym typeface="Noto Sans SC" panose="020B0200000000000000" charset="-122"/>
              </a:rPr>
              <a:t>导致企业品牌声誉遭受不可逆的损害，客户信任度大幅下降，并伴随巨额的经济赔偿损失。</a:t>
            </a:r>
            <a:endParaRPr lang="en-US" sz="1100"/>
          </a:p>
        </p:txBody>
      </p:sp>
      <p:sp>
        <p:nvSpPr>
          <p:cNvPr id="13" name="AutoShape 13"/>
          <p:cNvSpPr/>
          <p:nvPr/>
        </p:nvSpPr>
        <p:spPr>
          <a:xfrm>
            <a:off x="4445000" y="1651000"/>
            <a:ext cx="3302000" cy="4572000"/>
          </a:xfrm>
          <a:prstGeom prst="roundRect">
            <a:avLst>
              <a:gd name="adj" fmla="val 4615"/>
            </a:avLst>
          </a:prstGeom>
          <a:solidFill>
            <a:srgbClr val="FFFFFF">
              <a:alpha val="100000"/>
            </a:srgbClr>
          </a:solidFill>
          <a:ln w="25400" cap="flat" cmpd="sng">
            <a:noFill/>
            <a:prstDash val="solid"/>
            <a:round/>
          </a:ln>
          <a:effectLst>
            <a:outerShdw blurRad="203200" dist="50800" dir="5400000" algn="tl" rotWithShape="0">
              <a:srgbClr val="000000">
                <a:alpha val="6000"/>
              </a:srgbClr>
            </a:outerShdw>
          </a:effectLst>
        </p:spPr>
        <p:txBody>
          <a:bodyPr vert="horz" wrap="square" lIns="63500" tIns="63500" rIns="63500" bIns="63500" rtlCol="0" anchor="ctr"/>
          <a:lstStyle/>
          <a:p>
            <a:pPr algn="ctr">
              <a:defRPr/>
            </a:pPr>
          </a:p>
        </p:txBody>
      </p:sp>
      <p:sp>
        <p:nvSpPr>
          <p:cNvPr id="14" name="AutoShape 14"/>
          <p:cNvSpPr/>
          <p:nvPr/>
        </p:nvSpPr>
        <p:spPr>
          <a:xfrm>
            <a:off x="4699000" y="1905000"/>
            <a:ext cx="609600" cy="609600"/>
          </a:xfrm>
          <a:prstGeom prst="ellipse">
            <a:avLst/>
          </a:prstGeom>
          <a:solidFill>
            <a:srgbClr val="0052CC">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800600" y="2006600"/>
            <a:ext cx="406400" cy="406400"/>
          </a:xfrm>
          <a:prstGeom prst="rect">
            <a:avLst/>
          </a:prstGeom>
        </p:spPr>
      </p:pic>
      <p:sp>
        <p:nvSpPr>
          <p:cNvPr id="16" name="AutoShape 16"/>
          <p:cNvSpPr/>
          <p:nvPr/>
        </p:nvSpPr>
        <p:spPr>
          <a:xfrm>
            <a:off x="5461000" y="1968500"/>
            <a:ext cx="203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业务中断</a:t>
            </a:r>
            <a:br>
              <a:rPr lang="en-US" sz="1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Business Disruption</a:t>
            </a:r>
            <a:endParaRPr lang="en-US" sz="1100"/>
          </a:p>
        </p:txBody>
      </p:sp>
      <p:sp>
        <p:nvSpPr>
          <p:cNvPr id="17" name="AutoShape 17"/>
          <p:cNvSpPr/>
          <p:nvPr/>
        </p:nvSpPr>
        <p:spPr>
          <a:xfrm>
            <a:off x="4699000" y="2794000"/>
            <a:ext cx="2794000" cy="1270000"/>
          </a:xfrm>
          <a:prstGeom prst="roundRect">
            <a:avLst>
              <a:gd name="adj" fmla="val 8000"/>
            </a:avLst>
          </a:prstGeom>
          <a:solidFill>
            <a:srgbClr val="E5F0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4889500" y="2921000"/>
            <a:ext cx="2413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 攻击场景 SCENARIO</a:t>
            </a:r>
            <a:endParaRPr lang="en-US" sz="1100"/>
          </a:p>
        </p:txBody>
      </p:sp>
      <p:sp>
        <p:nvSpPr>
          <p:cNvPr id="19" name="AutoShape 19"/>
          <p:cNvSpPr/>
          <p:nvPr/>
        </p:nvSpPr>
        <p:spPr>
          <a:xfrm>
            <a:off x="4889500" y="3238500"/>
            <a:ext cx="2413000" cy="6985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100" b="0" i="0" u="none" strike="noStrike">
                <a:solidFill>
                  <a:srgbClr val="5F6369"/>
                </a:solidFill>
                <a:latin typeface="Noto Sans SC" panose="020B0200000000000000" charset="-122"/>
                <a:ea typeface="Noto Sans SC" panose="020B0200000000000000" charset="-122"/>
                <a:cs typeface="Noto Sans SC" panose="020B0200000000000000" charset="-122"/>
                <a:sym typeface="Noto Sans SC" panose="020B0200000000000000" charset="-122"/>
              </a:rPr>
              <a:t>发起大规模 Deauthentication 洪水攻击，强制断开所有用户连接，使企业 Wi-Fi 网络完全瘫痪。</a:t>
            </a:r>
            <a:endParaRPr lang="en-US" sz="1100"/>
          </a:p>
        </p:txBody>
      </p:sp>
      <p:sp>
        <p:nvSpPr>
          <p:cNvPr id="20" name="AutoShape 20"/>
          <p:cNvSpPr/>
          <p:nvPr/>
        </p:nvSpPr>
        <p:spPr>
          <a:xfrm>
            <a:off x="4699000" y="4254500"/>
            <a:ext cx="2794000" cy="1397000"/>
          </a:xfrm>
          <a:prstGeom prst="roundRect">
            <a:avLst>
              <a:gd name="adj" fmla="val 7272"/>
            </a:avLst>
          </a:prstGeom>
          <a:solidFill>
            <a:srgbClr val="FFEE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4889500" y="4381500"/>
            <a:ext cx="2413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FF5733"/>
                </a:solidFill>
                <a:latin typeface="Noto Sans SC" panose="020B0200000000000000" charset="-122"/>
                <a:ea typeface="Noto Sans SC" panose="020B0200000000000000" charset="-122"/>
                <a:cs typeface="Noto Sans SC" panose="020B0200000000000000" charset="-122"/>
                <a:sym typeface="Noto Sans SC" panose="020B0200000000000000" charset="-122"/>
              </a:rPr>
              <a:t>💥 严重影响 IMPACT</a:t>
            </a:r>
            <a:endParaRPr lang="en-US" sz="1100"/>
          </a:p>
        </p:txBody>
      </p:sp>
      <p:sp>
        <p:nvSpPr>
          <p:cNvPr id="22" name="AutoShape 22"/>
          <p:cNvSpPr/>
          <p:nvPr/>
        </p:nvSpPr>
        <p:spPr>
          <a:xfrm>
            <a:off x="4889500" y="4699000"/>
            <a:ext cx="2413000" cy="762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100" b="0" i="0" u="none" strike="noStrike">
                <a:solidFill>
                  <a:srgbClr val="5F6369"/>
                </a:solidFill>
                <a:latin typeface="Noto Sans SC" panose="020B0200000000000000" charset="-122"/>
                <a:ea typeface="Noto Sans SC" panose="020B0200000000000000" charset="-122"/>
                <a:cs typeface="Noto Sans SC" panose="020B0200000000000000" charset="-122"/>
                <a:sym typeface="Noto Sans SC" panose="020B0200000000000000" charset="-122"/>
              </a:rPr>
              <a:t>导致员工无法正常办公、重要会议被迫中断、产线系统停止运行，造成直接且巨大的生产力与业务损失。</a:t>
            </a:r>
            <a:endParaRPr lang="en-US" sz="1100"/>
          </a:p>
        </p:txBody>
      </p:sp>
      <p:sp>
        <p:nvSpPr>
          <p:cNvPr id="23" name="AutoShape 23"/>
          <p:cNvSpPr/>
          <p:nvPr/>
        </p:nvSpPr>
        <p:spPr>
          <a:xfrm>
            <a:off x="8128000" y="1651000"/>
            <a:ext cx="3302000" cy="4572000"/>
          </a:xfrm>
          <a:prstGeom prst="roundRect">
            <a:avLst>
              <a:gd name="adj" fmla="val 4615"/>
            </a:avLst>
          </a:prstGeom>
          <a:solidFill>
            <a:srgbClr val="FFFFFF">
              <a:alpha val="100000"/>
            </a:srgbClr>
          </a:solidFill>
          <a:ln w="25400" cap="flat" cmpd="sng">
            <a:noFill/>
            <a:prstDash val="solid"/>
            <a:round/>
          </a:ln>
          <a:effectLst>
            <a:outerShdw blurRad="203200" dist="50800" dir="5400000" algn="tl" rotWithShape="0">
              <a:srgbClr val="000000">
                <a:alpha val="6000"/>
              </a:srgbClr>
            </a:outerShdw>
          </a:effectLst>
        </p:spPr>
        <p:txBody>
          <a:bodyPr vert="horz" wrap="square" lIns="63500" tIns="63500" rIns="63500" bIns="63500" rtlCol="0" anchor="ctr"/>
          <a:lstStyle/>
          <a:p>
            <a:pPr algn="ctr">
              <a:defRPr/>
            </a:pPr>
          </a:p>
        </p:txBody>
      </p:sp>
      <p:sp>
        <p:nvSpPr>
          <p:cNvPr id="24" name="AutoShape 24"/>
          <p:cNvSpPr/>
          <p:nvPr/>
        </p:nvSpPr>
        <p:spPr>
          <a:xfrm>
            <a:off x="8382000" y="1905000"/>
            <a:ext cx="609600" cy="609600"/>
          </a:xfrm>
          <a:prstGeom prst="ellipse">
            <a:avLst/>
          </a:prstGeom>
          <a:solidFill>
            <a:srgbClr val="0052CC">
              <a:alpha val="10000"/>
            </a:srgbClr>
          </a:solidFill>
          <a:ln w="25400" cap="flat" cmpd="sng">
            <a:noFill/>
            <a:prstDash val="solid"/>
            <a:round/>
          </a:ln>
        </p:spPr>
        <p:txBody>
          <a:bodyPr vert="horz" wrap="square" lIns="63500" tIns="63500" rIns="63500" bIns="63500" rtlCol="0" anchor="ctr"/>
          <a:lstStyle/>
          <a:p>
            <a:pPr algn="ctr">
              <a:defRPr/>
            </a:pPr>
          </a:p>
        </p:txBody>
      </p:sp>
      <p:pic>
        <p:nvPicPr>
          <p:cNvPr id="25" name="Picture 2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483600" y="2006600"/>
            <a:ext cx="406400" cy="406400"/>
          </a:xfrm>
          <a:prstGeom prst="rect">
            <a:avLst/>
          </a:prstGeom>
        </p:spPr>
      </p:pic>
      <p:sp>
        <p:nvSpPr>
          <p:cNvPr id="26" name="AutoShape 26"/>
          <p:cNvSpPr/>
          <p:nvPr/>
        </p:nvSpPr>
        <p:spPr>
          <a:xfrm>
            <a:off x="9144000" y="1968500"/>
            <a:ext cx="203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合规性风险</a:t>
            </a:r>
            <a:br>
              <a:rPr lang="en-US" sz="1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Compliance Risks</a:t>
            </a:r>
            <a:endParaRPr lang="en-US" sz="1100"/>
          </a:p>
        </p:txBody>
      </p:sp>
      <p:sp>
        <p:nvSpPr>
          <p:cNvPr id="27" name="AutoShape 27"/>
          <p:cNvSpPr/>
          <p:nvPr/>
        </p:nvSpPr>
        <p:spPr>
          <a:xfrm>
            <a:off x="8382000" y="2794000"/>
            <a:ext cx="2794000" cy="1270000"/>
          </a:xfrm>
          <a:prstGeom prst="roundRect">
            <a:avLst>
              <a:gd name="adj" fmla="val 8000"/>
            </a:avLst>
          </a:prstGeom>
          <a:solidFill>
            <a:srgbClr val="E5F0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28" name="AutoShape 28"/>
          <p:cNvSpPr/>
          <p:nvPr/>
        </p:nvSpPr>
        <p:spPr>
          <a:xfrm>
            <a:off x="8572500" y="2921000"/>
            <a:ext cx="2413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 风险场景 SCENARIO</a:t>
            </a:r>
            <a:endParaRPr lang="en-US" sz="1100"/>
          </a:p>
        </p:txBody>
      </p:sp>
      <p:sp>
        <p:nvSpPr>
          <p:cNvPr id="29" name="AutoShape 29"/>
          <p:cNvSpPr/>
          <p:nvPr/>
        </p:nvSpPr>
        <p:spPr>
          <a:xfrm>
            <a:off x="8572500" y="3238500"/>
            <a:ext cx="2413000" cy="6985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100" b="0" i="0" u="none" strike="noStrike">
                <a:solidFill>
                  <a:srgbClr val="5F6369"/>
                </a:solidFill>
                <a:latin typeface="Noto Sans SC" panose="020B0200000000000000" charset="-122"/>
                <a:ea typeface="Noto Sans SC" panose="020B0200000000000000" charset="-122"/>
                <a:cs typeface="Noto Sans SC" panose="020B0200000000000000" charset="-122"/>
                <a:sym typeface="Noto Sans SC" panose="020B0200000000000000" charset="-122"/>
              </a:rPr>
              <a:t>未能对无线网络进行有效加密与访问控制，导致违反等保 2.0、GDPR 等行业与国家信息安全法规要求。</a:t>
            </a:r>
            <a:endParaRPr lang="en-US" sz="1100"/>
          </a:p>
        </p:txBody>
      </p:sp>
      <p:sp>
        <p:nvSpPr>
          <p:cNvPr id="30" name="AutoShape 30"/>
          <p:cNvSpPr/>
          <p:nvPr/>
        </p:nvSpPr>
        <p:spPr>
          <a:xfrm>
            <a:off x="8382000" y="4254500"/>
            <a:ext cx="2794000" cy="1397000"/>
          </a:xfrm>
          <a:prstGeom prst="roundRect">
            <a:avLst>
              <a:gd name="adj" fmla="val 7272"/>
            </a:avLst>
          </a:prstGeom>
          <a:solidFill>
            <a:srgbClr val="FFEE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31" name="AutoShape 31"/>
          <p:cNvSpPr/>
          <p:nvPr/>
        </p:nvSpPr>
        <p:spPr>
          <a:xfrm>
            <a:off x="8572500" y="4381500"/>
            <a:ext cx="2413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FF5733"/>
                </a:solidFill>
                <a:latin typeface="Noto Sans SC" panose="020B0200000000000000" charset="-122"/>
                <a:ea typeface="Noto Sans SC" panose="020B0200000000000000" charset="-122"/>
                <a:cs typeface="Noto Sans SC" panose="020B0200000000000000" charset="-122"/>
                <a:sym typeface="Noto Sans SC" panose="020B0200000000000000" charset="-122"/>
              </a:rPr>
              <a:t>💥 严重影响 IMPACT</a:t>
            </a:r>
            <a:endParaRPr lang="en-US" sz="1100"/>
          </a:p>
        </p:txBody>
      </p:sp>
      <p:sp>
        <p:nvSpPr>
          <p:cNvPr id="32" name="AutoShape 32"/>
          <p:cNvSpPr/>
          <p:nvPr/>
        </p:nvSpPr>
        <p:spPr>
          <a:xfrm>
            <a:off x="8572500" y="4699000"/>
            <a:ext cx="2413000" cy="762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100" b="0" i="0" u="none" strike="noStrike">
                <a:solidFill>
                  <a:srgbClr val="5F6369"/>
                </a:solidFill>
                <a:latin typeface="Noto Sans SC" panose="020B0200000000000000" charset="-122"/>
                <a:ea typeface="Noto Sans SC" panose="020B0200000000000000" charset="-122"/>
                <a:cs typeface="Noto Sans SC" panose="020B0200000000000000" charset="-122"/>
                <a:sym typeface="Noto Sans SC" panose="020B0200000000000000" charset="-122"/>
              </a:rPr>
              <a:t>企业将面临监管机构的高额行政处罚，业务运营范围受限，情节严重者甚至可能面临吊销经营资质的危机。</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道高一尺魔高一丈：传统防御的瓶颈</a:t>
            </a:r>
            <a:endParaRPr lang="en-US" sz="1100"/>
          </a:p>
        </p:txBody>
      </p:sp>
      <p:sp>
        <p:nvSpPr>
          <p:cNvPr id="3" name="AutoShape 3"/>
          <p:cNvSpPr/>
          <p:nvPr/>
        </p:nvSpPr>
        <p:spPr>
          <a:xfrm>
            <a:off x="762000" y="1524000"/>
            <a:ext cx="5207000" cy="4826000"/>
          </a:xfrm>
          <a:prstGeom prst="roundRect">
            <a:avLst>
              <a:gd name="adj" fmla="val 4210"/>
            </a:avLst>
          </a:prstGeom>
          <a:solidFill>
            <a:srgbClr val="F0F7FF">
              <a:alpha val="100000"/>
            </a:srgbClr>
          </a:solidFill>
          <a:ln w="25400" cap="flat" cmpd="sng">
            <a:noFill/>
            <a:prstDash val="solid"/>
            <a:round/>
          </a:ln>
          <a:effectLst>
            <a:outerShdw blurRad="190500" dist="50800" dir="2700000" algn="tl" rotWithShape="0">
              <a:srgbClr val="0052CC">
                <a:alpha val="10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778000"/>
            <a:ext cx="508000" cy="508000"/>
          </a:xfrm>
          <a:prstGeom prst="rect">
            <a:avLst/>
          </a:prstGeom>
        </p:spPr>
      </p:pic>
      <p:sp>
        <p:nvSpPr>
          <p:cNvPr id="5" name="AutoShape 5"/>
          <p:cNvSpPr/>
          <p:nvPr/>
        </p:nvSpPr>
        <p:spPr>
          <a:xfrm>
            <a:off x="1714500" y="1803400"/>
            <a:ext cx="3937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WPA2/WPA3：仅是“第一道门”</a:t>
            </a:r>
            <a:endParaRPr lang="en-US" sz="1100"/>
          </a:p>
        </p:txBody>
      </p:sp>
      <p:sp>
        <p:nvSpPr>
          <p:cNvPr id="6" name="AutoShape 6"/>
          <p:cNvSpPr/>
          <p:nvPr/>
        </p:nvSpPr>
        <p:spPr>
          <a:xfrm>
            <a:off x="1016000" y="2540000"/>
            <a:ext cx="4699000" cy="952500"/>
          </a:xfrm>
          <a:prstGeom prst="roundRect">
            <a:avLst>
              <a:gd name="adj" fmla="val 16000"/>
            </a:avLst>
          </a:prstGeom>
          <a:solidFill>
            <a:srgbClr val="E6F1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206500" y="2667000"/>
            <a:ext cx="4318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 核心安全作用</a:t>
            </a:r>
            <a:endParaRPr lang="en-US" sz="1100"/>
          </a:p>
        </p:txBody>
      </p:sp>
      <p:sp>
        <p:nvSpPr>
          <p:cNvPr id="8" name="AutoShape 8"/>
          <p:cNvSpPr/>
          <p:nvPr/>
        </p:nvSpPr>
        <p:spPr>
          <a:xfrm>
            <a:off x="1206500" y="30480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提供基于身份的高强度认证与链路层数据加密，构建网络接入的基础信任。</a:t>
            </a:r>
            <a:endParaRPr lang="en-US" sz="1100"/>
          </a:p>
        </p:txBody>
      </p:sp>
      <p:sp>
        <p:nvSpPr>
          <p:cNvPr id="9" name="AutoShape 9"/>
          <p:cNvSpPr/>
          <p:nvPr/>
        </p:nvSpPr>
        <p:spPr>
          <a:xfrm>
            <a:off x="1016000" y="3683000"/>
            <a:ext cx="469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FF5733"/>
                </a:solidFill>
                <a:latin typeface="Noto Sans SC" panose="020B0200000000000000" charset="-122"/>
                <a:ea typeface="Noto Sans SC" panose="020B0200000000000000" charset="-122"/>
                <a:cs typeface="Noto Sans SC" panose="020B0200000000000000" charset="-122"/>
                <a:sym typeface="Noto Sans SC" panose="020B0200000000000000" charset="-122"/>
              </a:rPr>
              <a:t>⚠️ 无法突破的防御瓶颈</a:t>
            </a:r>
            <a:endParaRPr lang="en-US" sz="1100"/>
          </a:p>
        </p:txBody>
      </p:sp>
      <p:sp>
        <p:nvSpPr>
          <p:cNvPr id="10" name="AutoShape 10"/>
          <p:cNvSpPr/>
          <p:nvPr/>
        </p:nvSpPr>
        <p:spPr>
          <a:xfrm>
            <a:off x="1016000" y="4191000"/>
            <a:ext cx="4699000" cy="889000"/>
          </a:xfrm>
          <a:prstGeom prst="roundRect">
            <a:avLst>
              <a:gd name="adj" fmla="val 14285"/>
            </a:avLst>
          </a:prstGeom>
          <a:solidFill>
            <a:srgbClr val="FFFFFF">
              <a:alpha val="100000"/>
            </a:srgbClr>
          </a:solidFill>
          <a:ln w="25400" cap="flat" cmpd="sng">
            <a:noFill/>
            <a:prstDash val="solid"/>
            <a:round/>
          </a:ln>
          <a:effectLst>
            <a:outerShdw blurRad="101600" dist="25400" dir="2700000" algn="tl" rotWithShape="0">
              <a:srgbClr val="000000">
                <a:alpha val="6000"/>
              </a:srgbClr>
            </a:outerShdw>
          </a:effectLst>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06500" y="4381500"/>
            <a:ext cx="406400" cy="406400"/>
          </a:xfrm>
          <a:prstGeom prst="rect">
            <a:avLst/>
          </a:prstGeom>
        </p:spPr>
      </p:pic>
      <p:sp>
        <p:nvSpPr>
          <p:cNvPr id="12" name="AutoShape 12"/>
          <p:cNvSpPr/>
          <p:nvPr/>
        </p:nvSpPr>
        <p:spPr>
          <a:xfrm>
            <a:off x="1778000" y="4318000"/>
            <a:ext cx="3810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无法防止内网横向渗透</a:t>
            </a:r>
            <a:endParaRPr lang="en-US" sz="1100"/>
          </a:p>
        </p:txBody>
      </p:sp>
      <p:sp>
        <p:nvSpPr>
          <p:cNvPr id="13" name="AutoShape 13"/>
          <p:cNvSpPr/>
          <p:nvPr/>
        </p:nvSpPr>
        <p:spPr>
          <a:xfrm>
            <a:off x="1778000" y="46355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一旦终端接入网络，WPA3 无法限制其在内网中的非法移动与攻击。</a:t>
            </a:r>
            <a:endParaRPr lang="en-US" sz="1100"/>
          </a:p>
        </p:txBody>
      </p:sp>
      <p:sp>
        <p:nvSpPr>
          <p:cNvPr id="14" name="AutoShape 14"/>
          <p:cNvSpPr/>
          <p:nvPr/>
        </p:nvSpPr>
        <p:spPr>
          <a:xfrm>
            <a:off x="1016000" y="5270500"/>
            <a:ext cx="4699000" cy="889000"/>
          </a:xfrm>
          <a:prstGeom prst="roundRect">
            <a:avLst>
              <a:gd name="adj" fmla="val 14285"/>
            </a:avLst>
          </a:prstGeom>
          <a:solidFill>
            <a:srgbClr val="FFFFFF">
              <a:alpha val="100000"/>
            </a:srgbClr>
          </a:solidFill>
          <a:ln w="25400" cap="flat" cmpd="sng">
            <a:noFill/>
            <a:prstDash val="solid"/>
            <a:round/>
          </a:ln>
          <a:effectLst>
            <a:outerShdw blurRad="101600" dist="25400" dir="2700000" algn="tl" rotWithShape="0">
              <a:srgbClr val="000000">
                <a:alpha val="6000"/>
              </a:srgbClr>
            </a:outerShdw>
          </a:effectLst>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206500" y="5461000"/>
            <a:ext cx="406400" cy="406400"/>
          </a:xfrm>
          <a:prstGeom prst="rect">
            <a:avLst/>
          </a:prstGeom>
        </p:spPr>
      </p:pic>
      <p:sp>
        <p:nvSpPr>
          <p:cNvPr id="16" name="AutoShape 16"/>
          <p:cNvSpPr/>
          <p:nvPr/>
        </p:nvSpPr>
        <p:spPr>
          <a:xfrm>
            <a:off x="1778000" y="5397500"/>
            <a:ext cx="3810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对管理帧攻击束手无策</a:t>
            </a:r>
            <a:endParaRPr lang="en-US" sz="1100"/>
          </a:p>
        </p:txBody>
      </p:sp>
      <p:sp>
        <p:nvSpPr>
          <p:cNvPr id="17" name="AutoShape 17"/>
          <p:cNvSpPr/>
          <p:nvPr/>
        </p:nvSpPr>
        <p:spPr>
          <a:xfrm>
            <a:off x="1778000" y="57150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网络中的 Beacon/Probe 等管理帧未加密，攻击者可借此发起泛洪或欺骗攻击。</a:t>
            </a:r>
            <a:endParaRPr lang="en-US" sz="1100"/>
          </a:p>
        </p:txBody>
      </p:sp>
      <p:sp>
        <p:nvSpPr>
          <p:cNvPr id="18" name="AutoShape 18"/>
          <p:cNvSpPr/>
          <p:nvPr/>
        </p:nvSpPr>
        <p:spPr>
          <a:xfrm>
            <a:off x="6223000" y="1524000"/>
            <a:ext cx="5207000" cy="4826000"/>
          </a:xfrm>
          <a:prstGeom prst="roundRect">
            <a:avLst>
              <a:gd name="adj" fmla="val 4210"/>
            </a:avLst>
          </a:prstGeom>
          <a:solidFill>
            <a:srgbClr val="FFF5F3">
              <a:alpha val="100000"/>
            </a:srgbClr>
          </a:solidFill>
          <a:ln w="25400" cap="flat" cmpd="sng">
            <a:noFill/>
            <a:prstDash val="solid"/>
            <a:round/>
          </a:ln>
          <a:effectLst>
            <a:outerShdw blurRad="190500" dist="50800" dir="2700000" algn="tl" rotWithShape="0">
              <a:srgbClr val="FF5733">
                <a:alpha val="10000"/>
              </a:srgbClr>
            </a:outerShdw>
          </a:effectLst>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77000" y="1778000"/>
            <a:ext cx="508000" cy="508000"/>
          </a:xfrm>
          <a:prstGeom prst="rect">
            <a:avLst/>
          </a:prstGeom>
        </p:spPr>
      </p:pic>
      <p:sp>
        <p:nvSpPr>
          <p:cNvPr id="20" name="AutoShape 20"/>
          <p:cNvSpPr/>
          <p:nvPr/>
        </p:nvSpPr>
        <p:spPr>
          <a:xfrm>
            <a:off x="7175500" y="1803400"/>
            <a:ext cx="3937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5733"/>
                </a:solidFill>
                <a:latin typeface="Noto Sans SC" panose="020B0200000000000000" charset="-122"/>
                <a:ea typeface="Noto Sans SC" panose="020B0200000000000000" charset="-122"/>
                <a:cs typeface="Noto Sans SC" panose="020B0200000000000000" charset="-122"/>
                <a:sym typeface="Noto Sans SC" panose="020B0200000000000000" charset="-122"/>
              </a:rPr>
              <a:t>静态规则库：难防“新花样”</a:t>
            </a:r>
            <a:endParaRPr lang="en-US" sz="1100"/>
          </a:p>
        </p:txBody>
      </p:sp>
      <p:sp>
        <p:nvSpPr>
          <p:cNvPr id="21" name="AutoShape 21"/>
          <p:cNvSpPr/>
          <p:nvPr/>
        </p:nvSpPr>
        <p:spPr>
          <a:xfrm>
            <a:off x="6477000" y="2540000"/>
            <a:ext cx="4699000" cy="952500"/>
          </a:xfrm>
          <a:prstGeom prst="roundRect">
            <a:avLst>
              <a:gd name="adj" fmla="val 16000"/>
            </a:avLst>
          </a:prstGeom>
          <a:solidFill>
            <a:srgbClr val="FFEBE6">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6667500" y="2667000"/>
            <a:ext cx="4318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E6461E"/>
                </a:solidFill>
                <a:latin typeface="Noto Sans SC" panose="020B0200000000000000" charset="-122"/>
                <a:ea typeface="Noto Sans SC" panose="020B0200000000000000" charset="-122"/>
                <a:cs typeface="Noto Sans SC" panose="020B0200000000000000" charset="-122"/>
                <a:sym typeface="Noto Sans SC" panose="020B0200000000000000" charset="-122"/>
              </a:rPr>
              <a:t>🔍 传统检测原理</a:t>
            </a:r>
            <a:endParaRPr lang="en-US" sz="1100"/>
          </a:p>
        </p:txBody>
      </p:sp>
      <p:sp>
        <p:nvSpPr>
          <p:cNvPr id="23" name="AutoShape 23"/>
          <p:cNvSpPr/>
          <p:nvPr/>
        </p:nvSpPr>
        <p:spPr>
          <a:xfrm>
            <a:off x="6667500" y="30480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基于已知攻击的“特征签名”或固定的“流量阈值”进行比对，属于事后防御。</a:t>
            </a:r>
            <a:endParaRPr lang="en-US" sz="1100"/>
          </a:p>
        </p:txBody>
      </p:sp>
      <p:sp>
        <p:nvSpPr>
          <p:cNvPr id="24" name="AutoShape 24"/>
          <p:cNvSpPr/>
          <p:nvPr/>
        </p:nvSpPr>
        <p:spPr>
          <a:xfrm>
            <a:off x="6477000" y="3683000"/>
            <a:ext cx="469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 传统方案的三大痛点</a:t>
            </a:r>
            <a:endParaRPr lang="en-US" sz="1100"/>
          </a:p>
        </p:txBody>
      </p:sp>
      <p:sp>
        <p:nvSpPr>
          <p:cNvPr id="25" name="AutoShape 25"/>
          <p:cNvSpPr/>
          <p:nvPr/>
        </p:nvSpPr>
        <p:spPr>
          <a:xfrm>
            <a:off x="6477000" y="4191000"/>
            <a:ext cx="4699000" cy="762000"/>
          </a:xfrm>
          <a:prstGeom prst="roundRect">
            <a:avLst>
              <a:gd name="adj" fmla="val 16666"/>
            </a:avLst>
          </a:prstGeom>
          <a:solidFill>
            <a:srgbClr val="FFFFFF">
              <a:alpha val="100000"/>
            </a:srgbClr>
          </a:solidFill>
          <a:ln w="25400" cap="flat" cmpd="sng">
            <a:noFill/>
            <a:prstDash val="solid"/>
            <a:round/>
          </a:ln>
          <a:effectLst>
            <a:outerShdw blurRad="101600" dist="25400" dir="2700000" algn="tl" rotWithShape="0">
              <a:srgbClr val="000000">
                <a:alpha val="6000"/>
              </a:srgbClr>
            </a:outerShdw>
          </a:effectLst>
        </p:spPr>
        <p:txBody>
          <a:bodyPr vert="horz" wrap="square" lIns="63500" tIns="63500" rIns="63500" bIns="63500" rtlCol="0" anchor="ctr"/>
          <a:lstStyle/>
          <a:p>
            <a:pPr algn="ctr">
              <a:defRPr/>
            </a:pPr>
          </a:p>
        </p:txBody>
      </p:sp>
      <p:pic>
        <p:nvPicPr>
          <p:cNvPr id="26" name="Picture 26"/>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667500" y="4318000"/>
            <a:ext cx="406400" cy="406400"/>
          </a:xfrm>
          <a:prstGeom prst="rect">
            <a:avLst/>
          </a:prstGeom>
        </p:spPr>
      </p:pic>
      <p:sp>
        <p:nvSpPr>
          <p:cNvPr id="27" name="AutoShape 27"/>
          <p:cNvSpPr/>
          <p:nvPr/>
        </p:nvSpPr>
        <p:spPr>
          <a:xfrm>
            <a:off x="7239000" y="4254500"/>
            <a:ext cx="3810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零日攻击完全失效：</a:t>
            </a:r>
            <a:r>
              <a:rPr lang="en-US" sz="11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面对未知攻击手段，无特征库可匹配，防线形同虚设。</a:t>
            </a:r>
            <a:endParaRPr lang="en-US" sz="1100"/>
          </a:p>
        </p:txBody>
      </p:sp>
      <p:sp>
        <p:nvSpPr>
          <p:cNvPr id="28" name="AutoShape 28"/>
          <p:cNvSpPr/>
          <p:nvPr/>
        </p:nvSpPr>
        <p:spPr>
          <a:xfrm>
            <a:off x="6477000" y="5080000"/>
            <a:ext cx="4699000" cy="762000"/>
          </a:xfrm>
          <a:prstGeom prst="roundRect">
            <a:avLst>
              <a:gd name="adj" fmla="val 16666"/>
            </a:avLst>
          </a:prstGeom>
          <a:solidFill>
            <a:srgbClr val="FFFFFF">
              <a:alpha val="100000"/>
            </a:srgbClr>
          </a:solidFill>
          <a:ln w="25400" cap="flat" cmpd="sng">
            <a:noFill/>
            <a:prstDash val="solid"/>
            <a:round/>
          </a:ln>
          <a:effectLst>
            <a:outerShdw blurRad="101600" dist="25400" dir="2700000" algn="tl" rotWithShape="0">
              <a:srgbClr val="000000">
                <a:alpha val="6000"/>
              </a:srgbClr>
            </a:outerShdw>
          </a:effectLst>
        </p:spPr>
        <p:txBody>
          <a:bodyPr vert="horz" wrap="square" lIns="63500" tIns="63500" rIns="63500" bIns="63500" rtlCol="0" anchor="ctr"/>
          <a:lstStyle/>
          <a:p>
            <a:pPr algn="ctr">
              <a:defRPr/>
            </a:pPr>
          </a:p>
        </p:txBody>
      </p:sp>
      <p:pic>
        <p:nvPicPr>
          <p:cNvPr id="29" name="Picture 29"/>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667500" y="5207000"/>
            <a:ext cx="406400" cy="406400"/>
          </a:xfrm>
          <a:prstGeom prst="rect">
            <a:avLst/>
          </a:prstGeom>
        </p:spPr>
      </p:pic>
      <p:sp>
        <p:nvSpPr>
          <p:cNvPr id="30" name="AutoShape 30"/>
          <p:cNvSpPr/>
          <p:nvPr/>
        </p:nvSpPr>
        <p:spPr>
          <a:xfrm>
            <a:off x="7239000" y="5143500"/>
            <a:ext cx="3810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误报率居高不下：</a:t>
            </a:r>
            <a:r>
              <a:rPr lang="en-US" sz="11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难以精准区分正常业务高峰流量与真实的网络攻击行为。</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1524000"/>
            <a:ext cx="12192000" cy="177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PART 02</a:t>
            </a:r>
            <a:endParaRPr lang="en-US" sz="1100"/>
          </a:p>
        </p:txBody>
      </p:sp>
      <p:sp>
        <p:nvSpPr>
          <p:cNvPr id="3" name="AutoShape 3"/>
          <p:cNvSpPr/>
          <p:nvPr/>
        </p:nvSpPr>
        <p:spPr>
          <a:xfrm>
            <a:off x="0" y="3556000"/>
            <a:ext cx="1219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999999"/>
                </a:solidFill>
                <a:latin typeface="Noto Sans SC" panose="020B0200000000000000" charset="-122"/>
                <a:ea typeface="Noto Sans SC" panose="020B0200000000000000" charset="-122"/>
                <a:cs typeface="Noto Sans SC" panose="020B0200000000000000" charset="-122"/>
                <a:sym typeface="Noto Sans SC" panose="020B0200000000000000" charset="-122"/>
              </a:rPr>
              <a:t>CHAPTER 02</a:t>
            </a:r>
            <a:endParaRPr lang="en-US" sz="1100"/>
          </a:p>
        </p:txBody>
      </p:sp>
      <p:sp>
        <p:nvSpPr>
          <p:cNvPr id="4" name="AutoShape 4"/>
          <p:cNvSpPr/>
          <p:nvPr/>
        </p:nvSpPr>
        <p:spPr>
          <a:xfrm>
            <a:off x="0" y="4318000"/>
            <a:ext cx="1219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无线恶意流量的分类</a:t>
            </a:r>
            <a:endParaRPr lang="en-US" sz="1100"/>
          </a:p>
        </p:txBody>
      </p:sp>
      <p:sp>
        <p:nvSpPr>
          <p:cNvPr id="5" name="AutoShape 5"/>
          <p:cNvSpPr/>
          <p:nvPr/>
        </p:nvSpPr>
        <p:spPr>
          <a:xfrm>
            <a:off x="0" y="5334000"/>
            <a:ext cx="1219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CLASSIFICATION OF WIRELESS MALICIOUS TRAFFIC</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无线威胁全景图：三大维度解析恶意流量</a:t>
            </a:r>
            <a:endParaRPr lang="en-US" sz="1100"/>
          </a:p>
        </p:txBody>
      </p:sp>
      <p:sp>
        <p:nvSpPr>
          <p:cNvPr id="3" name="AutoShape 3"/>
          <p:cNvSpPr/>
          <p:nvPr/>
        </p:nvSpPr>
        <p:spPr>
          <a:xfrm>
            <a:off x="762000" y="1270000"/>
            <a:ext cx="10668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46A73"/>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基于攻击手法与威胁目标构建的恶意流量分类矩阵模型</a:t>
            </a:r>
            <a:endParaRPr lang="en-US" sz="1100"/>
          </a:p>
        </p:txBody>
      </p:sp>
      <p:sp>
        <p:nvSpPr>
          <p:cNvPr id="4" name="AutoShape 4"/>
          <p:cNvSpPr/>
          <p:nvPr/>
        </p:nvSpPr>
        <p:spPr>
          <a:xfrm>
            <a:off x="762000" y="1905000"/>
            <a:ext cx="3302000" cy="4318000"/>
          </a:xfrm>
          <a:prstGeom prst="roundRect">
            <a:avLst>
              <a:gd name="adj" fmla="val 4615"/>
            </a:avLst>
          </a:prstGeom>
          <a:solidFill>
            <a:srgbClr val="F0F5FF">
              <a:alpha val="100000"/>
            </a:srgbClr>
          </a:solidFill>
          <a:ln cap="flat" cmpd="sng">
            <a:solidFill>
              <a:srgbClr val="C1CDE6">
                <a:alpha val="10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905000"/>
            <a:ext cx="3302000" cy="889000"/>
          </a:xfrm>
          <a:prstGeom prst="roundRect">
            <a:avLst>
              <a:gd name="adj" fmla="val 17142"/>
            </a:avLst>
          </a:prstGeom>
          <a:solidFill>
            <a:srgbClr val="0052CC">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2095500"/>
            <a:ext cx="508000" cy="508000"/>
          </a:xfrm>
          <a:prstGeom prst="rect">
            <a:avLst/>
          </a:prstGeom>
        </p:spPr>
      </p:pic>
      <p:sp>
        <p:nvSpPr>
          <p:cNvPr id="7" name="AutoShape 7"/>
          <p:cNvSpPr/>
          <p:nvPr/>
        </p:nvSpPr>
        <p:spPr>
          <a:xfrm>
            <a:off x="1651000" y="2057400"/>
            <a:ext cx="2286000" cy="584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可用性破坏</a:t>
            </a:r>
            <a:endParaRPr lang="en-US" sz="1100"/>
          </a:p>
          <a:p>
            <a:pPr indent="0" algn="l">
              <a:lnSpc>
                <a:spcPct val="125000"/>
              </a:lnSpc>
            </a:pPr>
            <a:r>
              <a:rPr lang="en-US" sz="12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Availability (服务中断)</a:t>
            </a:r>
            <a:endParaRPr lang="en-US" sz="12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952500" y="3048000"/>
            <a:ext cx="2921000" cy="1143000"/>
          </a:xfrm>
          <a:prstGeom prst="roundRect">
            <a:avLst>
              <a:gd name="adj" fmla="val 8888"/>
            </a:avLst>
          </a:prstGeom>
          <a:solidFill>
            <a:srgbClr val="FFFFFF">
              <a:alpha val="100000"/>
            </a:srgbClr>
          </a:solidFill>
          <a:ln w="25400" cap="flat" cmpd="sng">
            <a:noFill/>
            <a:prstDash val="solid"/>
            <a:round/>
          </a:ln>
          <a:effectLst>
            <a:outerShdw blurRad="127000" dist="50800" dir="5400000" algn="tl" rotWithShape="0">
              <a:srgbClr val="000000">
                <a:alpha val="6000"/>
              </a:srgbClr>
            </a:outerShdw>
          </a:effectLst>
        </p:spPr>
        <p:txBody>
          <a:bodyPr vert="horz" wrap="square" lIns="63500" tIns="63500" rIns="63500" bIns="63500" rtlCol="0" anchor="ctr"/>
          <a:lstStyle/>
          <a:p>
            <a:pPr algn="ctr">
              <a:defRPr/>
            </a:pPr>
          </a:p>
        </p:txBody>
      </p:sp>
      <p:sp>
        <p:nvSpPr>
          <p:cNvPr id="9" name="AutoShape 9"/>
          <p:cNvSpPr/>
          <p:nvPr/>
        </p:nvSpPr>
        <p:spPr>
          <a:xfrm>
            <a:off x="1143000" y="31750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 注入型攻击</a:t>
            </a:r>
            <a:endParaRPr lang="en-US" sz="1100"/>
          </a:p>
        </p:txBody>
      </p:sp>
      <p:sp>
        <p:nvSpPr>
          <p:cNvPr id="10" name="AutoShape 10"/>
          <p:cNvSpPr/>
          <p:nvPr/>
        </p:nvSpPr>
        <p:spPr>
          <a:xfrm>
            <a:off x="1143000" y="3556000"/>
            <a:ext cx="254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Beacon Flood (信标洪泛)</a:t>
            </a:r>
            <a:br>
              <a:rPr lang="en-US" sz="12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通过海量伪造信标帧耗尽AP资源</a:t>
            </a:r>
            <a:endParaRPr lang="en-US" sz="1100"/>
          </a:p>
        </p:txBody>
      </p:sp>
      <p:sp>
        <p:nvSpPr>
          <p:cNvPr id="11" name="AutoShape 11"/>
          <p:cNvSpPr/>
          <p:nvPr/>
        </p:nvSpPr>
        <p:spPr>
          <a:xfrm>
            <a:off x="952500" y="4445000"/>
            <a:ext cx="2921000" cy="1143000"/>
          </a:xfrm>
          <a:prstGeom prst="roundRect">
            <a:avLst>
              <a:gd name="adj" fmla="val 8888"/>
            </a:avLst>
          </a:prstGeom>
          <a:solidFill>
            <a:srgbClr val="FFFFFF">
              <a:alpha val="100000"/>
            </a:srgbClr>
          </a:solidFill>
          <a:ln w="25400" cap="flat" cmpd="sng">
            <a:noFill/>
            <a:prstDash val="solid"/>
            <a:round/>
          </a:ln>
          <a:effectLst>
            <a:outerShdw blurRad="127000" dist="50800" dir="5400000" algn="tl" rotWithShape="0">
              <a:srgbClr val="000000">
                <a:alpha val="6000"/>
              </a:srgbClr>
            </a:outerShdw>
          </a:effectLst>
        </p:spPr>
        <p:txBody>
          <a:bodyPr vert="horz" wrap="square" lIns="63500" tIns="63500" rIns="63500" bIns="63500" rtlCol="0" anchor="ctr"/>
          <a:lstStyle/>
          <a:p>
            <a:pPr algn="ctr">
              <a:defRPr/>
            </a:pPr>
          </a:p>
        </p:txBody>
      </p:sp>
      <p:sp>
        <p:nvSpPr>
          <p:cNvPr id="12" name="AutoShape 12"/>
          <p:cNvSpPr/>
          <p:nvPr/>
        </p:nvSpPr>
        <p:spPr>
          <a:xfrm>
            <a:off x="1143000" y="45720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 DoS 拒绝服务</a:t>
            </a:r>
            <a:endParaRPr lang="en-US" sz="1100"/>
          </a:p>
        </p:txBody>
      </p:sp>
      <p:sp>
        <p:nvSpPr>
          <p:cNvPr id="13" name="AutoShape 13"/>
          <p:cNvSpPr/>
          <p:nvPr/>
        </p:nvSpPr>
        <p:spPr>
          <a:xfrm>
            <a:off x="1143000" y="4953000"/>
            <a:ext cx="254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Deauthentication Flood</a:t>
            </a:r>
            <a:br>
              <a:rPr lang="en-US" sz="12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伪造取消认证帧强制终端下线</a:t>
            </a:r>
            <a:endParaRPr lang="en-US" sz="1100"/>
          </a:p>
        </p:txBody>
      </p:sp>
      <p:sp>
        <p:nvSpPr>
          <p:cNvPr id="14" name="AutoShape 14"/>
          <p:cNvSpPr/>
          <p:nvPr/>
        </p:nvSpPr>
        <p:spPr>
          <a:xfrm>
            <a:off x="4445000" y="1905000"/>
            <a:ext cx="3302000" cy="4318000"/>
          </a:xfrm>
          <a:prstGeom prst="roundRect">
            <a:avLst>
              <a:gd name="adj" fmla="val 4615"/>
            </a:avLst>
          </a:prstGeom>
          <a:solidFill>
            <a:srgbClr val="F0F5FF">
              <a:alpha val="100000"/>
            </a:srgbClr>
          </a:solidFill>
          <a:ln cap="flat" cmpd="sng">
            <a:solidFill>
              <a:srgbClr val="C1CDE6">
                <a:alpha val="10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4445000" y="1905000"/>
            <a:ext cx="3302000" cy="889000"/>
          </a:xfrm>
          <a:prstGeom prst="roundRect">
            <a:avLst>
              <a:gd name="adj" fmla="val 17142"/>
            </a:avLst>
          </a:prstGeom>
          <a:solidFill>
            <a:srgbClr val="0052CC">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99000" y="2095500"/>
            <a:ext cx="508000" cy="508000"/>
          </a:xfrm>
          <a:prstGeom prst="rect">
            <a:avLst/>
          </a:prstGeom>
        </p:spPr>
      </p:pic>
      <p:sp>
        <p:nvSpPr>
          <p:cNvPr id="17" name="AutoShape 17"/>
          <p:cNvSpPr/>
          <p:nvPr/>
        </p:nvSpPr>
        <p:spPr>
          <a:xfrm>
            <a:off x="5334000" y="2057400"/>
            <a:ext cx="2286000" cy="584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完整性篡改</a:t>
            </a:r>
            <a:endParaRPr lang="en-US" sz="1100"/>
          </a:p>
          <a:p>
            <a:pPr indent="0" algn="l">
              <a:lnSpc>
                <a:spcPct val="125000"/>
              </a:lnSpc>
            </a:pPr>
            <a:r>
              <a:rPr lang="en-US" sz="12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Integrity (数据伪造/劫持)</a:t>
            </a:r>
            <a:endParaRPr lang="en-US" sz="12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8" name="AutoShape 18"/>
          <p:cNvSpPr/>
          <p:nvPr/>
        </p:nvSpPr>
        <p:spPr>
          <a:xfrm>
            <a:off x="4635500" y="3048000"/>
            <a:ext cx="2921000" cy="1143000"/>
          </a:xfrm>
          <a:prstGeom prst="roundRect">
            <a:avLst>
              <a:gd name="adj" fmla="val 8888"/>
            </a:avLst>
          </a:prstGeom>
          <a:solidFill>
            <a:srgbClr val="FFFFFF">
              <a:alpha val="100000"/>
            </a:srgbClr>
          </a:solidFill>
          <a:ln w="25400" cap="flat" cmpd="sng">
            <a:noFill/>
            <a:prstDash val="solid"/>
            <a:round/>
          </a:ln>
          <a:effectLst>
            <a:outerShdw blurRad="127000" dist="50800" dir="5400000" algn="tl" rotWithShape="0">
              <a:srgbClr val="000000">
                <a:alpha val="6000"/>
              </a:srgbClr>
            </a:outerShdw>
          </a:effectLst>
        </p:spPr>
        <p:txBody>
          <a:bodyPr vert="horz" wrap="square" lIns="63500" tIns="63500" rIns="63500" bIns="63500" rtlCol="0" anchor="ctr"/>
          <a:lstStyle/>
          <a:p>
            <a:pPr algn="ctr">
              <a:defRPr/>
            </a:pPr>
          </a:p>
        </p:txBody>
      </p:sp>
      <p:sp>
        <p:nvSpPr>
          <p:cNvPr id="19" name="AutoShape 19"/>
          <p:cNvSpPr/>
          <p:nvPr/>
        </p:nvSpPr>
        <p:spPr>
          <a:xfrm>
            <a:off x="4826000" y="31750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 注入型攻击</a:t>
            </a:r>
            <a:endParaRPr lang="en-US" sz="1100"/>
          </a:p>
        </p:txBody>
      </p:sp>
      <p:sp>
        <p:nvSpPr>
          <p:cNvPr id="20" name="AutoShape 20"/>
          <p:cNvSpPr/>
          <p:nvPr/>
        </p:nvSpPr>
        <p:spPr>
          <a:xfrm>
            <a:off x="4826000" y="3556000"/>
            <a:ext cx="254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Evil Twin (邪恶孪生)</a:t>
            </a:r>
            <a:br>
              <a:rPr lang="en-US" sz="12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克隆AP热点诱骗终端接入钓鱼网络</a:t>
            </a:r>
            <a:endParaRPr lang="en-US" sz="1100"/>
          </a:p>
        </p:txBody>
      </p:sp>
      <p:sp>
        <p:nvSpPr>
          <p:cNvPr id="21" name="AutoShape 21"/>
          <p:cNvSpPr/>
          <p:nvPr/>
        </p:nvSpPr>
        <p:spPr>
          <a:xfrm>
            <a:off x="4635500" y="4445000"/>
            <a:ext cx="2921000" cy="1143000"/>
          </a:xfrm>
          <a:prstGeom prst="roundRect">
            <a:avLst>
              <a:gd name="adj" fmla="val 8888"/>
            </a:avLst>
          </a:prstGeom>
          <a:solidFill>
            <a:srgbClr val="FFFFFF">
              <a:alpha val="100000"/>
            </a:srgbClr>
          </a:solidFill>
          <a:ln w="25400" cap="flat" cmpd="sng">
            <a:noFill/>
            <a:prstDash val="solid"/>
            <a:round/>
          </a:ln>
          <a:effectLst>
            <a:outerShdw blurRad="127000" dist="50800" dir="5400000" algn="tl" rotWithShape="0">
              <a:srgbClr val="000000">
                <a:alpha val="6000"/>
              </a:srgbClr>
            </a:outerShdw>
          </a:effectLst>
        </p:spPr>
        <p:txBody>
          <a:bodyPr vert="horz" wrap="square" lIns="63500" tIns="63500" rIns="63500" bIns="63500" rtlCol="0" anchor="ctr"/>
          <a:lstStyle/>
          <a:p>
            <a:pPr algn="ctr">
              <a:defRPr/>
            </a:pPr>
          </a:p>
        </p:txBody>
      </p:sp>
      <p:sp>
        <p:nvSpPr>
          <p:cNvPr id="22" name="AutoShape 22"/>
          <p:cNvSpPr/>
          <p:nvPr/>
        </p:nvSpPr>
        <p:spPr>
          <a:xfrm>
            <a:off x="4826000" y="45720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 MITM 中间人攻击</a:t>
            </a:r>
            <a:endParaRPr lang="en-US" sz="1100"/>
          </a:p>
        </p:txBody>
      </p:sp>
      <p:sp>
        <p:nvSpPr>
          <p:cNvPr id="23" name="AutoShape 23"/>
          <p:cNvSpPr/>
          <p:nvPr/>
        </p:nvSpPr>
        <p:spPr>
          <a:xfrm>
            <a:off x="4826000" y="4953000"/>
            <a:ext cx="254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Session Hijacking (会话劫持)</a:t>
            </a:r>
            <a:br>
              <a:rPr lang="en-US" sz="12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窃取合法会话ID冒充用户身份</a:t>
            </a:r>
            <a:endParaRPr lang="en-US" sz="1100"/>
          </a:p>
        </p:txBody>
      </p:sp>
      <p:sp>
        <p:nvSpPr>
          <p:cNvPr id="24" name="AutoShape 24"/>
          <p:cNvSpPr/>
          <p:nvPr/>
        </p:nvSpPr>
        <p:spPr>
          <a:xfrm>
            <a:off x="8128000" y="1905000"/>
            <a:ext cx="3302000" cy="4318000"/>
          </a:xfrm>
          <a:prstGeom prst="roundRect">
            <a:avLst>
              <a:gd name="adj" fmla="val 4615"/>
            </a:avLst>
          </a:prstGeom>
          <a:solidFill>
            <a:srgbClr val="F0F5FF">
              <a:alpha val="100000"/>
            </a:srgbClr>
          </a:solidFill>
          <a:ln cap="flat" cmpd="sng">
            <a:solidFill>
              <a:srgbClr val="C1CDE6">
                <a:alpha val="100000"/>
              </a:srgbClr>
            </a:solidFill>
            <a:prstDash val="solid"/>
            <a:round/>
          </a:ln>
        </p:spPr>
        <p:txBody>
          <a:bodyPr vert="horz" wrap="square" lIns="63500" tIns="63500" rIns="63500" bIns="63500" rtlCol="0" anchor="ctr"/>
          <a:lstStyle/>
          <a:p>
            <a:pPr algn="ctr">
              <a:defRPr/>
            </a:pPr>
          </a:p>
        </p:txBody>
      </p:sp>
      <p:sp>
        <p:nvSpPr>
          <p:cNvPr id="25" name="AutoShape 25"/>
          <p:cNvSpPr/>
          <p:nvPr/>
        </p:nvSpPr>
        <p:spPr>
          <a:xfrm>
            <a:off x="8128000" y="1905000"/>
            <a:ext cx="3302000" cy="889000"/>
          </a:xfrm>
          <a:prstGeom prst="roundRect">
            <a:avLst>
              <a:gd name="adj" fmla="val 17142"/>
            </a:avLst>
          </a:prstGeom>
          <a:solidFill>
            <a:srgbClr val="0052CC">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6" name="Picture 2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2095500"/>
            <a:ext cx="508000" cy="508000"/>
          </a:xfrm>
          <a:prstGeom prst="rect">
            <a:avLst/>
          </a:prstGeom>
        </p:spPr>
      </p:pic>
      <p:sp>
        <p:nvSpPr>
          <p:cNvPr id="27" name="AutoShape 27"/>
          <p:cNvSpPr/>
          <p:nvPr/>
        </p:nvSpPr>
        <p:spPr>
          <a:xfrm>
            <a:off x="9017000" y="2057400"/>
            <a:ext cx="2286000" cy="584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隐私窃取</a:t>
            </a:r>
            <a:endParaRPr lang="en-US" sz="1100"/>
          </a:p>
          <a:p>
            <a:pPr indent="0" algn="l">
              <a:lnSpc>
                <a:spcPct val="125000"/>
              </a:lnSpc>
            </a:pPr>
            <a:r>
              <a:rPr lang="en-US" sz="12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Confidentiality (敏感数据泄露)</a:t>
            </a:r>
            <a:endParaRPr lang="en-US" sz="12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8" name="AutoShape 28"/>
          <p:cNvSpPr/>
          <p:nvPr/>
        </p:nvSpPr>
        <p:spPr>
          <a:xfrm>
            <a:off x="8318500" y="3048000"/>
            <a:ext cx="2921000" cy="1016000"/>
          </a:xfrm>
          <a:prstGeom prst="roundRect">
            <a:avLst>
              <a:gd name="adj" fmla="val 10000"/>
            </a:avLst>
          </a:prstGeom>
          <a:solidFill>
            <a:srgbClr val="FFFFFF">
              <a:alpha val="100000"/>
            </a:srgbClr>
          </a:solidFill>
          <a:ln w="25400" cap="flat" cmpd="sng">
            <a:noFill/>
            <a:prstDash val="solid"/>
            <a:round/>
          </a:ln>
          <a:effectLst>
            <a:outerShdw blurRad="127000" dist="50800" dir="5400000" algn="tl" rotWithShape="0">
              <a:srgbClr val="000000">
                <a:alpha val="6000"/>
              </a:srgbClr>
            </a:outerShdw>
          </a:effectLst>
        </p:spPr>
        <p:txBody>
          <a:bodyPr vert="horz" wrap="square" lIns="63500" tIns="63500" rIns="63500" bIns="63500" rtlCol="0" anchor="ctr"/>
          <a:lstStyle/>
          <a:p>
            <a:pPr algn="ctr">
              <a:defRPr/>
            </a:pPr>
          </a:p>
        </p:txBody>
      </p:sp>
      <p:sp>
        <p:nvSpPr>
          <p:cNvPr id="29" name="AutoShape 29"/>
          <p:cNvSpPr/>
          <p:nvPr/>
        </p:nvSpPr>
        <p:spPr>
          <a:xfrm>
            <a:off x="8509000" y="3149600"/>
            <a:ext cx="2540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 注入型：凭证窃取</a:t>
            </a:r>
            <a:endParaRPr lang="en-US" sz="1100"/>
          </a:p>
        </p:txBody>
      </p:sp>
      <p:sp>
        <p:nvSpPr>
          <p:cNvPr id="30" name="AutoShape 30"/>
          <p:cNvSpPr/>
          <p:nvPr/>
        </p:nvSpPr>
        <p:spPr>
          <a:xfrm>
            <a:off x="8509000" y="3454400"/>
            <a:ext cx="2540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Credential Harvesting：截获用户登录口令</a:t>
            </a:r>
            <a:endParaRPr lang="en-US" sz="1100"/>
          </a:p>
        </p:txBody>
      </p:sp>
      <p:sp>
        <p:nvSpPr>
          <p:cNvPr id="31" name="AutoShape 31"/>
          <p:cNvSpPr/>
          <p:nvPr/>
        </p:nvSpPr>
        <p:spPr>
          <a:xfrm>
            <a:off x="8318500" y="4191000"/>
            <a:ext cx="2921000" cy="1016000"/>
          </a:xfrm>
          <a:prstGeom prst="roundRect">
            <a:avLst>
              <a:gd name="adj" fmla="val 10000"/>
            </a:avLst>
          </a:prstGeom>
          <a:solidFill>
            <a:srgbClr val="FFFFFF">
              <a:alpha val="100000"/>
            </a:srgbClr>
          </a:solidFill>
          <a:ln w="25400" cap="flat" cmpd="sng">
            <a:noFill/>
            <a:prstDash val="solid"/>
            <a:round/>
          </a:ln>
          <a:effectLst>
            <a:outerShdw blurRad="127000" dist="50800" dir="5400000" algn="tl" rotWithShape="0">
              <a:srgbClr val="000000">
                <a:alpha val="6000"/>
              </a:srgbClr>
            </a:outerShdw>
          </a:effectLst>
        </p:spPr>
        <p:txBody>
          <a:bodyPr vert="horz" wrap="square" lIns="63500" tIns="63500" rIns="63500" bIns="63500" rtlCol="0" anchor="ctr"/>
          <a:lstStyle/>
          <a:p>
            <a:pPr algn="ctr">
              <a:defRPr/>
            </a:pPr>
          </a:p>
        </p:txBody>
      </p:sp>
      <p:sp>
        <p:nvSpPr>
          <p:cNvPr id="32" name="AutoShape 32"/>
          <p:cNvSpPr/>
          <p:nvPr/>
        </p:nvSpPr>
        <p:spPr>
          <a:xfrm>
            <a:off x="8509000" y="4292600"/>
            <a:ext cx="2540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 MITM：流量嗅探</a:t>
            </a:r>
            <a:endParaRPr lang="en-US" sz="1100"/>
          </a:p>
        </p:txBody>
      </p:sp>
      <p:sp>
        <p:nvSpPr>
          <p:cNvPr id="33" name="AutoShape 33"/>
          <p:cNvSpPr/>
          <p:nvPr/>
        </p:nvSpPr>
        <p:spPr>
          <a:xfrm>
            <a:off x="8509000" y="4597400"/>
            <a:ext cx="2540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Traffic Sniffing：监听并解析明文流量</a:t>
            </a:r>
            <a:endParaRPr lang="en-US" sz="1100"/>
          </a:p>
        </p:txBody>
      </p:sp>
      <p:sp>
        <p:nvSpPr>
          <p:cNvPr id="34" name="AutoShape 34"/>
          <p:cNvSpPr/>
          <p:nvPr/>
        </p:nvSpPr>
        <p:spPr>
          <a:xfrm>
            <a:off x="8318500" y="5334000"/>
            <a:ext cx="2921000" cy="762000"/>
          </a:xfrm>
          <a:prstGeom prst="roundRect">
            <a:avLst>
              <a:gd name="adj" fmla="val 13333"/>
            </a:avLst>
          </a:prstGeom>
          <a:solidFill>
            <a:srgbClr val="FFFFFF">
              <a:alpha val="100000"/>
            </a:srgbClr>
          </a:solidFill>
          <a:ln w="25400" cap="flat" cmpd="sng">
            <a:noFill/>
            <a:prstDash val="solid"/>
            <a:round/>
          </a:ln>
          <a:effectLst>
            <a:outerShdw blurRad="127000" dist="50800" dir="5400000" algn="tl" rotWithShape="0">
              <a:srgbClr val="000000">
                <a:alpha val="6000"/>
              </a:srgbClr>
            </a:outerShdw>
          </a:effectLst>
        </p:spPr>
        <p:txBody>
          <a:bodyPr vert="horz" wrap="square" lIns="63500" tIns="63500" rIns="63500" bIns="63500" rtlCol="0" anchor="ctr"/>
          <a:lstStyle/>
          <a:p>
            <a:pPr algn="ctr">
              <a:defRPr/>
            </a:pPr>
          </a:p>
        </p:txBody>
      </p:sp>
      <p:sp>
        <p:nvSpPr>
          <p:cNvPr id="35" name="AutoShape 35"/>
          <p:cNvSpPr/>
          <p:nvPr/>
        </p:nvSpPr>
        <p:spPr>
          <a:xfrm>
            <a:off x="8509000" y="5435600"/>
            <a:ext cx="254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IoT异常：数据泄露</a:t>
            </a:r>
            <a:r>
              <a:rPr lang="en-US" sz="11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(Data Exfiltration)</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潜入与扫描：为大规模攻击铺路</a:t>
            </a:r>
            <a:endParaRPr lang="en-US" sz="1100"/>
          </a:p>
        </p:txBody>
      </p:sp>
      <p:sp>
        <p:nvSpPr>
          <p:cNvPr id="3" name="AutoShape 3"/>
          <p:cNvSpPr/>
          <p:nvPr/>
        </p:nvSpPr>
        <p:spPr>
          <a:xfrm>
            <a:off x="762000" y="1524000"/>
            <a:ext cx="5207000" cy="4699000"/>
          </a:xfrm>
          <a:prstGeom prst="roundRect">
            <a:avLst>
              <a:gd name="adj" fmla="val 4324"/>
            </a:avLst>
          </a:prstGeom>
          <a:solidFill>
            <a:srgbClr val="FFFFFF">
              <a:alpha val="100000"/>
            </a:srgbClr>
          </a:solidFill>
          <a:ln w="25400" cap="flat" cmpd="sng">
            <a:noFill/>
            <a:prstDash val="solid"/>
            <a:round/>
          </a:ln>
          <a:effectLst>
            <a:outerShdw blurRad="203200" dist="50800" dir="2700000" algn="tl" rotWithShape="0">
              <a:srgbClr val="000000">
                <a:alpha val="6000"/>
              </a:srgbClr>
            </a:outerShdw>
          </a:effectLst>
        </p:spPr>
        <p:txBody>
          <a:bodyPr vert="horz" wrap="square" lIns="63500" tIns="63500" rIns="63500" bIns="63500" rtlCol="0" anchor="ctr"/>
          <a:lstStyle/>
          <a:p>
            <a:pPr algn="ctr">
              <a:defRPr/>
            </a:pPr>
          </a:p>
        </p:txBody>
      </p:sp>
      <p:sp>
        <p:nvSpPr>
          <p:cNvPr id="4" name="AutoShape 4"/>
          <p:cNvSpPr/>
          <p:nvPr/>
        </p:nvSpPr>
        <p:spPr>
          <a:xfrm>
            <a:off x="952500" y="1714500"/>
            <a:ext cx="4826000" cy="1651000"/>
          </a:xfrm>
          <a:prstGeom prst="roundRect">
            <a:avLst>
              <a:gd name="adj" fmla="val 9230"/>
            </a:avLst>
          </a:prstGeom>
          <a:solidFill>
            <a:srgbClr val="0052CC">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768600" y="2095500"/>
            <a:ext cx="812800" cy="812800"/>
          </a:xfrm>
          <a:prstGeom prst="rect">
            <a:avLst/>
          </a:prstGeom>
        </p:spPr>
      </p:pic>
      <p:sp>
        <p:nvSpPr>
          <p:cNvPr id="6" name="AutoShape 6"/>
          <p:cNvSpPr/>
          <p:nvPr/>
        </p:nvSpPr>
        <p:spPr>
          <a:xfrm>
            <a:off x="952500" y="3556000"/>
            <a:ext cx="482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01. Beacon Flood (信标洪泛)</a:t>
            </a:r>
            <a:endParaRPr lang="en-US" sz="1100"/>
          </a:p>
        </p:txBody>
      </p:sp>
      <p:sp>
        <p:nvSpPr>
          <p:cNvPr id="7" name="AutoShape 7"/>
          <p:cNvSpPr/>
          <p:nvPr/>
        </p:nvSpPr>
        <p:spPr>
          <a:xfrm>
            <a:off x="952500" y="4191000"/>
            <a:ext cx="4826000" cy="952500"/>
          </a:xfrm>
          <a:prstGeom prst="roundRect">
            <a:avLst>
              <a:gd name="adj" fmla="val 10666"/>
            </a:avLst>
          </a:prstGeom>
          <a:solidFill>
            <a:srgbClr val="EBF3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143000" y="4292600"/>
            <a:ext cx="4445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 攻击目的</a:t>
            </a:r>
            <a:endParaRPr lang="en-US" sz="1100"/>
          </a:p>
        </p:txBody>
      </p:sp>
      <p:sp>
        <p:nvSpPr>
          <p:cNvPr id="9" name="AutoShape 9"/>
          <p:cNvSpPr/>
          <p:nvPr/>
        </p:nvSpPr>
        <p:spPr>
          <a:xfrm>
            <a:off x="1143000" y="4597400"/>
            <a:ext cx="4445000" cy="50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制造大量虚假Wi-Fi网络，占用信道资源，干扰用户正常搜索和连接网络。</a:t>
            </a:r>
            <a:endParaRPr lang="en-US" sz="1100"/>
          </a:p>
        </p:txBody>
      </p:sp>
      <p:sp>
        <p:nvSpPr>
          <p:cNvPr id="10" name="AutoShape 10"/>
          <p:cNvSpPr/>
          <p:nvPr/>
        </p:nvSpPr>
        <p:spPr>
          <a:xfrm>
            <a:off x="952500" y="5270500"/>
            <a:ext cx="4826000" cy="889000"/>
          </a:xfrm>
          <a:prstGeom prst="roundRect">
            <a:avLst>
              <a:gd name="adj" fmla="val 11428"/>
            </a:avLst>
          </a:prstGeom>
          <a:solidFill>
            <a:srgbClr val="EBF3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143000" y="5372100"/>
            <a:ext cx="4445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 核心流量特征</a:t>
            </a:r>
            <a:endParaRPr lang="en-US" sz="1100"/>
          </a:p>
        </p:txBody>
      </p:sp>
      <p:sp>
        <p:nvSpPr>
          <p:cNvPr id="12" name="AutoShape 12"/>
          <p:cNvSpPr/>
          <p:nvPr/>
        </p:nvSpPr>
        <p:spPr>
          <a:xfrm>
            <a:off x="1143000" y="5676900"/>
            <a:ext cx="4445000" cy="50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极短时间内发送海量Beacon帧；帧中包含大量随机生成的SSID；信道持续高频跳变。</a:t>
            </a:r>
            <a:endParaRPr lang="en-US" sz="1100"/>
          </a:p>
        </p:txBody>
      </p:sp>
      <p:sp>
        <p:nvSpPr>
          <p:cNvPr id="13" name="AutoShape 13"/>
          <p:cNvSpPr/>
          <p:nvPr/>
        </p:nvSpPr>
        <p:spPr>
          <a:xfrm>
            <a:off x="6223000" y="1524000"/>
            <a:ext cx="5207000" cy="4699000"/>
          </a:xfrm>
          <a:prstGeom prst="roundRect">
            <a:avLst>
              <a:gd name="adj" fmla="val 4324"/>
            </a:avLst>
          </a:prstGeom>
          <a:solidFill>
            <a:srgbClr val="FFFFFF">
              <a:alpha val="100000"/>
            </a:srgbClr>
          </a:solidFill>
          <a:ln w="25400" cap="flat" cmpd="sng">
            <a:noFill/>
            <a:prstDash val="solid"/>
            <a:round/>
          </a:ln>
          <a:effectLst>
            <a:outerShdw blurRad="203200" dist="50800" dir="2700000" algn="tl" rotWithShape="0">
              <a:srgbClr val="000000">
                <a:alpha val="6000"/>
              </a:srgbClr>
            </a:outerShdw>
          </a:effectLst>
        </p:spPr>
        <p:txBody>
          <a:bodyPr vert="horz" wrap="square" lIns="63500" tIns="63500" rIns="63500" bIns="63500" rtlCol="0" anchor="ctr"/>
          <a:lstStyle/>
          <a:p>
            <a:pPr algn="ctr">
              <a:defRPr/>
            </a:pPr>
          </a:p>
        </p:txBody>
      </p:sp>
      <p:sp>
        <p:nvSpPr>
          <p:cNvPr id="14" name="AutoShape 14"/>
          <p:cNvSpPr/>
          <p:nvPr/>
        </p:nvSpPr>
        <p:spPr>
          <a:xfrm>
            <a:off x="6413500" y="1714500"/>
            <a:ext cx="4826000" cy="1651000"/>
          </a:xfrm>
          <a:prstGeom prst="roundRect">
            <a:avLst>
              <a:gd name="adj" fmla="val 9230"/>
            </a:avLst>
          </a:prstGeom>
          <a:solidFill>
            <a:srgbClr val="0052CC">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229600" y="2095500"/>
            <a:ext cx="812800" cy="812800"/>
          </a:xfrm>
          <a:prstGeom prst="rect">
            <a:avLst/>
          </a:prstGeom>
        </p:spPr>
      </p:pic>
      <p:sp>
        <p:nvSpPr>
          <p:cNvPr id="16" name="AutoShape 16"/>
          <p:cNvSpPr/>
          <p:nvPr/>
        </p:nvSpPr>
        <p:spPr>
          <a:xfrm>
            <a:off x="6413500" y="3556000"/>
            <a:ext cx="482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02. Probe Request 扫描 (探针请求)</a:t>
            </a:r>
            <a:endParaRPr lang="en-US" sz="1100"/>
          </a:p>
        </p:txBody>
      </p:sp>
      <p:sp>
        <p:nvSpPr>
          <p:cNvPr id="17" name="AutoShape 17"/>
          <p:cNvSpPr/>
          <p:nvPr/>
        </p:nvSpPr>
        <p:spPr>
          <a:xfrm>
            <a:off x="6413500" y="4191000"/>
            <a:ext cx="4826000" cy="952500"/>
          </a:xfrm>
          <a:prstGeom prst="roundRect">
            <a:avLst>
              <a:gd name="adj" fmla="val 10666"/>
            </a:avLst>
          </a:prstGeom>
          <a:solidFill>
            <a:srgbClr val="EBF3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6604000" y="4292600"/>
            <a:ext cx="4445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 攻击目的</a:t>
            </a:r>
            <a:endParaRPr lang="en-US" sz="1100"/>
          </a:p>
        </p:txBody>
      </p:sp>
      <p:sp>
        <p:nvSpPr>
          <p:cNvPr id="19" name="AutoShape 19"/>
          <p:cNvSpPr/>
          <p:nvPr/>
        </p:nvSpPr>
        <p:spPr>
          <a:xfrm>
            <a:off x="6604000" y="4597400"/>
            <a:ext cx="4445000" cy="50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主动向周围发送探测包，扫描并收集附近客户端设备曾经连接过的SSID历史列表。</a:t>
            </a:r>
            <a:endParaRPr lang="en-US" sz="1100"/>
          </a:p>
        </p:txBody>
      </p:sp>
      <p:sp>
        <p:nvSpPr>
          <p:cNvPr id="20" name="AutoShape 20"/>
          <p:cNvSpPr/>
          <p:nvPr/>
        </p:nvSpPr>
        <p:spPr>
          <a:xfrm>
            <a:off x="6413500" y="5270500"/>
            <a:ext cx="4826000" cy="889000"/>
          </a:xfrm>
          <a:prstGeom prst="roundRect">
            <a:avLst>
              <a:gd name="adj" fmla="val 11428"/>
            </a:avLst>
          </a:prstGeom>
          <a:solidFill>
            <a:srgbClr val="EBF3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6604000" y="5372100"/>
            <a:ext cx="4445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 核心流量特征</a:t>
            </a:r>
            <a:endParaRPr lang="en-US" sz="1100"/>
          </a:p>
        </p:txBody>
      </p:sp>
      <p:sp>
        <p:nvSpPr>
          <p:cNvPr id="22" name="AutoShape 22"/>
          <p:cNvSpPr/>
          <p:nvPr/>
        </p:nvSpPr>
        <p:spPr>
          <a:xfrm>
            <a:off x="6604000" y="5676900"/>
            <a:ext cx="4445000" cy="50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向广播地址发送大量Probe Request帧；响应帧可暴露客户端MAC地址及感兴趣的SSID。</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伪装与窃听：Evil Twin（邪恶孪生）攻击</a:t>
            </a:r>
            <a:endParaRPr lang="en-US" sz="1100"/>
          </a:p>
        </p:txBody>
      </p:sp>
      <p:sp>
        <p:nvSpPr>
          <p:cNvPr id="3" name="AutoShape 3"/>
          <p:cNvSpPr/>
          <p:nvPr/>
        </p:nvSpPr>
        <p:spPr>
          <a:xfrm>
            <a:off x="762000" y="1397000"/>
            <a:ext cx="508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▍攻击原理与过程</a:t>
            </a:r>
            <a:endParaRPr lang="en-US" sz="1100"/>
          </a:p>
        </p:txBody>
      </p:sp>
      <p:sp>
        <p:nvSpPr>
          <p:cNvPr id="4" name="AutoShape 4"/>
          <p:cNvSpPr/>
          <p:nvPr/>
        </p:nvSpPr>
        <p:spPr>
          <a:xfrm>
            <a:off x="762000" y="1905000"/>
            <a:ext cx="5207000" cy="1016000"/>
          </a:xfrm>
          <a:prstGeom prst="roundRect">
            <a:avLst>
              <a:gd name="adj" fmla="val 15000"/>
            </a:avLst>
          </a:prstGeom>
          <a:solidFill>
            <a:srgbClr val="FFFFFF">
              <a:alpha val="100000"/>
            </a:srgbClr>
          </a:solidFill>
          <a:ln w="25400" cap="flat" cmpd="sng">
            <a:noFill/>
            <a:prstDash val="solid"/>
            <a:round/>
          </a:ln>
          <a:effectLst>
            <a:outerShdw blurRad="152400" dist="50800" dir="2700000" algn="tl" rotWithShape="0">
              <a:srgbClr val="000000">
                <a:alpha val="6000"/>
              </a:srgbClr>
            </a:outerShdw>
          </a:effectLst>
        </p:spPr>
        <p:txBody>
          <a:bodyPr vert="horz" wrap="square" lIns="63500" tIns="63500" rIns="63500" bIns="63500" rtlCol="0" anchor="ctr"/>
          <a:lstStyle/>
          <a:p>
            <a:pPr algn="ctr">
              <a:defRPr/>
            </a:pPr>
          </a:p>
        </p:txBody>
      </p:sp>
      <p:sp>
        <p:nvSpPr>
          <p:cNvPr id="5" name="AutoShape 5"/>
          <p:cNvSpPr/>
          <p:nvPr/>
        </p:nvSpPr>
        <p:spPr>
          <a:xfrm>
            <a:off x="1016000" y="2108200"/>
            <a:ext cx="609600" cy="609600"/>
          </a:xfrm>
          <a:prstGeom prst="ellipse">
            <a:avLst/>
          </a:prstGeom>
          <a:solidFill>
            <a:srgbClr val="0052CC">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68400" y="2260600"/>
            <a:ext cx="304800" cy="304800"/>
          </a:xfrm>
          <a:prstGeom prst="rect">
            <a:avLst/>
          </a:prstGeom>
        </p:spPr>
      </p:pic>
      <p:sp>
        <p:nvSpPr>
          <p:cNvPr id="7" name="AutoShape 7"/>
          <p:cNvSpPr/>
          <p:nvPr/>
        </p:nvSpPr>
        <p:spPr>
          <a:xfrm>
            <a:off x="1778000" y="2057400"/>
            <a:ext cx="3937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01. 信息嗅探 (Sniffing)</a:t>
            </a:r>
            <a:endParaRPr lang="en-US" sz="1100"/>
          </a:p>
        </p:txBody>
      </p:sp>
      <p:sp>
        <p:nvSpPr>
          <p:cNvPr id="8" name="AutoShape 8"/>
          <p:cNvSpPr/>
          <p:nvPr/>
        </p:nvSpPr>
        <p:spPr>
          <a:xfrm>
            <a:off x="1778000" y="2413000"/>
            <a:ext cx="3937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攻击者通过监听信道，非法获取周围合法AP的SSID、工作信道、加密方式等关键参数。</a:t>
            </a:r>
            <a:endParaRPr lang="en-US" sz="1100"/>
          </a:p>
        </p:txBody>
      </p:sp>
      <p:sp>
        <p:nvSpPr>
          <p:cNvPr id="9" name="AutoShape 9"/>
          <p:cNvSpPr/>
          <p:nvPr/>
        </p:nvSpPr>
        <p:spPr>
          <a:xfrm>
            <a:off x="762000" y="3048000"/>
            <a:ext cx="5207000" cy="1016000"/>
          </a:xfrm>
          <a:prstGeom prst="roundRect">
            <a:avLst>
              <a:gd name="adj" fmla="val 15000"/>
            </a:avLst>
          </a:prstGeom>
          <a:solidFill>
            <a:srgbClr val="FFFFFF">
              <a:alpha val="100000"/>
            </a:srgbClr>
          </a:solidFill>
          <a:ln w="25400" cap="flat" cmpd="sng">
            <a:noFill/>
            <a:prstDash val="solid"/>
            <a:round/>
          </a:ln>
          <a:effectLst>
            <a:outerShdw blurRad="152400" dist="50800" dir="2700000" algn="tl" rotWithShape="0">
              <a:srgbClr val="000000">
                <a:alpha val="6000"/>
              </a:srgbClr>
            </a:outerShdw>
          </a:effectLst>
        </p:spPr>
        <p:txBody>
          <a:bodyPr vert="horz" wrap="square" lIns="63500" tIns="63500" rIns="63500" bIns="63500" rtlCol="0" anchor="ctr"/>
          <a:lstStyle/>
          <a:p>
            <a:pPr algn="ctr">
              <a:defRPr/>
            </a:pPr>
          </a:p>
        </p:txBody>
      </p:sp>
      <p:sp>
        <p:nvSpPr>
          <p:cNvPr id="10" name="AutoShape 10"/>
          <p:cNvSpPr/>
          <p:nvPr/>
        </p:nvSpPr>
        <p:spPr>
          <a:xfrm>
            <a:off x="1016000" y="3251200"/>
            <a:ext cx="609600" cy="609600"/>
          </a:xfrm>
          <a:prstGeom prst="ellipse">
            <a:avLst/>
          </a:prstGeom>
          <a:solidFill>
            <a:srgbClr val="0052CC">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68400" y="3403600"/>
            <a:ext cx="304800" cy="304800"/>
          </a:xfrm>
          <a:prstGeom prst="rect">
            <a:avLst/>
          </a:prstGeom>
        </p:spPr>
      </p:pic>
      <p:sp>
        <p:nvSpPr>
          <p:cNvPr id="12" name="AutoShape 12"/>
          <p:cNvSpPr/>
          <p:nvPr/>
        </p:nvSpPr>
        <p:spPr>
          <a:xfrm>
            <a:off x="1778000" y="3200400"/>
            <a:ext cx="3937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02. 恶意克隆 (Cloning)</a:t>
            </a:r>
            <a:endParaRPr lang="en-US" sz="1100"/>
          </a:p>
        </p:txBody>
      </p:sp>
      <p:sp>
        <p:nvSpPr>
          <p:cNvPr id="13" name="AutoShape 13"/>
          <p:cNvSpPr/>
          <p:nvPr/>
        </p:nvSpPr>
        <p:spPr>
          <a:xfrm>
            <a:off x="1778000" y="3556000"/>
            <a:ext cx="3937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在同信道部署一个SSID与合法AP完全相同的恶意热点，并配置更强的信号强度以吸引连接。</a:t>
            </a:r>
            <a:endParaRPr lang="en-US" sz="1100"/>
          </a:p>
        </p:txBody>
      </p:sp>
      <p:sp>
        <p:nvSpPr>
          <p:cNvPr id="14" name="AutoShape 14"/>
          <p:cNvSpPr/>
          <p:nvPr/>
        </p:nvSpPr>
        <p:spPr>
          <a:xfrm>
            <a:off x="762000" y="4191000"/>
            <a:ext cx="5207000" cy="1016000"/>
          </a:xfrm>
          <a:prstGeom prst="roundRect">
            <a:avLst>
              <a:gd name="adj" fmla="val 15000"/>
            </a:avLst>
          </a:prstGeom>
          <a:solidFill>
            <a:srgbClr val="FFFFFF">
              <a:alpha val="100000"/>
            </a:srgbClr>
          </a:solidFill>
          <a:ln w="25400" cap="flat" cmpd="sng">
            <a:noFill/>
            <a:prstDash val="solid"/>
            <a:round/>
          </a:ln>
          <a:effectLst>
            <a:outerShdw blurRad="152400" dist="50800" dir="2700000" algn="tl" rotWithShape="0">
              <a:srgbClr val="000000">
                <a:alpha val="6000"/>
              </a:srgbClr>
            </a:outerShdw>
          </a:effectLst>
        </p:spPr>
        <p:txBody>
          <a:bodyPr vert="horz" wrap="square" lIns="63500" tIns="63500" rIns="63500" bIns="63500" rtlCol="0" anchor="ctr"/>
          <a:lstStyle/>
          <a:p>
            <a:pPr algn="ctr">
              <a:defRPr/>
            </a:pPr>
          </a:p>
        </p:txBody>
      </p:sp>
      <p:sp>
        <p:nvSpPr>
          <p:cNvPr id="15" name="AutoShape 15"/>
          <p:cNvSpPr/>
          <p:nvPr/>
        </p:nvSpPr>
        <p:spPr>
          <a:xfrm>
            <a:off x="1016000" y="4394200"/>
            <a:ext cx="609600" cy="609600"/>
          </a:xfrm>
          <a:prstGeom prst="ellipse">
            <a:avLst/>
          </a:prstGeom>
          <a:solidFill>
            <a:srgbClr val="0052CC">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68400" y="4546600"/>
            <a:ext cx="304800" cy="304800"/>
          </a:xfrm>
          <a:prstGeom prst="rect">
            <a:avLst/>
          </a:prstGeom>
        </p:spPr>
      </p:pic>
      <p:sp>
        <p:nvSpPr>
          <p:cNvPr id="17" name="AutoShape 17"/>
          <p:cNvSpPr/>
          <p:nvPr/>
        </p:nvSpPr>
        <p:spPr>
          <a:xfrm>
            <a:off x="1778000" y="4343400"/>
            <a:ext cx="3937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03. 连接诱骗 (Deception)</a:t>
            </a:r>
            <a:endParaRPr lang="en-US" sz="1100"/>
          </a:p>
        </p:txBody>
      </p:sp>
      <p:sp>
        <p:nvSpPr>
          <p:cNvPr id="18" name="AutoShape 18"/>
          <p:cNvSpPr/>
          <p:nvPr/>
        </p:nvSpPr>
        <p:spPr>
          <a:xfrm>
            <a:off x="1778000" y="4699000"/>
            <a:ext cx="3937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用户设备的Wi-Fi管理程序会优先选择信号更强的网络，从而自动或手动连接到恶意AP。</a:t>
            </a:r>
            <a:endParaRPr lang="en-US" sz="1100"/>
          </a:p>
        </p:txBody>
      </p:sp>
      <p:sp>
        <p:nvSpPr>
          <p:cNvPr id="19" name="AutoShape 19"/>
          <p:cNvSpPr/>
          <p:nvPr/>
        </p:nvSpPr>
        <p:spPr>
          <a:xfrm>
            <a:off x="762000" y="5334000"/>
            <a:ext cx="5207000" cy="1016000"/>
          </a:xfrm>
          <a:prstGeom prst="roundRect">
            <a:avLst>
              <a:gd name="adj" fmla="val 15000"/>
            </a:avLst>
          </a:prstGeom>
          <a:solidFill>
            <a:srgbClr val="FFFFFF">
              <a:alpha val="100000"/>
            </a:srgbClr>
          </a:solidFill>
          <a:ln w="25400" cap="flat" cmpd="sng">
            <a:noFill/>
            <a:prstDash val="solid"/>
            <a:round/>
          </a:ln>
          <a:effectLst>
            <a:outerShdw blurRad="152400" dist="50800" dir="2700000" algn="tl" rotWithShape="0">
              <a:srgbClr val="000000">
                <a:alpha val="6000"/>
              </a:srgbClr>
            </a:outerShdw>
          </a:effectLst>
        </p:spPr>
        <p:txBody>
          <a:bodyPr vert="horz" wrap="square" lIns="63500" tIns="63500" rIns="63500" bIns="63500" rtlCol="0" anchor="ctr"/>
          <a:lstStyle/>
          <a:p>
            <a:pPr algn="ctr">
              <a:defRPr/>
            </a:pPr>
          </a:p>
        </p:txBody>
      </p:sp>
      <p:sp>
        <p:nvSpPr>
          <p:cNvPr id="20" name="AutoShape 20"/>
          <p:cNvSpPr/>
          <p:nvPr/>
        </p:nvSpPr>
        <p:spPr>
          <a:xfrm>
            <a:off x="1016000" y="5537200"/>
            <a:ext cx="609600" cy="609600"/>
          </a:xfrm>
          <a:prstGeom prst="ellipse">
            <a:avLst/>
          </a:prstGeom>
          <a:solidFill>
            <a:srgbClr val="0052CC">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168400" y="5689600"/>
            <a:ext cx="304800" cy="304800"/>
          </a:xfrm>
          <a:prstGeom prst="rect">
            <a:avLst/>
          </a:prstGeom>
        </p:spPr>
      </p:pic>
      <p:sp>
        <p:nvSpPr>
          <p:cNvPr id="22" name="AutoShape 22"/>
          <p:cNvSpPr/>
          <p:nvPr/>
        </p:nvSpPr>
        <p:spPr>
          <a:xfrm>
            <a:off x="1778000" y="5486400"/>
            <a:ext cx="3937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04. 流量窃听 (Eavesdropping)</a:t>
            </a:r>
            <a:endParaRPr lang="en-US" sz="1100"/>
          </a:p>
        </p:txBody>
      </p:sp>
      <p:sp>
        <p:nvSpPr>
          <p:cNvPr id="23" name="AutoShape 23"/>
          <p:cNvSpPr/>
          <p:nvPr/>
        </p:nvSpPr>
        <p:spPr>
          <a:xfrm>
            <a:off x="1778000" y="5842000"/>
            <a:ext cx="3937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攻击者处于“中间人”位置，能够拦截、解密或篡改用户在互联网上传输的所有敏感数据。</a:t>
            </a:r>
            <a:endParaRPr lang="en-US" sz="1100"/>
          </a:p>
        </p:txBody>
      </p:sp>
      <p:sp>
        <p:nvSpPr>
          <p:cNvPr id="24" name="AutoShape 24"/>
          <p:cNvSpPr/>
          <p:nvPr/>
        </p:nvSpPr>
        <p:spPr>
          <a:xfrm>
            <a:off x="6223000" y="1397000"/>
            <a:ext cx="508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▍核心流量特征识别</a:t>
            </a:r>
            <a:endParaRPr lang="en-US" sz="1100"/>
          </a:p>
        </p:txBody>
      </p:sp>
      <p:sp>
        <p:nvSpPr>
          <p:cNvPr id="25" name="AutoShape 25"/>
          <p:cNvSpPr/>
          <p:nvPr/>
        </p:nvSpPr>
        <p:spPr>
          <a:xfrm>
            <a:off x="6223000" y="1905000"/>
            <a:ext cx="4953000" cy="1270000"/>
          </a:xfrm>
          <a:prstGeom prst="roundRect">
            <a:avLst>
              <a:gd name="adj" fmla="val 12000"/>
            </a:avLst>
          </a:prstGeom>
          <a:solidFill>
            <a:srgbClr val="FFFFFF">
              <a:alpha val="100000"/>
            </a:srgbClr>
          </a:solidFill>
          <a:ln w="25400" cap="flat" cmpd="sng">
            <a:noFill/>
            <a:prstDash val="solid"/>
            <a:round/>
          </a:ln>
          <a:effectLst>
            <a:outerShdw blurRad="152400" dist="50800" dir="2700000" algn="tl" rotWithShape="0">
              <a:srgbClr val="000000">
                <a:alpha val="6000"/>
              </a:srgbClr>
            </a:outerShdw>
          </a:effectLst>
        </p:spPr>
        <p:txBody>
          <a:bodyPr vert="horz" wrap="square" lIns="63500" tIns="63500" rIns="63500" bIns="63500" rtlCol="0" anchor="ctr"/>
          <a:lstStyle/>
          <a:p>
            <a:pPr algn="ctr">
              <a:defRPr/>
            </a:pPr>
          </a:p>
        </p:txBody>
      </p:sp>
      <p:sp>
        <p:nvSpPr>
          <p:cNvPr id="26" name="AutoShape 26"/>
          <p:cNvSpPr/>
          <p:nvPr/>
        </p:nvSpPr>
        <p:spPr>
          <a:xfrm>
            <a:off x="6223000" y="1905000"/>
            <a:ext cx="76200" cy="1270000"/>
          </a:xfrm>
          <a:prstGeom prst="roundRect">
            <a:avLst>
              <a:gd name="adj" fmla="val 200000"/>
            </a:avLst>
          </a:prstGeom>
          <a:solidFill>
            <a:srgbClr val="0052CC">
              <a:alpha val="100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6540500" y="2159000"/>
            <a:ext cx="762000" cy="762000"/>
          </a:xfrm>
          <a:prstGeom prst="ellipse">
            <a:avLst/>
          </a:prstGeom>
          <a:solidFill>
            <a:srgbClr val="E5F0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8" name="Picture 28"/>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731000" y="2349500"/>
            <a:ext cx="381000" cy="381000"/>
          </a:xfrm>
          <a:prstGeom prst="rect">
            <a:avLst/>
          </a:prstGeom>
        </p:spPr>
      </p:pic>
      <p:sp>
        <p:nvSpPr>
          <p:cNvPr id="29" name="AutoShape 29"/>
          <p:cNvSpPr/>
          <p:nvPr/>
        </p:nvSpPr>
        <p:spPr>
          <a:xfrm>
            <a:off x="7493000" y="2095500"/>
            <a:ext cx="355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异常的重复 SSID</a:t>
            </a:r>
            <a:endParaRPr lang="en-US" sz="1100"/>
          </a:p>
        </p:txBody>
      </p:sp>
      <p:sp>
        <p:nvSpPr>
          <p:cNvPr id="30" name="AutoShape 30"/>
          <p:cNvSpPr/>
          <p:nvPr/>
        </p:nvSpPr>
        <p:spPr>
          <a:xfrm>
            <a:off x="7493000" y="2476500"/>
            <a:ext cx="3556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同一覆盖区域内，监测到两个或多个具有完全相同SSID，但BSSID（MAC地址）完全不同的接入点。</a:t>
            </a:r>
            <a:endParaRPr lang="en-US" sz="1100"/>
          </a:p>
        </p:txBody>
      </p:sp>
      <p:sp>
        <p:nvSpPr>
          <p:cNvPr id="31" name="AutoShape 31"/>
          <p:cNvSpPr/>
          <p:nvPr/>
        </p:nvSpPr>
        <p:spPr>
          <a:xfrm>
            <a:off x="6223000" y="3429000"/>
            <a:ext cx="4953000" cy="1270000"/>
          </a:xfrm>
          <a:prstGeom prst="roundRect">
            <a:avLst>
              <a:gd name="adj" fmla="val 12000"/>
            </a:avLst>
          </a:prstGeom>
          <a:solidFill>
            <a:srgbClr val="FFFFFF">
              <a:alpha val="100000"/>
            </a:srgbClr>
          </a:solidFill>
          <a:ln w="25400" cap="flat" cmpd="sng">
            <a:noFill/>
            <a:prstDash val="solid"/>
            <a:round/>
          </a:ln>
          <a:effectLst>
            <a:outerShdw blurRad="152400" dist="50800" dir="2700000" algn="tl" rotWithShape="0">
              <a:srgbClr val="000000">
                <a:alpha val="6000"/>
              </a:srgbClr>
            </a:outerShdw>
          </a:effectLst>
        </p:spPr>
        <p:txBody>
          <a:bodyPr vert="horz" wrap="square" lIns="63500" tIns="63500" rIns="63500" bIns="63500" rtlCol="0" anchor="ctr"/>
          <a:lstStyle/>
          <a:p>
            <a:pPr algn="ctr">
              <a:defRPr/>
            </a:pPr>
          </a:p>
        </p:txBody>
      </p:sp>
      <p:sp>
        <p:nvSpPr>
          <p:cNvPr id="32" name="AutoShape 32"/>
          <p:cNvSpPr/>
          <p:nvPr/>
        </p:nvSpPr>
        <p:spPr>
          <a:xfrm>
            <a:off x="6223000" y="3429000"/>
            <a:ext cx="76200" cy="1270000"/>
          </a:xfrm>
          <a:prstGeom prst="roundRect">
            <a:avLst>
              <a:gd name="adj" fmla="val 200000"/>
            </a:avLst>
          </a:prstGeom>
          <a:solidFill>
            <a:srgbClr val="0052CC">
              <a:alpha val="100000"/>
            </a:srgbClr>
          </a:solidFill>
          <a:ln w="25400" cap="flat" cmpd="sng">
            <a:noFill/>
            <a:prstDash val="solid"/>
            <a:round/>
          </a:ln>
        </p:spPr>
        <p:txBody>
          <a:bodyPr vert="horz" wrap="square" lIns="63500" tIns="63500" rIns="63500" bIns="63500" rtlCol="0" anchor="ctr"/>
          <a:lstStyle/>
          <a:p>
            <a:pPr algn="ctr">
              <a:defRPr/>
            </a:pPr>
          </a:p>
        </p:txBody>
      </p:sp>
      <p:sp>
        <p:nvSpPr>
          <p:cNvPr id="33" name="AutoShape 33"/>
          <p:cNvSpPr/>
          <p:nvPr/>
        </p:nvSpPr>
        <p:spPr>
          <a:xfrm>
            <a:off x="6540500" y="3683000"/>
            <a:ext cx="762000" cy="762000"/>
          </a:xfrm>
          <a:prstGeom prst="ellipse">
            <a:avLst/>
          </a:prstGeom>
          <a:solidFill>
            <a:srgbClr val="E5F0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34" name="Picture 34"/>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731000" y="3873500"/>
            <a:ext cx="381000" cy="381000"/>
          </a:xfrm>
          <a:prstGeom prst="rect">
            <a:avLst/>
          </a:prstGeom>
        </p:spPr>
      </p:pic>
      <p:sp>
        <p:nvSpPr>
          <p:cNvPr id="35" name="AutoShape 35"/>
          <p:cNvSpPr/>
          <p:nvPr/>
        </p:nvSpPr>
        <p:spPr>
          <a:xfrm>
            <a:off x="7493000" y="3619500"/>
            <a:ext cx="355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显著的信号强度差异</a:t>
            </a:r>
            <a:endParaRPr lang="en-US" sz="1100"/>
          </a:p>
        </p:txBody>
      </p:sp>
      <p:sp>
        <p:nvSpPr>
          <p:cNvPr id="36" name="AutoShape 36"/>
          <p:cNvSpPr/>
          <p:nvPr/>
        </p:nvSpPr>
        <p:spPr>
          <a:xfrm>
            <a:off x="7493000" y="4000500"/>
            <a:ext cx="3556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恶意AP的信号强度（RSSI）通常远高于合法AP。攻击者常使用大功率设备，制造“更优”连接假象。</a:t>
            </a:r>
            <a:endParaRPr lang="en-US" sz="1100"/>
          </a:p>
        </p:txBody>
      </p:sp>
      <p:sp>
        <p:nvSpPr>
          <p:cNvPr id="37" name="AutoShape 37"/>
          <p:cNvSpPr/>
          <p:nvPr/>
        </p:nvSpPr>
        <p:spPr>
          <a:xfrm>
            <a:off x="6223000" y="4953000"/>
            <a:ext cx="4953000" cy="1270000"/>
          </a:xfrm>
          <a:prstGeom prst="roundRect">
            <a:avLst>
              <a:gd name="adj" fmla="val 12000"/>
            </a:avLst>
          </a:prstGeom>
          <a:solidFill>
            <a:srgbClr val="FFFFFF">
              <a:alpha val="100000"/>
            </a:srgbClr>
          </a:solidFill>
          <a:ln w="25400" cap="flat" cmpd="sng">
            <a:noFill/>
            <a:prstDash val="solid"/>
            <a:round/>
          </a:ln>
          <a:effectLst>
            <a:outerShdw blurRad="152400" dist="50800" dir="2700000" algn="tl" rotWithShape="0">
              <a:srgbClr val="000000">
                <a:alpha val="6000"/>
              </a:srgbClr>
            </a:outerShdw>
          </a:effectLst>
        </p:spPr>
        <p:txBody>
          <a:bodyPr vert="horz" wrap="square" lIns="63500" tIns="63500" rIns="63500" bIns="63500" rtlCol="0" anchor="ctr"/>
          <a:lstStyle/>
          <a:p>
            <a:pPr algn="ctr">
              <a:defRPr/>
            </a:pPr>
          </a:p>
        </p:txBody>
      </p:sp>
      <p:sp>
        <p:nvSpPr>
          <p:cNvPr id="38" name="AutoShape 38"/>
          <p:cNvSpPr/>
          <p:nvPr/>
        </p:nvSpPr>
        <p:spPr>
          <a:xfrm>
            <a:off x="6223000" y="4953000"/>
            <a:ext cx="76200" cy="1270000"/>
          </a:xfrm>
          <a:prstGeom prst="roundRect">
            <a:avLst>
              <a:gd name="adj" fmla="val 200000"/>
            </a:avLst>
          </a:prstGeom>
          <a:solidFill>
            <a:srgbClr val="0052CC">
              <a:alpha val="100000"/>
            </a:srgbClr>
          </a:solidFill>
          <a:ln w="25400" cap="flat" cmpd="sng">
            <a:noFill/>
            <a:prstDash val="solid"/>
            <a:round/>
          </a:ln>
        </p:spPr>
        <p:txBody>
          <a:bodyPr vert="horz" wrap="square" lIns="63500" tIns="63500" rIns="63500" bIns="63500" rtlCol="0" anchor="ctr"/>
          <a:lstStyle/>
          <a:p>
            <a:pPr algn="ctr">
              <a:defRPr/>
            </a:pPr>
          </a:p>
        </p:txBody>
      </p:sp>
      <p:sp>
        <p:nvSpPr>
          <p:cNvPr id="39" name="AutoShape 39"/>
          <p:cNvSpPr/>
          <p:nvPr/>
        </p:nvSpPr>
        <p:spPr>
          <a:xfrm>
            <a:off x="6540500" y="5207000"/>
            <a:ext cx="762000" cy="762000"/>
          </a:xfrm>
          <a:prstGeom prst="ellipse">
            <a:avLst/>
          </a:prstGeom>
          <a:solidFill>
            <a:srgbClr val="E5F0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40" name="Picture 40"/>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731000" y="5397500"/>
            <a:ext cx="381000" cy="381000"/>
          </a:xfrm>
          <a:prstGeom prst="rect">
            <a:avLst/>
          </a:prstGeom>
        </p:spPr>
      </p:pic>
      <p:sp>
        <p:nvSpPr>
          <p:cNvPr id="41" name="AutoShape 41"/>
          <p:cNvSpPr/>
          <p:nvPr/>
        </p:nvSpPr>
        <p:spPr>
          <a:xfrm>
            <a:off x="7493000" y="5143500"/>
            <a:ext cx="355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突发的关联请求风暴</a:t>
            </a:r>
            <a:endParaRPr lang="en-US" sz="1100"/>
          </a:p>
        </p:txBody>
      </p:sp>
      <p:sp>
        <p:nvSpPr>
          <p:cNvPr id="42" name="AutoShape 42"/>
          <p:cNvSpPr/>
          <p:nvPr/>
        </p:nvSpPr>
        <p:spPr>
          <a:xfrm>
            <a:off x="7493000" y="5524500"/>
            <a:ext cx="3556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短时间内，大量客户端设备向新出现的恶意BSSID发起认证和关联请求，网络连接行为出现异常波动。</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沉默的大多数：IoT设备的异常“心跳”</a:t>
            </a:r>
            <a:endParaRPr lang="en-US" sz="1100"/>
          </a:p>
        </p:txBody>
      </p:sp>
      <p:sp>
        <p:nvSpPr>
          <p:cNvPr id="3" name="AutoShape 3"/>
          <p:cNvSpPr/>
          <p:nvPr/>
        </p:nvSpPr>
        <p:spPr>
          <a:xfrm>
            <a:off x="762000" y="1524000"/>
            <a:ext cx="4826000" cy="1397000"/>
          </a:xfrm>
          <a:prstGeom prst="roundRect">
            <a:avLst>
              <a:gd name="adj" fmla="val 10909"/>
            </a:avLst>
          </a:prstGeom>
          <a:solidFill>
            <a:srgbClr val="EBF3FF">
              <a:alpha val="100000"/>
            </a:srgbClr>
          </a:solidFill>
          <a:ln w="25400" cap="flat" cmpd="sng">
            <a:noFill/>
            <a:prstDash val="solid"/>
            <a:round/>
          </a:ln>
          <a:effectLst>
            <a:outerShdw blurRad="190500" dist="50800" dir="5400000" algn="tl" rotWithShape="0">
              <a:srgbClr val="0052CC">
                <a:alpha val="10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841500"/>
            <a:ext cx="609600" cy="609600"/>
          </a:xfrm>
          <a:prstGeom prst="rect">
            <a:avLst/>
          </a:prstGeom>
        </p:spPr>
      </p:pic>
      <p:sp>
        <p:nvSpPr>
          <p:cNvPr id="5" name="AutoShape 5"/>
          <p:cNvSpPr/>
          <p:nvPr/>
        </p:nvSpPr>
        <p:spPr>
          <a:xfrm>
            <a:off x="1841500" y="1714500"/>
            <a:ext cx="355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数量庞大 · 分布广泛</a:t>
            </a:r>
            <a:endParaRPr lang="en-US" sz="1100"/>
          </a:p>
        </p:txBody>
      </p:sp>
      <p:sp>
        <p:nvSpPr>
          <p:cNvPr id="6" name="AutoShape 6"/>
          <p:cNvSpPr/>
          <p:nvPr/>
        </p:nvSpPr>
        <p:spPr>
          <a:xfrm>
            <a:off x="1841500" y="2159000"/>
            <a:ext cx="3429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摄像头、打印机、传感器等智能终端构成网络重要部分，是互联网中“沉默”的主体。</a:t>
            </a:r>
            <a:endParaRPr lang="en-US" sz="1100"/>
          </a:p>
        </p:txBody>
      </p:sp>
      <p:sp>
        <p:nvSpPr>
          <p:cNvPr id="7" name="AutoShape 7"/>
          <p:cNvSpPr/>
          <p:nvPr/>
        </p:nvSpPr>
        <p:spPr>
          <a:xfrm>
            <a:off x="762000" y="3175000"/>
            <a:ext cx="4826000" cy="1397000"/>
          </a:xfrm>
          <a:prstGeom prst="roundRect">
            <a:avLst>
              <a:gd name="adj" fmla="val 10909"/>
            </a:avLst>
          </a:prstGeom>
          <a:solidFill>
            <a:srgbClr val="EBF3FF">
              <a:alpha val="100000"/>
            </a:srgbClr>
          </a:solidFill>
          <a:ln w="25400" cap="flat" cmpd="sng">
            <a:noFill/>
            <a:prstDash val="solid"/>
            <a:round/>
          </a:ln>
          <a:effectLst>
            <a:outerShdw blurRad="190500" dist="50800" dir="5400000" algn="tl" rotWithShape="0">
              <a:srgbClr val="0052CC">
                <a:alpha val="10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492500"/>
            <a:ext cx="609600" cy="609600"/>
          </a:xfrm>
          <a:prstGeom prst="rect">
            <a:avLst/>
          </a:prstGeom>
        </p:spPr>
      </p:pic>
      <p:sp>
        <p:nvSpPr>
          <p:cNvPr id="9" name="AutoShape 9"/>
          <p:cNvSpPr/>
          <p:nvPr/>
        </p:nvSpPr>
        <p:spPr>
          <a:xfrm>
            <a:off x="1841500" y="3365500"/>
            <a:ext cx="355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防御薄弱 · 易被攻陷</a:t>
            </a:r>
            <a:endParaRPr lang="en-US" sz="1100"/>
          </a:p>
        </p:txBody>
      </p:sp>
      <p:sp>
        <p:nvSpPr>
          <p:cNvPr id="10" name="AutoShape 10"/>
          <p:cNvSpPr/>
          <p:nvPr/>
        </p:nvSpPr>
        <p:spPr>
          <a:xfrm>
            <a:off x="1841500" y="3810000"/>
            <a:ext cx="3429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普遍存在弱密码、固件未更新、缺乏加密机制等问题，极易成为攻击者的“软柿子”。</a:t>
            </a:r>
            <a:endParaRPr lang="en-US" sz="1100"/>
          </a:p>
        </p:txBody>
      </p:sp>
      <p:sp>
        <p:nvSpPr>
          <p:cNvPr id="11" name="AutoShape 11"/>
          <p:cNvSpPr/>
          <p:nvPr/>
        </p:nvSpPr>
        <p:spPr>
          <a:xfrm>
            <a:off x="762000" y="4826000"/>
            <a:ext cx="4826000" cy="1397000"/>
          </a:xfrm>
          <a:prstGeom prst="roundRect">
            <a:avLst>
              <a:gd name="adj" fmla="val 10909"/>
            </a:avLst>
          </a:prstGeom>
          <a:solidFill>
            <a:srgbClr val="EBF3FF">
              <a:alpha val="100000"/>
            </a:srgbClr>
          </a:solidFill>
          <a:ln w="25400" cap="flat" cmpd="sng">
            <a:noFill/>
            <a:prstDash val="solid"/>
            <a:round/>
          </a:ln>
          <a:effectLst>
            <a:outerShdw blurRad="190500" dist="50800" dir="5400000" algn="tl" rotWithShape="0">
              <a:srgbClr val="0052CC">
                <a:alpha val="10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5143500"/>
            <a:ext cx="609600" cy="609600"/>
          </a:xfrm>
          <a:prstGeom prst="rect">
            <a:avLst/>
          </a:prstGeom>
        </p:spPr>
      </p:pic>
      <p:sp>
        <p:nvSpPr>
          <p:cNvPr id="13" name="AutoShape 13"/>
          <p:cNvSpPr/>
          <p:nvPr/>
        </p:nvSpPr>
        <p:spPr>
          <a:xfrm>
            <a:off x="1841500" y="5016500"/>
            <a:ext cx="355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行为规律 · 心跳稳定</a:t>
            </a:r>
            <a:endParaRPr lang="en-US" sz="1100"/>
          </a:p>
        </p:txBody>
      </p:sp>
      <p:sp>
        <p:nvSpPr>
          <p:cNvPr id="14" name="AutoShape 14"/>
          <p:cNvSpPr/>
          <p:nvPr/>
        </p:nvSpPr>
        <p:spPr>
          <a:xfrm>
            <a:off x="1841500" y="5461000"/>
            <a:ext cx="3429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正常状态下通常具有极强的规律性，如每小时固定发送一次“心跳”包，波动极小。</a:t>
            </a:r>
            <a:endParaRPr lang="en-US" sz="1100"/>
          </a:p>
        </p:txBody>
      </p:sp>
      <p:sp>
        <p:nvSpPr>
          <p:cNvPr id="15" name="AutoShape 15"/>
          <p:cNvSpPr/>
          <p:nvPr/>
        </p:nvSpPr>
        <p:spPr>
          <a:xfrm>
            <a:off x="5969000" y="1524000"/>
            <a:ext cx="5461000" cy="2286000"/>
          </a:xfrm>
          <a:prstGeom prst="roundRect">
            <a:avLst>
              <a:gd name="adj" fmla="val 6666"/>
            </a:avLst>
          </a:prstGeom>
          <a:solidFill>
            <a:srgbClr val="F1F3F4">
              <a:alpha val="100000"/>
            </a:srgbClr>
          </a:solidFill>
          <a:ln w="12700" cap="flat" cmpd="sng">
            <a:solidFill>
              <a:srgbClr val="DCE0E5">
                <a:alpha val="100000"/>
              </a:srgbClr>
            </a:solid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223000" y="1841500"/>
            <a:ext cx="1016000" cy="1016000"/>
          </a:xfrm>
          <a:prstGeom prst="rect">
            <a:avLst/>
          </a:prstGeom>
        </p:spPr>
      </p:pic>
      <p:sp>
        <p:nvSpPr>
          <p:cNvPr id="17" name="AutoShape 17"/>
          <p:cNvSpPr/>
          <p:nvPr/>
        </p:nvSpPr>
        <p:spPr>
          <a:xfrm>
            <a:off x="7493000" y="2032000"/>
            <a:ext cx="355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流量异常监测可视化</a:t>
            </a:r>
            <a:endParaRPr lang="en-US" sz="1100"/>
          </a:p>
        </p:txBody>
      </p:sp>
      <p:sp>
        <p:nvSpPr>
          <p:cNvPr id="18" name="AutoShape 18"/>
          <p:cNvSpPr/>
          <p:nvPr/>
        </p:nvSpPr>
        <p:spPr>
          <a:xfrm>
            <a:off x="7493000" y="2603500"/>
            <a:ext cx="3556000" cy="762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2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通过分析设备“心跳”曲线，入侵后流量频率、大小会出现显著的非规律性突变。</a:t>
            </a:r>
            <a:endParaRPr lang="en-US" sz="1100"/>
          </a:p>
        </p:txBody>
      </p:sp>
      <p:sp>
        <p:nvSpPr>
          <p:cNvPr id="19" name="AutoShape 19"/>
          <p:cNvSpPr/>
          <p:nvPr/>
        </p:nvSpPr>
        <p:spPr>
          <a:xfrm>
            <a:off x="5969000" y="4064000"/>
            <a:ext cx="2667000" cy="1206500"/>
          </a:xfrm>
          <a:prstGeom prst="roundRect">
            <a:avLst>
              <a:gd name="adj" fmla="val 12631"/>
            </a:avLst>
          </a:prstGeom>
          <a:solidFill>
            <a:srgbClr val="FFFFFF">
              <a:alpha val="100000"/>
            </a:srgbClr>
          </a:solidFill>
          <a:ln w="25400" cap="flat" cmpd="sng">
            <a:solidFill>
              <a:srgbClr val="EBF3FF">
                <a:alpha val="100000"/>
              </a:srgbClr>
            </a:solidFill>
            <a:prstDash val="solid"/>
            <a:round/>
          </a:ln>
          <a:effectLst>
            <a:outerShdw blurRad="127000" dist="25400" dir="5400000" algn="tl" rotWithShape="0">
              <a:srgbClr val="000000">
                <a:alpha val="5000"/>
              </a:srgbClr>
            </a:outerShdw>
          </a:effectLst>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159500" y="4318000"/>
            <a:ext cx="457200" cy="457200"/>
          </a:xfrm>
          <a:prstGeom prst="rect">
            <a:avLst/>
          </a:prstGeom>
        </p:spPr>
      </p:pic>
      <p:sp>
        <p:nvSpPr>
          <p:cNvPr id="21" name="AutoShape 21"/>
          <p:cNvSpPr/>
          <p:nvPr/>
        </p:nvSpPr>
        <p:spPr>
          <a:xfrm>
            <a:off x="6794500" y="4254500"/>
            <a:ext cx="17145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频率剧增</a:t>
            </a:r>
            <a:endParaRPr lang="en-US" sz="1100"/>
          </a:p>
        </p:txBody>
      </p:sp>
      <p:sp>
        <p:nvSpPr>
          <p:cNvPr id="22" name="AutoShape 22"/>
          <p:cNvSpPr/>
          <p:nvPr/>
        </p:nvSpPr>
        <p:spPr>
          <a:xfrm>
            <a:off x="6794500" y="4635500"/>
            <a:ext cx="17145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心跳从1次/时变为数十次/分</a:t>
            </a:r>
            <a:endParaRPr lang="en-US" sz="1100"/>
          </a:p>
        </p:txBody>
      </p:sp>
      <p:sp>
        <p:nvSpPr>
          <p:cNvPr id="23" name="AutoShape 23"/>
          <p:cNvSpPr/>
          <p:nvPr/>
        </p:nvSpPr>
        <p:spPr>
          <a:xfrm>
            <a:off x="8763000" y="4064000"/>
            <a:ext cx="2667000" cy="1206500"/>
          </a:xfrm>
          <a:prstGeom prst="roundRect">
            <a:avLst>
              <a:gd name="adj" fmla="val 12631"/>
            </a:avLst>
          </a:prstGeom>
          <a:solidFill>
            <a:srgbClr val="FFFFFF">
              <a:alpha val="100000"/>
            </a:srgbClr>
          </a:solidFill>
          <a:ln w="25400" cap="flat" cmpd="sng">
            <a:solidFill>
              <a:srgbClr val="EBF3FF">
                <a:alpha val="100000"/>
              </a:srgbClr>
            </a:solidFill>
            <a:prstDash val="solid"/>
            <a:round/>
          </a:ln>
          <a:effectLst>
            <a:outerShdw blurRad="127000" dist="25400" dir="5400000" algn="tl" rotWithShape="0">
              <a:srgbClr val="000000">
                <a:alpha val="5000"/>
              </a:srgbClr>
            </a:outerShdw>
          </a:effectLst>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953500" y="4318000"/>
            <a:ext cx="457200" cy="457200"/>
          </a:xfrm>
          <a:prstGeom prst="rect">
            <a:avLst/>
          </a:prstGeom>
        </p:spPr>
      </p:pic>
      <p:sp>
        <p:nvSpPr>
          <p:cNvPr id="25" name="AutoShape 25"/>
          <p:cNvSpPr/>
          <p:nvPr/>
        </p:nvSpPr>
        <p:spPr>
          <a:xfrm>
            <a:off x="9588500" y="4254500"/>
            <a:ext cx="17145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境外连接</a:t>
            </a:r>
            <a:endParaRPr lang="en-US" sz="1100"/>
          </a:p>
        </p:txBody>
      </p:sp>
      <p:sp>
        <p:nvSpPr>
          <p:cNvPr id="26" name="AutoShape 26"/>
          <p:cNvSpPr/>
          <p:nvPr/>
        </p:nvSpPr>
        <p:spPr>
          <a:xfrm>
            <a:off x="9588500" y="4635500"/>
            <a:ext cx="17145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与未知的境外IP进行大量通信</a:t>
            </a:r>
            <a:endParaRPr lang="en-US" sz="1100"/>
          </a:p>
        </p:txBody>
      </p:sp>
      <p:sp>
        <p:nvSpPr>
          <p:cNvPr id="27" name="AutoShape 27"/>
          <p:cNvSpPr/>
          <p:nvPr/>
        </p:nvSpPr>
        <p:spPr>
          <a:xfrm>
            <a:off x="5969000" y="5397500"/>
            <a:ext cx="2667000" cy="1206500"/>
          </a:xfrm>
          <a:prstGeom prst="roundRect">
            <a:avLst>
              <a:gd name="adj" fmla="val 12631"/>
            </a:avLst>
          </a:prstGeom>
          <a:solidFill>
            <a:srgbClr val="FFFFFF">
              <a:alpha val="100000"/>
            </a:srgbClr>
          </a:solidFill>
          <a:ln w="25400" cap="flat" cmpd="sng">
            <a:solidFill>
              <a:srgbClr val="EBF3FF">
                <a:alpha val="100000"/>
              </a:srgbClr>
            </a:solidFill>
            <a:prstDash val="solid"/>
            <a:round/>
          </a:ln>
          <a:effectLst>
            <a:outerShdw blurRad="127000" dist="25400" dir="5400000" algn="tl" rotWithShape="0">
              <a:srgbClr val="000000">
                <a:alpha val="5000"/>
              </a:srgbClr>
            </a:outerShdw>
          </a:effectLst>
        </p:spPr>
        <p:txBody>
          <a:bodyPr vert="horz" wrap="square" lIns="63500" tIns="63500" rIns="63500" bIns="63500" rtlCol="0" anchor="ctr"/>
          <a:lstStyle/>
          <a:p>
            <a:pPr algn="ctr">
              <a:defRPr/>
            </a:pPr>
          </a:p>
        </p:txBody>
      </p:sp>
      <p:pic>
        <p:nvPicPr>
          <p:cNvPr id="28" name="Picture 28"/>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159500" y="5651500"/>
            <a:ext cx="457200" cy="457200"/>
          </a:xfrm>
          <a:prstGeom prst="rect">
            <a:avLst/>
          </a:prstGeom>
        </p:spPr>
      </p:pic>
      <p:sp>
        <p:nvSpPr>
          <p:cNvPr id="29" name="AutoShape 29"/>
          <p:cNvSpPr/>
          <p:nvPr/>
        </p:nvSpPr>
        <p:spPr>
          <a:xfrm>
            <a:off x="6794500" y="5588000"/>
            <a:ext cx="17145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数据暴增</a:t>
            </a:r>
            <a:endParaRPr lang="en-US" sz="1100"/>
          </a:p>
        </p:txBody>
      </p:sp>
      <p:sp>
        <p:nvSpPr>
          <p:cNvPr id="30" name="AutoShape 30"/>
          <p:cNvSpPr/>
          <p:nvPr/>
        </p:nvSpPr>
        <p:spPr>
          <a:xfrm>
            <a:off x="6794500" y="5969000"/>
            <a:ext cx="17145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传输量从几十字节跃升至MB级</a:t>
            </a:r>
            <a:endParaRPr lang="en-US" sz="1100"/>
          </a:p>
        </p:txBody>
      </p:sp>
      <p:sp>
        <p:nvSpPr>
          <p:cNvPr id="31" name="AutoShape 31"/>
          <p:cNvSpPr/>
          <p:nvPr/>
        </p:nvSpPr>
        <p:spPr>
          <a:xfrm>
            <a:off x="8763000" y="5397500"/>
            <a:ext cx="2667000" cy="1206500"/>
          </a:xfrm>
          <a:prstGeom prst="roundRect">
            <a:avLst>
              <a:gd name="adj" fmla="val 12631"/>
            </a:avLst>
          </a:prstGeom>
          <a:solidFill>
            <a:srgbClr val="FFFFFF">
              <a:alpha val="100000"/>
            </a:srgbClr>
          </a:solidFill>
          <a:ln w="25400" cap="flat" cmpd="sng">
            <a:solidFill>
              <a:srgbClr val="EBF3FF">
                <a:alpha val="100000"/>
              </a:srgbClr>
            </a:solidFill>
            <a:prstDash val="solid"/>
            <a:round/>
          </a:ln>
          <a:effectLst>
            <a:outerShdw blurRad="127000" dist="25400" dir="5400000" algn="tl" rotWithShape="0">
              <a:srgbClr val="000000">
                <a:alpha val="5000"/>
              </a:srgbClr>
            </a:outerShdw>
          </a:effectLst>
        </p:spPr>
        <p:txBody>
          <a:bodyPr vert="horz" wrap="square" lIns="63500" tIns="63500" rIns="63500" bIns="63500" rtlCol="0" anchor="ctr"/>
          <a:lstStyle/>
          <a:p>
            <a:pPr algn="ctr">
              <a:defRPr/>
            </a:pPr>
          </a:p>
        </p:txBody>
      </p:sp>
      <p:pic>
        <p:nvPicPr>
          <p:cNvPr id="32" name="Picture 32"/>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8953500" y="5651500"/>
            <a:ext cx="457200" cy="457200"/>
          </a:xfrm>
          <a:prstGeom prst="rect">
            <a:avLst/>
          </a:prstGeom>
        </p:spPr>
      </p:pic>
      <p:sp>
        <p:nvSpPr>
          <p:cNvPr id="33" name="AutoShape 33"/>
          <p:cNvSpPr/>
          <p:nvPr/>
        </p:nvSpPr>
        <p:spPr>
          <a:xfrm>
            <a:off x="9588500" y="5588000"/>
            <a:ext cx="17145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协议异常</a:t>
            </a:r>
            <a:endParaRPr lang="en-US" sz="1100"/>
          </a:p>
        </p:txBody>
      </p:sp>
      <p:sp>
        <p:nvSpPr>
          <p:cNvPr id="34" name="AutoShape 34"/>
          <p:cNvSpPr/>
          <p:nvPr/>
        </p:nvSpPr>
        <p:spPr>
          <a:xfrm>
            <a:off x="9588500" y="5969000"/>
            <a:ext cx="17145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使用非标准的、不常见的端口协议</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1778000"/>
            <a:ext cx="12192000" cy="165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PART 03</a:t>
            </a:r>
            <a:endParaRPr lang="en-US" sz="1100"/>
          </a:p>
        </p:txBody>
      </p:sp>
      <p:sp>
        <p:nvSpPr>
          <p:cNvPr id="3" name="AutoShape 3"/>
          <p:cNvSpPr/>
          <p:nvPr/>
        </p:nvSpPr>
        <p:spPr>
          <a:xfrm>
            <a:off x="0" y="3683000"/>
            <a:ext cx="1219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000" b="1" i="0" u="none" strike="noStrike">
                <a:solidFill>
                  <a:srgbClr val="31353D"/>
                </a:solidFill>
                <a:latin typeface="Noto Sans SC" panose="020B0200000000000000" charset="-122"/>
                <a:ea typeface="Noto Sans SC" panose="020B0200000000000000" charset="-122"/>
                <a:cs typeface="Noto Sans SC" panose="020B0200000000000000" charset="-122"/>
                <a:sym typeface="Noto Sans SC" panose="020B0200000000000000" charset="-122"/>
              </a:rPr>
              <a:t>传统检测对比现代AI检测</a:t>
            </a:r>
            <a:endParaRPr lang="en-US" sz="1100"/>
          </a:p>
        </p:txBody>
      </p:sp>
      <p:sp>
        <p:nvSpPr>
          <p:cNvPr id="4" name="AutoShape 4"/>
          <p:cNvSpPr/>
          <p:nvPr/>
        </p:nvSpPr>
        <p:spPr>
          <a:xfrm>
            <a:off x="0" y="4699000"/>
            <a:ext cx="1219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8D96A6"/>
                </a:solidFill>
                <a:latin typeface="Noto Sans SC" panose="020B0200000000000000" charset="-122"/>
                <a:ea typeface="Noto Sans SC" panose="020B0200000000000000" charset="-122"/>
                <a:cs typeface="Noto Sans SC" panose="020B0200000000000000" charset="-122"/>
                <a:sym typeface="Noto Sans SC" panose="020B0200000000000000" charset="-122"/>
              </a:rPr>
              <a:t>TRADITIONAL VS MODERN AI DETECTION</a:t>
            </a:r>
            <a:endParaRPr lang="en-US" sz="1100"/>
          </a:p>
        </p:txBody>
      </p:sp>
      <p:sp>
        <p:nvSpPr>
          <p:cNvPr id="5" name="AutoShape 5"/>
          <p:cNvSpPr/>
          <p:nvPr/>
        </p:nvSpPr>
        <p:spPr>
          <a:xfrm>
            <a:off x="5588000" y="5588000"/>
            <a:ext cx="1016000" cy="50800"/>
          </a:xfrm>
          <a:prstGeom prst="roundRect">
            <a:avLst>
              <a:gd name="adj" fmla="val 0"/>
            </a:avLst>
          </a:prstGeom>
          <a:solidFill>
            <a:srgbClr val="0052CC">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特征码检测：已知世界的“守门员”</a:t>
            </a:r>
            <a:endParaRPr lang="en-US" sz="1100"/>
          </a:p>
        </p:txBody>
      </p:sp>
      <p:sp>
        <p:nvSpPr>
          <p:cNvPr id="3" name="AutoShape 3"/>
          <p:cNvSpPr/>
          <p:nvPr/>
        </p:nvSpPr>
        <p:spPr>
          <a:xfrm>
            <a:off x="762000" y="1524000"/>
            <a:ext cx="5080000" cy="4826000"/>
          </a:xfrm>
          <a:prstGeom prst="roundRect">
            <a:avLst>
              <a:gd name="adj" fmla="val 4210"/>
            </a:avLst>
          </a:prstGeom>
          <a:solidFill>
            <a:srgbClr val="F3F4F6">
              <a:alpha val="100000"/>
            </a:srgbClr>
          </a:solidFill>
          <a:ln w="25400" cap="flat" cmpd="sng">
            <a:noFill/>
            <a:prstDash val="solid"/>
            <a:round/>
          </a:ln>
          <a:effectLst>
            <a:outerShdw blurRad="2032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4" name="AutoShape 4"/>
          <p:cNvSpPr/>
          <p:nvPr/>
        </p:nvSpPr>
        <p:spPr>
          <a:xfrm>
            <a:off x="1016000" y="1778000"/>
            <a:ext cx="4572000" cy="1270000"/>
          </a:xfrm>
          <a:prstGeom prst="roundRect">
            <a:avLst>
              <a:gd name="adj" fmla="val 12000"/>
            </a:avLst>
          </a:prstGeom>
          <a:solidFill>
            <a:srgbClr val="FFFFFF">
              <a:alpha val="100000"/>
            </a:srgbClr>
          </a:solidFill>
          <a:ln w="25400" cap="flat" cmpd="sng">
            <a:noFill/>
            <a:prstDash val="solid"/>
            <a:round/>
          </a:ln>
          <a:effectLst>
            <a:outerShdw blurRad="101600" dist="25400" dir="5400000" algn="tl" rotWithShape="0">
              <a:srgbClr val="000000">
                <a:alpha val="4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00" y="2032000"/>
            <a:ext cx="609600" cy="609600"/>
          </a:xfrm>
          <a:prstGeom prst="rect">
            <a:avLst/>
          </a:prstGeom>
        </p:spPr>
      </p:pic>
      <p:sp>
        <p:nvSpPr>
          <p:cNvPr id="6" name="AutoShape 6"/>
          <p:cNvSpPr/>
          <p:nvPr/>
        </p:nvSpPr>
        <p:spPr>
          <a:xfrm>
            <a:off x="2032000" y="1968500"/>
            <a:ext cx="330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核心检测原理</a:t>
            </a:r>
            <a:endParaRPr lang="en-US" sz="1100"/>
          </a:p>
        </p:txBody>
      </p:sp>
      <p:sp>
        <p:nvSpPr>
          <p:cNvPr id="7" name="AutoShape 7"/>
          <p:cNvSpPr/>
          <p:nvPr/>
        </p:nvSpPr>
        <p:spPr>
          <a:xfrm>
            <a:off x="2032000" y="2413000"/>
            <a:ext cx="3302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维护包含已知攻击特征的数据库，检测引擎对网络流量逐包进行模式匹配，精准识别“黑名单”攻击。</a:t>
            </a:r>
            <a:endParaRPr lang="en-US" sz="1100"/>
          </a:p>
        </p:txBody>
      </p:sp>
      <p:sp>
        <p:nvSpPr>
          <p:cNvPr id="8" name="AutoShape 8"/>
          <p:cNvSpPr/>
          <p:nvPr/>
        </p:nvSpPr>
        <p:spPr>
          <a:xfrm>
            <a:off x="1016000" y="3302000"/>
            <a:ext cx="4572000" cy="2286000"/>
          </a:xfrm>
          <a:prstGeom prst="roundRect">
            <a:avLst>
              <a:gd name="adj" fmla="val 6666"/>
            </a:avLst>
          </a:prstGeom>
          <a:solidFill>
            <a:srgbClr val="FFFFFF">
              <a:alpha val="100000"/>
            </a:srgbClr>
          </a:solidFill>
          <a:ln w="25400" cap="flat" cmpd="sng">
            <a:noFill/>
            <a:prstDash val="solid"/>
            <a:round/>
          </a:ln>
          <a:effectLst>
            <a:outerShdw blurRad="101600" dist="25400" dir="5400000" algn="tl" rotWithShape="0">
              <a:srgbClr val="000000">
                <a:alpha val="4000"/>
              </a:srgbClr>
            </a:outerShdw>
          </a:effectLst>
        </p:spPr>
        <p:txBody>
          <a:bodyPr vert="horz" wrap="square" lIns="63500" tIns="63500" rIns="63500" bIns="63500" rtlCol="0" anchor="ctr"/>
          <a:lstStyle/>
          <a:p>
            <a:pPr algn="ctr">
              <a:defRPr/>
            </a:pPr>
          </a:p>
        </p:txBody>
      </p:sp>
      <p:sp>
        <p:nvSpPr>
          <p:cNvPr id="9" name="AutoShape 9"/>
          <p:cNvSpPr/>
          <p:nvPr/>
        </p:nvSpPr>
        <p:spPr>
          <a:xfrm>
            <a:off x="1270000" y="3492500"/>
            <a:ext cx="406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标准执行流程</a:t>
            </a:r>
            <a:endParaRPr lang="en-US" sz="1100"/>
          </a:p>
        </p:txBody>
      </p:sp>
      <p:sp>
        <p:nvSpPr>
          <p:cNvPr id="10" name="AutoShape 10"/>
          <p:cNvSpPr/>
          <p:nvPr/>
        </p:nvSpPr>
        <p:spPr>
          <a:xfrm>
            <a:off x="1270000" y="4064000"/>
            <a:ext cx="952500" cy="1270000"/>
          </a:xfrm>
          <a:prstGeom prst="roundRect">
            <a:avLst>
              <a:gd name="adj" fmla="val 10666"/>
            </a:avLst>
          </a:prstGeom>
          <a:solidFill>
            <a:srgbClr val="EBF3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460500" y="4254500"/>
            <a:ext cx="508000" cy="508000"/>
          </a:xfrm>
          <a:prstGeom prst="rect">
            <a:avLst/>
          </a:prstGeom>
        </p:spPr>
      </p:pic>
      <p:sp>
        <p:nvSpPr>
          <p:cNvPr id="12" name="AutoShape 12"/>
          <p:cNvSpPr/>
          <p:nvPr/>
        </p:nvSpPr>
        <p:spPr>
          <a:xfrm>
            <a:off x="1270000" y="4889500"/>
            <a:ext cx="9525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1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流量捕获</a:t>
            </a:r>
            <a:endParaRPr lang="en-US" sz="1100"/>
          </a:p>
        </p:txBody>
      </p:sp>
      <p:sp>
        <p:nvSpPr>
          <p:cNvPr id="13" name="AutoShape 13"/>
          <p:cNvSpPr/>
          <p:nvPr/>
        </p:nvSpPr>
        <p:spPr>
          <a:xfrm>
            <a:off x="2413000" y="4064000"/>
            <a:ext cx="952500" cy="1270000"/>
          </a:xfrm>
          <a:prstGeom prst="roundRect">
            <a:avLst>
              <a:gd name="adj" fmla="val 10666"/>
            </a:avLst>
          </a:prstGeom>
          <a:solidFill>
            <a:srgbClr val="EBF3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603500" y="4254500"/>
            <a:ext cx="508000" cy="508000"/>
          </a:xfrm>
          <a:prstGeom prst="rect">
            <a:avLst/>
          </a:prstGeom>
        </p:spPr>
      </p:pic>
      <p:sp>
        <p:nvSpPr>
          <p:cNvPr id="15" name="AutoShape 15"/>
          <p:cNvSpPr/>
          <p:nvPr/>
        </p:nvSpPr>
        <p:spPr>
          <a:xfrm>
            <a:off x="2413000" y="4889500"/>
            <a:ext cx="9525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1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特征提取</a:t>
            </a:r>
            <a:endParaRPr lang="en-US" sz="1100"/>
          </a:p>
        </p:txBody>
      </p:sp>
      <p:sp>
        <p:nvSpPr>
          <p:cNvPr id="16" name="AutoShape 16"/>
          <p:cNvSpPr/>
          <p:nvPr/>
        </p:nvSpPr>
        <p:spPr>
          <a:xfrm>
            <a:off x="3556000" y="4064000"/>
            <a:ext cx="952500" cy="1270000"/>
          </a:xfrm>
          <a:prstGeom prst="roundRect">
            <a:avLst>
              <a:gd name="adj" fmla="val 10666"/>
            </a:avLst>
          </a:prstGeom>
          <a:solidFill>
            <a:srgbClr val="EBF3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746500" y="4254500"/>
            <a:ext cx="508000" cy="508000"/>
          </a:xfrm>
          <a:prstGeom prst="rect">
            <a:avLst/>
          </a:prstGeom>
        </p:spPr>
      </p:pic>
      <p:sp>
        <p:nvSpPr>
          <p:cNvPr id="18" name="AutoShape 18"/>
          <p:cNvSpPr/>
          <p:nvPr/>
        </p:nvSpPr>
        <p:spPr>
          <a:xfrm>
            <a:off x="3556000" y="4889500"/>
            <a:ext cx="9525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1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库匹配</a:t>
            </a:r>
            <a:endParaRPr lang="en-US" sz="1100"/>
          </a:p>
        </p:txBody>
      </p:sp>
      <p:sp>
        <p:nvSpPr>
          <p:cNvPr id="19" name="AutoShape 19"/>
          <p:cNvSpPr/>
          <p:nvPr/>
        </p:nvSpPr>
        <p:spPr>
          <a:xfrm>
            <a:off x="4699000" y="4064000"/>
            <a:ext cx="889000" cy="1270000"/>
          </a:xfrm>
          <a:prstGeom prst="roundRect">
            <a:avLst>
              <a:gd name="adj" fmla="val 11428"/>
            </a:avLst>
          </a:prstGeom>
          <a:solidFill>
            <a:srgbClr val="EBF3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864100" y="4254500"/>
            <a:ext cx="508000" cy="508000"/>
          </a:xfrm>
          <a:prstGeom prst="rect">
            <a:avLst/>
          </a:prstGeom>
        </p:spPr>
      </p:pic>
      <p:sp>
        <p:nvSpPr>
          <p:cNvPr id="21" name="AutoShape 21"/>
          <p:cNvSpPr/>
          <p:nvPr/>
        </p:nvSpPr>
        <p:spPr>
          <a:xfrm>
            <a:off x="4699000" y="4889500"/>
            <a:ext cx="889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1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告警/通过</a:t>
            </a:r>
            <a:endParaRPr lang="en-US" sz="1100"/>
          </a:p>
        </p:txBody>
      </p:sp>
      <p:sp>
        <p:nvSpPr>
          <p:cNvPr id="22" name="AutoShape 22"/>
          <p:cNvSpPr/>
          <p:nvPr/>
        </p:nvSpPr>
        <p:spPr>
          <a:xfrm>
            <a:off x="6096000" y="1524000"/>
            <a:ext cx="5334000" cy="2159000"/>
          </a:xfrm>
          <a:prstGeom prst="roundRect">
            <a:avLst>
              <a:gd name="adj" fmla="val 9411"/>
            </a:avLst>
          </a:prstGeom>
          <a:solidFill>
            <a:srgbClr val="EBF5FF">
              <a:alpha val="100000"/>
            </a:srgbClr>
          </a:solidFill>
          <a:ln w="25400" cap="flat" cmpd="sng">
            <a:noFill/>
            <a:prstDash val="solid"/>
            <a:round/>
          </a:ln>
          <a:effectLst>
            <a:outerShdw blurRad="152400" dist="38100" dir="5400000" algn="tl" rotWithShape="0">
              <a:srgbClr val="000000">
                <a:alpha val="6000"/>
              </a:srgbClr>
            </a:outerShdw>
          </a:effectLst>
        </p:spPr>
        <p:txBody>
          <a:bodyPr vert="horz" wrap="square" lIns="63500" tIns="63500" rIns="63500" bIns="63500" rtlCol="0" anchor="ctr"/>
          <a:lstStyle/>
          <a:p>
            <a:pPr algn="ctr">
              <a:defRPr/>
            </a:pPr>
          </a:p>
        </p:txBody>
      </p:sp>
      <p:sp>
        <p:nvSpPr>
          <p:cNvPr id="23" name="AutoShape 23"/>
          <p:cNvSpPr/>
          <p:nvPr/>
        </p:nvSpPr>
        <p:spPr>
          <a:xfrm>
            <a:off x="6096000" y="1714500"/>
            <a:ext cx="76200" cy="1778000"/>
          </a:xfrm>
          <a:prstGeom prst="roundRect">
            <a:avLst>
              <a:gd name="adj" fmla="val 50000"/>
            </a:avLst>
          </a:prstGeom>
          <a:solidFill>
            <a:srgbClr val="0052CC">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350000" y="1778000"/>
            <a:ext cx="406400" cy="406400"/>
          </a:xfrm>
          <a:prstGeom prst="rect">
            <a:avLst/>
          </a:prstGeom>
        </p:spPr>
      </p:pic>
      <p:sp>
        <p:nvSpPr>
          <p:cNvPr id="25" name="AutoShape 25"/>
          <p:cNvSpPr/>
          <p:nvPr/>
        </p:nvSpPr>
        <p:spPr>
          <a:xfrm>
            <a:off x="6858000" y="17780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核心技术优势</a:t>
            </a:r>
            <a:endParaRPr lang="en-US" sz="1100"/>
          </a:p>
        </p:txBody>
      </p:sp>
      <p:sp>
        <p:nvSpPr>
          <p:cNvPr id="26" name="AutoShape 26"/>
          <p:cNvSpPr/>
          <p:nvPr/>
        </p:nvSpPr>
        <p:spPr>
          <a:xfrm>
            <a:off x="6350000" y="2413000"/>
            <a:ext cx="2286000" cy="1016000"/>
          </a:xfrm>
          <a:prstGeom prst="roundRect">
            <a:avLst>
              <a:gd name="adj" fmla="val 1000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7" name="Picture 27"/>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477000" y="2603500"/>
            <a:ext cx="457200" cy="457200"/>
          </a:xfrm>
          <a:prstGeom prst="rect">
            <a:avLst/>
          </a:prstGeom>
        </p:spPr>
      </p:pic>
      <p:sp>
        <p:nvSpPr>
          <p:cNvPr id="28" name="AutoShape 28"/>
          <p:cNvSpPr/>
          <p:nvPr/>
        </p:nvSpPr>
        <p:spPr>
          <a:xfrm>
            <a:off x="7112000" y="2540000"/>
            <a:ext cx="1397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检测速度快</a:t>
            </a:r>
            <a:endParaRPr lang="en-US" sz="1100"/>
          </a:p>
          <a:p>
            <a:pPr indent="0" algn="l">
              <a:lnSpc>
                <a:spcPct val="125000"/>
              </a:lnSpc>
            </a:pP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算法复杂度低，延迟极小</a:t>
            </a:r>
            <a:endPar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9" name="AutoShape 29"/>
          <p:cNvSpPr/>
          <p:nvPr/>
        </p:nvSpPr>
        <p:spPr>
          <a:xfrm>
            <a:off x="8763000" y="2413000"/>
            <a:ext cx="2286000" cy="1016000"/>
          </a:xfrm>
          <a:prstGeom prst="roundRect">
            <a:avLst>
              <a:gd name="adj" fmla="val 1000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30" name="Picture 30"/>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8890000" y="2603500"/>
            <a:ext cx="457200" cy="457200"/>
          </a:xfrm>
          <a:prstGeom prst="rect">
            <a:avLst/>
          </a:prstGeom>
        </p:spPr>
      </p:pic>
      <p:sp>
        <p:nvSpPr>
          <p:cNvPr id="31" name="AutoShape 31"/>
          <p:cNvSpPr/>
          <p:nvPr/>
        </p:nvSpPr>
        <p:spPr>
          <a:xfrm>
            <a:off x="9525000" y="2540000"/>
            <a:ext cx="1397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准确率极高</a:t>
            </a:r>
            <a:endParaRPr lang="en-US" sz="1100"/>
          </a:p>
          <a:p>
            <a:pPr indent="0" algn="l">
              <a:lnSpc>
                <a:spcPct val="125000"/>
              </a:lnSpc>
            </a:pP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已知攻击误报率接近0</a:t>
            </a:r>
            <a:endPar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2" name="AutoShape 32"/>
          <p:cNvSpPr/>
          <p:nvPr/>
        </p:nvSpPr>
        <p:spPr>
          <a:xfrm>
            <a:off x="6096000" y="3937000"/>
            <a:ext cx="5334000" cy="2413000"/>
          </a:xfrm>
          <a:prstGeom prst="roundRect">
            <a:avLst>
              <a:gd name="adj" fmla="val 8421"/>
            </a:avLst>
          </a:prstGeom>
          <a:solidFill>
            <a:srgbClr val="FFF7ED">
              <a:alpha val="100000"/>
            </a:srgbClr>
          </a:solidFill>
          <a:ln w="25400" cap="flat" cmpd="sng">
            <a:noFill/>
            <a:prstDash val="solid"/>
            <a:round/>
          </a:ln>
          <a:effectLst>
            <a:outerShdw blurRad="152400" dist="38100" dir="5400000" algn="tl" rotWithShape="0">
              <a:srgbClr val="000000">
                <a:alpha val="6000"/>
              </a:srgbClr>
            </a:outerShdw>
          </a:effectLst>
        </p:spPr>
        <p:txBody>
          <a:bodyPr vert="horz" wrap="square" lIns="63500" tIns="63500" rIns="63500" bIns="63500" rtlCol="0" anchor="ctr"/>
          <a:lstStyle/>
          <a:p>
            <a:pPr algn="ctr">
              <a:defRPr/>
            </a:pPr>
          </a:p>
        </p:txBody>
      </p:sp>
      <p:sp>
        <p:nvSpPr>
          <p:cNvPr id="33" name="AutoShape 33"/>
          <p:cNvSpPr/>
          <p:nvPr/>
        </p:nvSpPr>
        <p:spPr>
          <a:xfrm>
            <a:off x="6096000" y="4127500"/>
            <a:ext cx="76200" cy="2032000"/>
          </a:xfrm>
          <a:prstGeom prst="roundRect">
            <a:avLst>
              <a:gd name="adj" fmla="val 50000"/>
            </a:avLst>
          </a:prstGeom>
          <a:solidFill>
            <a:srgbClr val="F59E0B">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34" name="Picture 34"/>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350000" y="4191000"/>
            <a:ext cx="406400" cy="406400"/>
          </a:xfrm>
          <a:prstGeom prst="rect">
            <a:avLst/>
          </a:prstGeom>
        </p:spPr>
      </p:pic>
      <p:sp>
        <p:nvSpPr>
          <p:cNvPr id="35" name="AutoShape 35"/>
          <p:cNvSpPr/>
          <p:nvPr/>
        </p:nvSpPr>
        <p:spPr>
          <a:xfrm>
            <a:off x="6858000" y="41910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D97706"/>
                </a:solidFill>
                <a:latin typeface="Noto Sans SC" panose="020B0200000000000000" charset="-122"/>
                <a:ea typeface="Noto Sans SC" panose="020B0200000000000000" charset="-122"/>
                <a:cs typeface="Noto Sans SC" panose="020B0200000000000000" charset="-122"/>
                <a:sym typeface="Noto Sans SC" panose="020B0200000000000000" charset="-122"/>
              </a:rPr>
              <a:t>局限性与挑战</a:t>
            </a:r>
            <a:endParaRPr lang="en-US" sz="1100"/>
          </a:p>
        </p:txBody>
      </p:sp>
      <p:sp>
        <p:nvSpPr>
          <p:cNvPr id="36" name="AutoShape 36"/>
          <p:cNvSpPr/>
          <p:nvPr/>
        </p:nvSpPr>
        <p:spPr>
          <a:xfrm>
            <a:off x="6350000" y="4826000"/>
            <a:ext cx="1524000" cy="1143000"/>
          </a:xfrm>
          <a:prstGeom prst="roundRect">
            <a:avLst>
              <a:gd name="adj" fmla="val 8888"/>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37" name="Picture 37"/>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6477000" y="4953000"/>
            <a:ext cx="406400" cy="406400"/>
          </a:xfrm>
          <a:prstGeom prst="rect">
            <a:avLst/>
          </a:prstGeom>
        </p:spPr>
      </p:pic>
      <p:sp>
        <p:nvSpPr>
          <p:cNvPr id="38" name="AutoShape 38"/>
          <p:cNvSpPr/>
          <p:nvPr/>
        </p:nvSpPr>
        <p:spPr>
          <a:xfrm>
            <a:off x="6477000" y="5461000"/>
            <a:ext cx="1397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无法检测</a:t>
            </a:r>
            <a:br>
              <a:rPr lang="en-US" sz="11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零日攻击</a:t>
            </a:r>
            <a:endParaRPr lang="en-US" sz="1100"/>
          </a:p>
        </p:txBody>
      </p:sp>
      <p:sp>
        <p:nvSpPr>
          <p:cNvPr id="39" name="AutoShape 39"/>
          <p:cNvSpPr/>
          <p:nvPr/>
        </p:nvSpPr>
        <p:spPr>
          <a:xfrm>
            <a:off x="8001000" y="4826000"/>
            <a:ext cx="1524000" cy="1143000"/>
          </a:xfrm>
          <a:prstGeom prst="roundRect">
            <a:avLst>
              <a:gd name="adj" fmla="val 8888"/>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40" name="Picture 40"/>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8128000" y="4953000"/>
            <a:ext cx="406400" cy="406400"/>
          </a:xfrm>
          <a:prstGeom prst="rect">
            <a:avLst/>
          </a:prstGeom>
        </p:spPr>
      </p:pic>
      <p:sp>
        <p:nvSpPr>
          <p:cNvPr id="41" name="AutoShape 41"/>
          <p:cNvSpPr/>
          <p:nvPr/>
        </p:nvSpPr>
        <p:spPr>
          <a:xfrm>
            <a:off x="8128000" y="5461000"/>
            <a:ext cx="1397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防御滞后性</a:t>
            </a:r>
            <a:br>
              <a:rPr lang="en-US" sz="11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存在窗口期</a:t>
            </a:r>
            <a:endParaRPr lang="en-US" sz="1100"/>
          </a:p>
        </p:txBody>
      </p:sp>
      <p:sp>
        <p:nvSpPr>
          <p:cNvPr id="42" name="AutoShape 42"/>
          <p:cNvSpPr/>
          <p:nvPr/>
        </p:nvSpPr>
        <p:spPr>
          <a:xfrm>
            <a:off x="9652000" y="4826000"/>
            <a:ext cx="1524000" cy="1143000"/>
          </a:xfrm>
          <a:prstGeom prst="roundRect">
            <a:avLst>
              <a:gd name="adj" fmla="val 8888"/>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43" name="Picture 43"/>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9779000" y="4953000"/>
            <a:ext cx="406400" cy="406400"/>
          </a:xfrm>
          <a:prstGeom prst="rect">
            <a:avLst/>
          </a:prstGeom>
        </p:spPr>
      </p:pic>
      <p:sp>
        <p:nvSpPr>
          <p:cNvPr id="44" name="AutoShape 44"/>
          <p:cNvSpPr/>
          <p:nvPr/>
        </p:nvSpPr>
        <p:spPr>
          <a:xfrm>
            <a:off x="9779000" y="5461000"/>
            <a:ext cx="1397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难以应对</a:t>
            </a:r>
            <a:br>
              <a:rPr lang="en-US" sz="11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变种攻击</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阈值检测：简单粗暴的“计数器”</a:t>
            </a:r>
            <a:endParaRPr lang="en-US" sz="1100"/>
          </a:p>
        </p:txBody>
      </p:sp>
      <p:sp>
        <p:nvSpPr>
          <p:cNvPr id="3" name="AutoShape 3"/>
          <p:cNvSpPr/>
          <p:nvPr/>
        </p:nvSpPr>
        <p:spPr>
          <a:xfrm>
            <a:off x="762000" y="1524000"/>
            <a:ext cx="5080000" cy="4699000"/>
          </a:xfrm>
          <a:prstGeom prst="roundRect">
            <a:avLst>
              <a:gd name="adj" fmla="val 3243"/>
            </a:avLst>
          </a:prstGeom>
          <a:solidFill>
            <a:srgbClr val="FFFFFF">
              <a:alpha val="100000"/>
            </a:srgbClr>
          </a:solidFill>
          <a:ln w="25400" cap="flat" cmpd="sng">
            <a:noFill/>
            <a:prstDash val="solid"/>
            <a:round/>
          </a:ln>
          <a:effectLst>
            <a:outerShdw blurRad="254000" dist="63500" dir="5400000" algn="tl" rotWithShape="0">
              <a:srgbClr val="000000">
                <a:alpha val="6000"/>
              </a:srgbClr>
            </a:outerShdw>
          </a:effectLst>
        </p:spPr>
        <p:txBody>
          <a:bodyPr vert="horz" wrap="square" lIns="63500" tIns="63500" rIns="63500" bIns="63500" rtlCol="0" anchor="ctr"/>
          <a:lstStyle/>
          <a:p>
            <a:pPr algn="ctr">
              <a:defRPr/>
            </a:pPr>
          </a:p>
        </p:txBody>
      </p:sp>
      <p:sp>
        <p:nvSpPr>
          <p:cNvPr id="4" name="AutoShape 4"/>
          <p:cNvSpPr/>
          <p:nvPr/>
        </p:nvSpPr>
        <p:spPr>
          <a:xfrm>
            <a:off x="1016000" y="1778000"/>
            <a:ext cx="4572000" cy="2286000"/>
          </a:xfrm>
          <a:prstGeom prst="roundRect">
            <a:avLst>
              <a:gd name="adj" fmla="val 4444"/>
            </a:avLst>
          </a:prstGeom>
          <a:solidFill>
            <a:srgbClr val="EBF2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413000" y="2159000"/>
            <a:ext cx="1778000" cy="1270000"/>
          </a:xfrm>
          <a:prstGeom prst="rect">
            <a:avLst/>
          </a:prstGeom>
        </p:spPr>
      </p:pic>
      <p:sp>
        <p:nvSpPr>
          <p:cNvPr id="6" name="AutoShape 6"/>
          <p:cNvSpPr/>
          <p:nvPr/>
        </p:nvSpPr>
        <p:spPr>
          <a:xfrm>
            <a:off x="1143000" y="3556000"/>
            <a:ext cx="4318000" cy="25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可视化：网络流量统计与阈值线监控模型</a:t>
            </a:r>
            <a:endParaRPr lang="en-US" sz="1100"/>
          </a:p>
        </p:txBody>
      </p:sp>
      <p:sp>
        <p:nvSpPr>
          <p:cNvPr id="7" name="AutoShape 7"/>
          <p:cNvSpPr/>
          <p:nvPr/>
        </p:nvSpPr>
        <p:spPr>
          <a:xfrm>
            <a:off x="1016000" y="4191000"/>
            <a:ext cx="4572000" cy="1079500"/>
          </a:xfrm>
          <a:prstGeom prst="roundRect">
            <a:avLst>
              <a:gd name="adj" fmla="val 9411"/>
            </a:avLst>
          </a:prstGeom>
          <a:solidFill>
            <a:srgbClr val="F0F5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06500" y="4419600"/>
            <a:ext cx="457200" cy="457200"/>
          </a:xfrm>
          <a:prstGeom prst="rect">
            <a:avLst/>
          </a:prstGeom>
        </p:spPr>
      </p:pic>
      <p:sp>
        <p:nvSpPr>
          <p:cNvPr id="9" name="AutoShape 9"/>
          <p:cNvSpPr/>
          <p:nvPr/>
        </p:nvSpPr>
        <p:spPr>
          <a:xfrm>
            <a:off x="1841500" y="4318000"/>
            <a:ext cx="355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核心原理：流量超限即告警</a:t>
            </a:r>
            <a:endParaRPr lang="en-US" sz="1100"/>
          </a:p>
        </p:txBody>
      </p:sp>
      <p:sp>
        <p:nvSpPr>
          <p:cNvPr id="10" name="AutoShape 10"/>
          <p:cNvSpPr/>
          <p:nvPr/>
        </p:nvSpPr>
        <p:spPr>
          <a:xfrm>
            <a:off x="1841500" y="4699000"/>
            <a:ext cx="3556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50555F"/>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基于网络流量的统计属性（如数据包数量、字节数）设定静态阈值，流量一旦越过红线立即判定为攻击行为。</a:t>
            </a:r>
            <a:endParaRPr lang="en-US" sz="1100"/>
          </a:p>
        </p:txBody>
      </p:sp>
      <p:sp>
        <p:nvSpPr>
          <p:cNvPr id="11" name="AutoShape 11"/>
          <p:cNvSpPr/>
          <p:nvPr/>
        </p:nvSpPr>
        <p:spPr>
          <a:xfrm>
            <a:off x="1016000" y="5397500"/>
            <a:ext cx="4572000" cy="762000"/>
          </a:xfrm>
          <a:prstGeom prst="roundRect">
            <a:avLst>
              <a:gd name="adj" fmla="val 13333"/>
            </a:avLst>
          </a:prstGeom>
          <a:solidFill>
            <a:srgbClr val="F0F5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206500" y="5588000"/>
            <a:ext cx="381000" cy="381000"/>
          </a:xfrm>
          <a:prstGeom prst="rect">
            <a:avLst/>
          </a:prstGeom>
        </p:spPr>
      </p:pic>
      <p:sp>
        <p:nvSpPr>
          <p:cNvPr id="13" name="AutoShape 13"/>
          <p:cNvSpPr/>
          <p:nvPr/>
        </p:nvSpPr>
        <p:spPr>
          <a:xfrm>
            <a:off x="1841500" y="5486400"/>
            <a:ext cx="3556000" cy="5715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常见检测维度：</a:t>
            </a:r>
            <a:r>
              <a:rPr lang="en-US" sz="1100" b="0" i="0" u="none" strike="noStrike">
                <a:solidFill>
                  <a:srgbClr val="50555F"/>
                </a:solidFill>
                <a:latin typeface="Noto Sans SC" panose="020B0200000000000000" charset="-122"/>
                <a:ea typeface="Noto Sans SC" panose="020B0200000000000000" charset="-122"/>
                <a:cs typeface="Noto Sans SC" panose="020B0200000000000000" charset="-122"/>
                <a:sym typeface="Noto Sans SC" panose="020B0200000000000000" charset="-122"/>
              </a:rPr>
              <a:t>速率阈值 / 并发连接数阈值 / 流量总量阈值</a:t>
            </a:r>
            <a:endParaRPr lang="en-US" sz="1100"/>
          </a:p>
        </p:txBody>
      </p:sp>
      <p:sp>
        <p:nvSpPr>
          <p:cNvPr id="14" name="AutoShape 14"/>
          <p:cNvSpPr/>
          <p:nvPr/>
        </p:nvSpPr>
        <p:spPr>
          <a:xfrm>
            <a:off x="6223000" y="1524000"/>
            <a:ext cx="5207000" cy="4699000"/>
          </a:xfrm>
          <a:prstGeom prst="roundRect">
            <a:avLst>
              <a:gd name="adj" fmla="val 3243"/>
            </a:avLst>
          </a:prstGeom>
          <a:solidFill>
            <a:srgbClr val="FFFFFF">
              <a:alpha val="100000"/>
            </a:srgbClr>
          </a:solidFill>
          <a:ln w="25400" cap="flat" cmpd="sng">
            <a:noFill/>
            <a:prstDash val="solid"/>
            <a:round/>
          </a:ln>
          <a:effectLst>
            <a:outerShdw blurRad="254000" dist="63500" dir="5400000" algn="tl" rotWithShape="0">
              <a:srgbClr val="000000">
                <a:alpha val="6000"/>
              </a:srgbClr>
            </a:outerShdw>
          </a:effectLst>
        </p:spPr>
        <p:txBody>
          <a:bodyPr vert="horz" wrap="square" lIns="63500" tIns="63500" rIns="63500" bIns="63500" rtlCol="0" anchor="ctr"/>
          <a:lstStyle/>
          <a:p>
            <a:pPr algn="ctr">
              <a:defRPr/>
            </a:pPr>
          </a:p>
        </p:txBody>
      </p:sp>
      <p:sp>
        <p:nvSpPr>
          <p:cNvPr id="15" name="AutoShape 15"/>
          <p:cNvSpPr/>
          <p:nvPr/>
        </p:nvSpPr>
        <p:spPr>
          <a:xfrm>
            <a:off x="6477000" y="1778000"/>
            <a:ext cx="4699000" cy="1905000"/>
          </a:xfrm>
          <a:prstGeom prst="roundRect">
            <a:avLst>
              <a:gd name="adj" fmla="val 5333"/>
            </a:avLst>
          </a:prstGeom>
          <a:solidFill>
            <a:srgbClr val="FFF0E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731000" y="2032000"/>
            <a:ext cx="609600" cy="609600"/>
          </a:xfrm>
          <a:prstGeom prst="rect">
            <a:avLst/>
          </a:prstGeom>
        </p:spPr>
      </p:pic>
      <p:sp>
        <p:nvSpPr>
          <p:cNvPr id="17" name="AutoShape 17"/>
          <p:cNvSpPr/>
          <p:nvPr/>
        </p:nvSpPr>
        <p:spPr>
          <a:xfrm>
            <a:off x="7493000" y="1968500"/>
            <a:ext cx="355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5733"/>
                </a:solidFill>
                <a:latin typeface="Noto Sans SC" panose="020B0200000000000000" charset="-122"/>
                <a:ea typeface="Noto Sans SC" panose="020B0200000000000000" charset="-122"/>
                <a:cs typeface="Noto Sans SC" panose="020B0200000000000000" charset="-122"/>
                <a:sym typeface="Noto Sans SC" panose="020B0200000000000000" charset="-122"/>
              </a:rPr>
              <a:t>痛点一：极高的误报率</a:t>
            </a:r>
            <a:endParaRPr lang="en-US" sz="1100"/>
          </a:p>
        </p:txBody>
      </p:sp>
      <p:sp>
        <p:nvSpPr>
          <p:cNvPr id="18" name="AutoShape 18"/>
          <p:cNvSpPr/>
          <p:nvPr/>
        </p:nvSpPr>
        <p:spPr>
          <a:xfrm>
            <a:off x="7493000" y="2413000"/>
            <a:ext cx="3429000" cy="1016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100" b="0" i="0" u="none" strike="noStrike">
                <a:solidFill>
                  <a:srgbClr val="50555F"/>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100" b="1" i="0" u="none" strike="noStrike">
                <a:solidFill>
                  <a:srgbClr val="50555F"/>
                </a:solidFill>
                <a:latin typeface="Noto Sans SC" panose="020B0200000000000000" charset="-122"/>
                <a:ea typeface="Noto Sans SC" panose="020B0200000000000000" charset="-122"/>
                <a:cs typeface="Noto Sans SC" panose="020B0200000000000000" charset="-122"/>
                <a:sym typeface="Noto Sans SC" panose="020B0200000000000000" charset="-122"/>
              </a:rPr>
              <a:t>难辨业务高峰：</a:t>
            </a:r>
            <a:r>
              <a:rPr lang="en-US" sz="1100" b="0" i="0" u="none" strike="noStrike">
                <a:solidFill>
                  <a:srgbClr val="50555F"/>
                </a:solidFill>
                <a:latin typeface="Noto Sans SC" panose="020B0200000000000000" charset="-122"/>
                <a:ea typeface="Noto Sans SC" panose="020B0200000000000000" charset="-122"/>
                <a:cs typeface="Noto Sans SC" panose="020B0200000000000000" charset="-122"/>
                <a:sym typeface="Noto Sans SC" panose="020B0200000000000000" charset="-122"/>
              </a:rPr>
              <a:t>全员会议、大促秒杀等正常流量激增极易触发告警。</a:t>
            </a:r>
            <a:br>
              <a:rPr lang="en-US" sz="1100" b="0" i="0" u="none" strike="noStrike">
                <a:solidFill>
                  <a:srgbClr val="50555F"/>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50555F"/>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100" b="1" i="0" u="none" strike="noStrike">
                <a:solidFill>
                  <a:srgbClr val="50555F"/>
                </a:solidFill>
                <a:latin typeface="Noto Sans SC" panose="020B0200000000000000" charset="-122"/>
                <a:ea typeface="Noto Sans SC" panose="020B0200000000000000" charset="-122"/>
                <a:cs typeface="Noto Sans SC" panose="020B0200000000000000" charset="-122"/>
                <a:sym typeface="Noto Sans SC" panose="020B0200000000000000" charset="-122"/>
              </a:rPr>
              <a:t>静态阈值僵化：</a:t>
            </a:r>
            <a:r>
              <a:rPr lang="en-US" sz="1100" b="0" i="0" u="none" strike="noStrike">
                <a:solidFill>
                  <a:srgbClr val="50555F"/>
                </a:solidFill>
                <a:latin typeface="Noto Sans SC" panose="020B0200000000000000" charset="-122"/>
                <a:ea typeface="Noto Sans SC" panose="020B0200000000000000" charset="-122"/>
                <a:cs typeface="Noto Sans SC" panose="020B0200000000000000" charset="-122"/>
                <a:sym typeface="Noto Sans SC" panose="020B0200000000000000" charset="-122"/>
              </a:rPr>
              <a:t>无法自适应动态变化的网络环境，阈值“调大漏报，调小误报”。</a:t>
            </a:r>
            <a:endParaRPr lang="en-US" sz="1100"/>
          </a:p>
        </p:txBody>
      </p:sp>
      <p:sp>
        <p:nvSpPr>
          <p:cNvPr id="19" name="AutoShape 19"/>
          <p:cNvSpPr/>
          <p:nvPr/>
        </p:nvSpPr>
        <p:spPr>
          <a:xfrm>
            <a:off x="6477000" y="3937000"/>
            <a:ext cx="4699000" cy="1905000"/>
          </a:xfrm>
          <a:prstGeom prst="roundRect">
            <a:avLst>
              <a:gd name="adj" fmla="val 5333"/>
            </a:avLst>
          </a:prstGeom>
          <a:solidFill>
            <a:srgbClr val="FFF0E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731000" y="4191000"/>
            <a:ext cx="609600" cy="609600"/>
          </a:xfrm>
          <a:prstGeom prst="rect">
            <a:avLst/>
          </a:prstGeom>
        </p:spPr>
      </p:pic>
      <p:sp>
        <p:nvSpPr>
          <p:cNvPr id="21" name="AutoShape 21"/>
          <p:cNvSpPr/>
          <p:nvPr/>
        </p:nvSpPr>
        <p:spPr>
          <a:xfrm>
            <a:off x="7493000" y="4127500"/>
            <a:ext cx="355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5733"/>
                </a:solidFill>
                <a:latin typeface="Noto Sans SC" panose="020B0200000000000000" charset="-122"/>
                <a:ea typeface="Noto Sans SC" panose="020B0200000000000000" charset="-122"/>
                <a:cs typeface="Noto Sans SC" panose="020B0200000000000000" charset="-122"/>
                <a:sym typeface="Noto Sans SC" panose="020B0200000000000000" charset="-122"/>
              </a:rPr>
              <a:t>痛点二：低速率攻击完全失效</a:t>
            </a:r>
            <a:endParaRPr lang="en-US" sz="1100"/>
          </a:p>
        </p:txBody>
      </p:sp>
      <p:sp>
        <p:nvSpPr>
          <p:cNvPr id="22" name="AutoShape 22"/>
          <p:cNvSpPr/>
          <p:nvPr/>
        </p:nvSpPr>
        <p:spPr>
          <a:xfrm>
            <a:off x="7493000" y="4572000"/>
            <a:ext cx="3429000" cy="1016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100" b="0" i="0" u="none" strike="noStrike">
                <a:solidFill>
                  <a:srgbClr val="50555F"/>
                </a:solidFill>
                <a:latin typeface="Noto Sans SC" panose="020B0200000000000000" charset="-122"/>
                <a:ea typeface="Noto Sans SC" panose="020B0200000000000000" charset="-122"/>
                <a:cs typeface="Noto Sans SC" panose="020B0200000000000000" charset="-122"/>
                <a:sym typeface="Noto Sans SC" panose="020B0200000000000000" charset="-122"/>
              </a:rPr>
              <a:t>对于慢速端口扫描、渐进式数据泄露等攻击，由于其流量特征不显著，始终处于阈值线以下，传统计数器无法识别，成为防御盲区。</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AI异常检测：学习“正常”以发现“异常”</a:t>
            </a:r>
            <a:endParaRPr lang="en-US" sz="1100"/>
          </a:p>
        </p:txBody>
      </p:sp>
      <p:sp>
        <p:nvSpPr>
          <p:cNvPr id="3" name="AutoShape 3"/>
          <p:cNvSpPr/>
          <p:nvPr/>
        </p:nvSpPr>
        <p:spPr>
          <a:xfrm>
            <a:off x="762000" y="1524000"/>
            <a:ext cx="5207000" cy="1651000"/>
          </a:xfrm>
          <a:prstGeom prst="roundRect">
            <a:avLst>
              <a:gd name="adj" fmla="val 9230"/>
            </a:avLst>
          </a:prstGeom>
          <a:solidFill>
            <a:srgbClr val="F5F7FA">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1016000" y="1778000"/>
            <a:ext cx="812800" cy="812800"/>
          </a:xfrm>
          <a:prstGeom prst="ellipse">
            <a:avLst/>
          </a:prstGeom>
          <a:solidFill>
            <a:srgbClr val="E6F0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68400" y="1930400"/>
            <a:ext cx="508000" cy="508000"/>
          </a:xfrm>
          <a:prstGeom prst="rect">
            <a:avLst/>
          </a:prstGeom>
        </p:spPr>
      </p:pic>
      <p:sp>
        <p:nvSpPr>
          <p:cNvPr id="6" name="AutoShape 6"/>
          <p:cNvSpPr/>
          <p:nvPr/>
        </p:nvSpPr>
        <p:spPr>
          <a:xfrm>
            <a:off x="2032000" y="1778000"/>
            <a:ext cx="355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核心思想：构建“正常”基准</a:t>
            </a:r>
            <a:endParaRPr lang="en-US" sz="1100"/>
          </a:p>
        </p:txBody>
      </p:sp>
      <p:sp>
        <p:nvSpPr>
          <p:cNvPr id="7" name="AutoShape 7"/>
          <p:cNvSpPr/>
          <p:nvPr/>
        </p:nvSpPr>
        <p:spPr>
          <a:xfrm>
            <a:off x="2032000" y="2286000"/>
            <a:ext cx="3556000" cy="762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2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不再试图定义“什么是攻击”，而是先通过大量数据学习建立一个“正常”行为的基准模型，在检测中识别显著偏离该模型的行为。</a:t>
            </a:r>
            <a:endParaRPr lang="en-US" sz="1100"/>
          </a:p>
        </p:txBody>
      </p:sp>
      <p:sp>
        <p:nvSpPr>
          <p:cNvPr id="8" name="AutoShape 8"/>
          <p:cNvSpPr/>
          <p:nvPr/>
        </p:nvSpPr>
        <p:spPr>
          <a:xfrm>
            <a:off x="762000" y="3556000"/>
            <a:ext cx="5207000" cy="2159000"/>
          </a:xfrm>
          <a:prstGeom prst="roundRect">
            <a:avLst>
              <a:gd name="adj" fmla="val 7058"/>
            </a:avLst>
          </a:prstGeom>
          <a:solidFill>
            <a:srgbClr val="F5F7FA">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016000" y="3746500"/>
            <a:ext cx="381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标准检测闭环流程</a:t>
            </a:r>
            <a:endParaRPr lang="en-US" sz="1100"/>
          </a:p>
        </p:txBody>
      </p:sp>
      <p:sp>
        <p:nvSpPr>
          <p:cNvPr id="10" name="AutoShape 10"/>
          <p:cNvSpPr/>
          <p:nvPr/>
        </p:nvSpPr>
        <p:spPr>
          <a:xfrm>
            <a:off x="1016000" y="4318000"/>
            <a:ext cx="889000" cy="1016000"/>
          </a:xfrm>
          <a:prstGeom prst="roundRect">
            <a:avLst>
              <a:gd name="adj" fmla="val 11428"/>
            </a:avLst>
          </a:prstGeom>
          <a:solidFill>
            <a:srgbClr val="FFFFFF">
              <a:alpha val="100000"/>
            </a:srgbClr>
          </a:solidFill>
          <a:ln w="25400" cap="flat" cmpd="sng">
            <a:noFill/>
            <a:prstDash val="solid"/>
            <a:round/>
          </a:ln>
          <a:effectLst>
            <a:outerShdw blurRad="50800" dist="25400" dir="2700000" algn="tl" rotWithShape="0">
              <a:srgbClr val="000000">
                <a:alpha val="5000"/>
              </a:srgbClr>
            </a:outerShdw>
          </a:effectLst>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06500" y="4445000"/>
            <a:ext cx="508000" cy="508000"/>
          </a:xfrm>
          <a:prstGeom prst="rect">
            <a:avLst/>
          </a:prstGeom>
        </p:spPr>
      </p:pic>
      <p:sp>
        <p:nvSpPr>
          <p:cNvPr id="12" name="AutoShape 12"/>
          <p:cNvSpPr/>
          <p:nvPr/>
        </p:nvSpPr>
        <p:spPr>
          <a:xfrm>
            <a:off x="1016000" y="5080000"/>
            <a:ext cx="889000" cy="25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1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数据采集</a:t>
            </a:r>
            <a:endParaRPr lang="en-US" sz="1100"/>
          </a:p>
        </p:txBody>
      </p:sp>
      <p:sp>
        <p:nvSpPr>
          <p:cNvPr id="13" name="AutoShape 13"/>
          <p:cNvSpPr/>
          <p:nvPr/>
        </p:nvSpPr>
        <p:spPr>
          <a:xfrm>
            <a:off x="2032000" y="4318000"/>
            <a:ext cx="889000" cy="1016000"/>
          </a:xfrm>
          <a:prstGeom prst="roundRect">
            <a:avLst>
              <a:gd name="adj" fmla="val 11428"/>
            </a:avLst>
          </a:prstGeom>
          <a:solidFill>
            <a:srgbClr val="FFFFFF">
              <a:alpha val="100000"/>
            </a:srgbClr>
          </a:solidFill>
          <a:ln w="25400" cap="flat" cmpd="sng">
            <a:noFill/>
            <a:prstDash val="solid"/>
            <a:round/>
          </a:ln>
          <a:effectLst>
            <a:outerShdw blurRad="50800" dist="25400" dir="2700000" algn="tl" rotWithShape="0">
              <a:srgbClr val="000000">
                <a:alpha val="5000"/>
              </a:srgbClr>
            </a:outerShdw>
          </a:effectLst>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222500" y="4445000"/>
            <a:ext cx="508000" cy="508000"/>
          </a:xfrm>
          <a:prstGeom prst="rect">
            <a:avLst/>
          </a:prstGeom>
        </p:spPr>
      </p:pic>
      <p:sp>
        <p:nvSpPr>
          <p:cNvPr id="15" name="AutoShape 15"/>
          <p:cNvSpPr/>
          <p:nvPr/>
        </p:nvSpPr>
        <p:spPr>
          <a:xfrm>
            <a:off x="2032000" y="5080000"/>
            <a:ext cx="889000" cy="25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1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特征工程</a:t>
            </a:r>
            <a:endParaRPr lang="en-US" sz="1100"/>
          </a:p>
        </p:txBody>
      </p:sp>
      <p:sp>
        <p:nvSpPr>
          <p:cNvPr id="16" name="AutoShape 16"/>
          <p:cNvSpPr/>
          <p:nvPr/>
        </p:nvSpPr>
        <p:spPr>
          <a:xfrm>
            <a:off x="3048000" y="4318000"/>
            <a:ext cx="889000" cy="1016000"/>
          </a:xfrm>
          <a:prstGeom prst="roundRect">
            <a:avLst>
              <a:gd name="adj" fmla="val 11428"/>
            </a:avLst>
          </a:prstGeom>
          <a:solidFill>
            <a:srgbClr val="FFFFFF">
              <a:alpha val="100000"/>
            </a:srgbClr>
          </a:solidFill>
          <a:ln w="25400" cap="flat" cmpd="sng">
            <a:noFill/>
            <a:prstDash val="solid"/>
            <a:round/>
          </a:ln>
          <a:effectLst>
            <a:outerShdw blurRad="50800" dist="25400" dir="2700000" algn="tl" rotWithShape="0">
              <a:srgbClr val="000000">
                <a:alpha val="5000"/>
              </a:srgbClr>
            </a:outerShdw>
          </a:effectLst>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238500" y="4445000"/>
            <a:ext cx="508000" cy="508000"/>
          </a:xfrm>
          <a:prstGeom prst="rect">
            <a:avLst/>
          </a:prstGeom>
        </p:spPr>
      </p:pic>
      <p:sp>
        <p:nvSpPr>
          <p:cNvPr id="18" name="AutoShape 18"/>
          <p:cNvSpPr/>
          <p:nvPr/>
        </p:nvSpPr>
        <p:spPr>
          <a:xfrm>
            <a:off x="3048000" y="5080000"/>
            <a:ext cx="889000" cy="25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1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模型训练</a:t>
            </a:r>
            <a:endParaRPr lang="en-US" sz="1100"/>
          </a:p>
        </p:txBody>
      </p:sp>
      <p:sp>
        <p:nvSpPr>
          <p:cNvPr id="19" name="AutoShape 19"/>
          <p:cNvSpPr/>
          <p:nvPr/>
        </p:nvSpPr>
        <p:spPr>
          <a:xfrm>
            <a:off x="4064000" y="4318000"/>
            <a:ext cx="889000" cy="1016000"/>
          </a:xfrm>
          <a:prstGeom prst="roundRect">
            <a:avLst>
              <a:gd name="adj" fmla="val 11428"/>
            </a:avLst>
          </a:prstGeom>
          <a:solidFill>
            <a:srgbClr val="FFFFFF">
              <a:alpha val="100000"/>
            </a:srgbClr>
          </a:solidFill>
          <a:ln w="25400" cap="flat" cmpd="sng">
            <a:noFill/>
            <a:prstDash val="solid"/>
            <a:round/>
          </a:ln>
          <a:effectLst>
            <a:outerShdw blurRad="50800" dist="25400" dir="2700000" algn="tl" rotWithShape="0">
              <a:srgbClr val="000000">
                <a:alpha val="5000"/>
              </a:srgbClr>
            </a:outerShdw>
          </a:effectLst>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254500" y="4445000"/>
            <a:ext cx="508000" cy="508000"/>
          </a:xfrm>
          <a:prstGeom prst="rect">
            <a:avLst/>
          </a:prstGeom>
        </p:spPr>
      </p:pic>
      <p:sp>
        <p:nvSpPr>
          <p:cNvPr id="21" name="AutoShape 21"/>
          <p:cNvSpPr/>
          <p:nvPr/>
        </p:nvSpPr>
        <p:spPr>
          <a:xfrm>
            <a:off x="4064000" y="5080000"/>
            <a:ext cx="889000" cy="25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1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异常检测</a:t>
            </a:r>
            <a:endParaRPr lang="en-US" sz="1100"/>
          </a:p>
        </p:txBody>
      </p:sp>
      <p:sp>
        <p:nvSpPr>
          <p:cNvPr id="22" name="AutoShape 22"/>
          <p:cNvSpPr/>
          <p:nvPr/>
        </p:nvSpPr>
        <p:spPr>
          <a:xfrm>
            <a:off x="6223000" y="1524000"/>
            <a:ext cx="5207000" cy="1397000"/>
          </a:xfrm>
          <a:prstGeom prst="roundRect">
            <a:avLst>
              <a:gd name="adj" fmla="val 10909"/>
            </a:avLst>
          </a:prstGeom>
          <a:solidFill>
            <a:srgbClr val="F5F7FA">
              <a:alpha val="10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6223000" y="1714500"/>
            <a:ext cx="76200" cy="1016000"/>
          </a:xfrm>
          <a:prstGeom prst="roundRect">
            <a:avLst>
              <a:gd name="adj" fmla="val 0"/>
            </a:avLst>
          </a:prstGeom>
          <a:solidFill>
            <a:srgbClr val="0052CC">
              <a:alpha val="100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6477000" y="1778000"/>
            <a:ext cx="889000" cy="889000"/>
          </a:xfrm>
          <a:prstGeom prst="ellipse">
            <a:avLst/>
          </a:prstGeom>
          <a:solidFill>
            <a:srgbClr val="E6F0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5" name="Picture 25"/>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667500" y="1968500"/>
            <a:ext cx="508000" cy="508000"/>
          </a:xfrm>
          <a:prstGeom prst="rect">
            <a:avLst/>
          </a:prstGeom>
        </p:spPr>
      </p:pic>
      <p:sp>
        <p:nvSpPr>
          <p:cNvPr id="26" name="AutoShape 26"/>
          <p:cNvSpPr/>
          <p:nvPr/>
        </p:nvSpPr>
        <p:spPr>
          <a:xfrm>
            <a:off x="7620000" y="1714500"/>
            <a:ext cx="3556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发现未知威胁 (Zero-Day)</a:t>
            </a:r>
            <a:endParaRPr lang="en-US" sz="1100"/>
          </a:p>
        </p:txBody>
      </p:sp>
      <p:sp>
        <p:nvSpPr>
          <p:cNvPr id="27" name="AutoShape 27"/>
          <p:cNvSpPr/>
          <p:nvPr/>
        </p:nvSpPr>
        <p:spPr>
          <a:xfrm>
            <a:off x="7620000" y="2159000"/>
            <a:ext cx="3556000" cy="5715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不依赖已知攻击特征库，能够有效识别从未出现过的零日攻击和变种攻击行为。</a:t>
            </a:r>
            <a:endParaRPr lang="en-US" sz="1100"/>
          </a:p>
        </p:txBody>
      </p:sp>
      <p:sp>
        <p:nvSpPr>
          <p:cNvPr id="28" name="AutoShape 28"/>
          <p:cNvSpPr/>
          <p:nvPr/>
        </p:nvSpPr>
        <p:spPr>
          <a:xfrm>
            <a:off x="6223000" y="3175000"/>
            <a:ext cx="5207000" cy="1397000"/>
          </a:xfrm>
          <a:prstGeom prst="roundRect">
            <a:avLst>
              <a:gd name="adj" fmla="val 10909"/>
            </a:avLst>
          </a:prstGeom>
          <a:solidFill>
            <a:srgbClr val="F5F7FA">
              <a:alpha val="100000"/>
            </a:srgbClr>
          </a:solidFill>
          <a:ln w="25400" cap="flat" cmpd="sng">
            <a:noFill/>
            <a:prstDash val="solid"/>
            <a:round/>
          </a:ln>
        </p:spPr>
        <p:txBody>
          <a:bodyPr vert="horz" wrap="square" lIns="63500" tIns="63500" rIns="63500" bIns="63500" rtlCol="0" anchor="ctr"/>
          <a:lstStyle/>
          <a:p>
            <a:pPr algn="ctr">
              <a:defRPr/>
            </a:pPr>
          </a:p>
        </p:txBody>
      </p:sp>
      <p:sp>
        <p:nvSpPr>
          <p:cNvPr id="29" name="AutoShape 29"/>
          <p:cNvSpPr/>
          <p:nvPr/>
        </p:nvSpPr>
        <p:spPr>
          <a:xfrm>
            <a:off x="6223000" y="3365500"/>
            <a:ext cx="76200" cy="1016000"/>
          </a:xfrm>
          <a:prstGeom prst="roundRect">
            <a:avLst>
              <a:gd name="adj" fmla="val 0"/>
            </a:avLst>
          </a:prstGeom>
          <a:solidFill>
            <a:srgbClr val="0052CC">
              <a:alpha val="100000"/>
            </a:srgbClr>
          </a:solidFill>
          <a:ln w="25400" cap="flat" cmpd="sng">
            <a:noFill/>
            <a:prstDash val="solid"/>
            <a:round/>
          </a:ln>
        </p:spPr>
        <p:txBody>
          <a:bodyPr vert="horz" wrap="square" lIns="63500" tIns="63500" rIns="63500" bIns="63500" rtlCol="0" anchor="ctr"/>
          <a:lstStyle/>
          <a:p>
            <a:pPr algn="ctr">
              <a:defRPr/>
            </a:pPr>
          </a:p>
        </p:txBody>
      </p:sp>
      <p:sp>
        <p:nvSpPr>
          <p:cNvPr id="30" name="AutoShape 30"/>
          <p:cNvSpPr/>
          <p:nvPr/>
        </p:nvSpPr>
        <p:spPr>
          <a:xfrm>
            <a:off x="6477000" y="3429000"/>
            <a:ext cx="889000" cy="889000"/>
          </a:xfrm>
          <a:prstGeom prst="ellipse">
            <a:avLst/>
          </a:prstGeom>
          <a:solidFill>
            <a:srgbClr val="E6F0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31" name="Picture 31"/>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667500" y="3619500"/>
            <a:ext cx="508000" cy="508000"/>
          </a:xfrm>
          <a:prstGeom prst="rect">
            <a:avLst/>
          </a:prstGeom>
        </p:spPr>
      </p:pic>
      <p:sp>
        <p:nvSpPr>
          <p:cNvPr id="32" name="AutoShape 32"/>
          <p:cNvSpPr/>
          <p:nvPr/>
        </p:nvSpPr>
        <p:spPr>
          <a:xfrm>
            <a:off x="7620000" y="3365500"/>
            <a:ext cx="3556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适应动态网络环境</a:t>
            </a:r>
            <a:endParaRPr lang="en-US" sz="1100"/>
          </a:p>
        </p:txBody>
      </p:sp>
      <p:sp>
        <p:nvSpPr>
          <p:cNvPr id="33" name="AutoShape 33"/>
          <p:cNvSpPr/>
          <p:nvPr/>
        </p:nvSpPr>
        <p:spPr>
          <a:xfrm>
            <a:off x="7620000" y="3810000"/>
            <a:ext cx="3556000" cy="5715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支持持续学习与模型迭代更新，能够跟随业务发展自动适应网络流量模式的变化。</a:t>
            </a:r>
            <a:endParaRPr lang="en-US" sz="1100"/>
          </a:p>
        </p:txBody>
      </p:sp>
      <p:sp>
        <p:nvSpPr>
          <p:cNvPr id="34" name="AutoShape 34"/>
          <p:cNvSpPr/>
          <p:nvPr/>
        </p:nvSpPr>
        <p:spPr>
          <a:xfrm>
            <a:off x="6223000" y="4826000"/>
            <a:ext cx="5207000" cy="1397000"/>
          </a:xfrm>
          <a:prstGeom prst="roundRect">
            <a:avLst>
              <a:gd name="adj" fmla="val 10909"/>
            </a:avLst>
          </a:prstGeom>
          <a:solidFill>
            <a:srgbClr val="F5F7FA">
              <a:alpha val="100000"/>
            </a:srgbClr>
          </a:solidFill>
          <a:ln w="25400" cap="flat" cmpd="sng">
            <a:noFill/>
            <a:prstDash val="solid"/>
            <a:round/>
          </a:ln>
        </p:spPr>
        <p:txBody>
          <a:bodyPr vert="horz" wrap="square" lIns="63500" tIns="63500" rIns="63500" bIns="63500" rtlCol="0" anchor="ctr"/>
          <a:lstStyle/>
          <a:p>
            <a:pPr algn="ctr">
              <a:defRPr/>
            </a:pPr>
          </a:p>
        </p:txBody>
      </p:sp>
      <p:sp>
        <p:nvSpPr>
          <p:cNvPr id="35" name="AutoShape 35"/>
          <p:cNvSpPr/>
          <p:nvPr/>
        </p:nvSpPr>
        <p:spPr>
          <a:xfrm>
            <a:off x="6223000" y="5016500"/>
            <a:ext cx="76200" cy="1016000"/>
          </a:xfrm>
          <a:prstGeom prst="roundRect">
            <a:avLst>
              <a:gd name="adj" fmla="val 0"/>
            </a:avLst>
          </a:prstGeom>
          <a:solidFill>
            <a:srgbClr val="0052CC">
              <a:alpha val="100000"/>
            </a:srgbClr>
          </a:solidFill>
          <a:ln w="25400" cap="flat" cmpd="sng">
            <a:noFill/>
            <a:prstDash val="solid"/>
            <a:round/>
          </a:ln>
        </p:spPr>
        <p:txBody>
          <a:bodyPr vert="horz" wrap="square" lIns="63500" tIns="63500" rIns="63500" bIns="63500" rtlCol="0" anchor="ctr"/>
          <a:lstStyle/>
          <a:p>
            <a:pPr algn="ctr">
              <a:defRPr/>
            </a:pPr>
          </a:p>
        </p:txBody>
      </p:sp>
      <p:sp>
        <p:nvSpPr>
          <p:cNvPr id="36" name="AutoShape 36"/>
          <p:cNvSpPr/>
          <p:nvPr/>
        </p:nvSpPr>
        <p:spPr>
          <a:xfrm>
            <a:off x="6477000" y="5080000"/>
            <a:ext cx="889000" cy="889000"/>
          </a:xfrm>
          <a:prstGeom prst="ellipse">
            <a:avLst/>
          </a:prstGeom>
          <a:solidFill>
            <a:srgbClr val="E6F0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37" name="Picture 37"/>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6667500" y="5270500"/>
            <a:ext cx="508000" cy="508000"/>
          </a:xfrm>
          <a:prstGeom prst="rect">
            <a:avLst/>
          </a:prstGeom>
        </p:spPr>
      </p:pic>
      <p:sp>
        <p:nvSpPr>
          <p:cNvPr id="38" name="AutoShape 38"/>
          <p:cNvSpPr/>
          <p:nvPr/>
        </p:nvSpPr>
        <p:spPr>
          <a:xfrm>
            <a:off x="7620000" y="5016500"/>
            <a:ext cx="3556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显著降低安全误报率</a:t>
            </a:r>
            <a:endParaRPr lang="en-US" sz="1100"/>
          </a:p>
        </p:txBody>
      </p:sp>
      <p:sp>
        <p:nvSpPr>
          <p:cNvPr id="39" name="AutoShape 39"/>
          <p:cNvSpPr/>
          <p:nvPr/>
        </p:nvSpPr>
        <p:spPr>
          <a:xfrm>
            <a:off x="7620000" y="5461000"/>
            <a:ext cx="3556000" cy="5715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基于对“正常”行为的深度理解，能精准区分业务高峰期的波动与真正的恶意异常行为。</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不解密的洞察：AI如何透视加密流量</a:t>
            </a:r>
            <a:endParaRPr lang="en-US" sz="1100"/>
          </a:p>
        </p:txBody>
      </p:sp>
      <p:sp>
        <p:nvSpPr>
          <p:cNvPr id="3" name="AutoShape 3"/>
          <p:cNvSpPr/>
          <p:nvPr/>
        </p:nvSpPr>
        <p:spPr>
          <a:xfrm>
            <a:off x="762000" y="1524000"/>
            <a:ext cx="3810000" cy="4699000"/>
          </a:xfrm>
          <a:prstGeom prst="roundRect">
            <a:avLst>
              <a:gd name="adj" fmla="val 4000"/>
            </a:avLst>
          </a:prstGeom>
          <a:solidFill>
            <a:srgbClr val="0052CC">
              <a:alpha val="100000"/>
            </a:srgbClr>
          </a:solidFill>
          <a:ln w="25400" cap="flat" cmpd="sng">
            <a:noFill/>
            <a:prstDash val="solid"/>
            <a:round/>
          </a:ln>
          <a:effectLst>
            <a:outerShdw blurRad="254000" dist="101600" dir="2700000" algn="tl" rotWithShape="0">
              <a:srgbClr val="0052CC">
                <a:alpha val="30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397000" y="2159000"/>
            <a:ext cx="1270000" cy="1270000"/>
          </a:xfrm>
          <a:prstGeom prst="rect">
            <a:avLst/>
          </a:prstGeom>
        </p:spPr>
      </p:pic>
      <p:sp>
        <p:nvSpPr>
          <p:cNvPr id="5" name="AutoShape 5"/>
          <p:cNvSpPr/>
          <p:nvPr/>
        </p:nvSpPr>
        <p:spPr>
          <a:xfrm>
            <a:off x="1016000" y="3683000"/>
            <a:ext cx="330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传统检测的困境</a:t>
            </a:r>
            <a:endParaRPr lang="en-US" sz="1100"/>
          </a:p>
        </p:txBody>
      </p:sp>
      <p:sp>
        <p:nvSpPr>
          <p:cNvPr id="6" name="AutoShape 6"/>
          <p:cNvSpPr/>
          <p:nvPr/>
        </p:nvSpPr>
        <p:spPr>
          <a:xfrm>
            <a:off x="1016000" y="4445000"/>
            <a:ext cx="3302000" cy="1143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WPA3与HTTPS普及导致流量全加密</a:t>
            </a:r>
            <a:br>
              <a:rPr lang="en-US" sz="12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传统“内容检测”手段彻底失效</a:t>
            </a:r>
            <a:br>
              <a:rPr lang="en-US" sz="12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无法解析数据包内的明文信息</a:t>
            </a:r>
            <a:endParaRPr lang="en-US" sz="1100"/>
          </a:p>
        </p:txBody>
      </p:sp>
      <p:sp>
        <p:nvSpPr>
          <p:cNvPr id="7" name="AutoShape 7"/>
          <p:cNvSpPr/>
          <p:nvPr/>
        </p:nvSpPr>
        <p:spPr>
          <a:xfrm>
            <a:off x="4953000" y="1524000"/>
            <a:ext cx="6223000" cy="1651000"/>
          </a:xfrm>
          <a:prstGeom prst="roundRect">
            <a:avLst>
              <a:gd name="adj" fmla="val 9230"/>
            </a:avLst>
          </a:prstGeom>
          <a:solidFill>
            <a:srgbClr val="FFFFFF">
              <a:alpha val="100000"/>
            </a:srgbClr>
          </a:solidFill>
          <a:ln w="25400" cap="flat" cmpd="sng">
            <a:noFill/>
            <a:prstDash val="solid"/>
            <a:round/>
          </a:ln>
          <a:effectLst>
            <a:outerShdw blurRad="190500" dist="50800" dir="2700000" algn="tl" rotWithShape="0">
              <a:srgbClr val="000000">
                <a:alpha val="6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207000" y="1841500"/>
            <a:ext cx="889000" cy="889000"/>
          </a:xfrm>
          <a:prstGeom prst="rect">
            <a:avLst/>
          </a:prstGeom>
        </p:spPr>
      </p:pic>
      <p:sp>
        <p:nvSpPr>
          <p:cNvPr id="9" name="AutoShape 9"/>
          <p:cNvSpPr/>
          <p:nvPr/>
        </p:nvSpPr>
        <p:spPr>
          <a:xfrm>
            <a:off x="6350000" y="18415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AI 核心策略：分析“元数据” (Metadata)</a:t>
            </a:r>
            <a:endParaRPr lang="en-US" sz="1100"/>
          </a:p>
        </p:txBody>
      </p:sp>
      <p:sp>
        <p:nvSpPr>
          <p:cNvPr id="10" name="AutoShape 10"/>
          <p:cNvSpPr/>
          <p:nvPr/>
        </p:nvSpPr>
        <p:spPr>
          <a:xfrm>
            <a:off x="6350000" y="2413000"/>
            <a:ext cx="4572000" cy="635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200" b="0" i="0" u="none" strike="noStrike">
                <a:solidFill>
                  <a:srgbClr val="70757A"/>
                </a:solidFill>
                <a:latin typeface="Noto Sans SC" panose="020B0200000000000000" charset="-122"/>
                <a:ea typeface="Noto Sans SC" panose="020B0200000000000000" charset="-122"/>
                <a:cs typeface="Noto Sans SC" panose="020B0200000000000000" charset="-122"/>
                <a:sym typeface="Noto Sans SC" panose="020B0200000000000000" charset="-122"/>
              </a:rPr>
              <a:t>AI 模型不进行解密，而是聚焦于加密流量的“外在表现”，通过机器学习识别恶意软件的通信指纹。</a:t>
            </a:r>
            <a:endParaRPr lang="en-US" sz="1100"/>
          </a:p>
        </p:txBody>
      </p:sp>
      <p:sp>
        <p:nvSpPr>
          <p:cNvPr id="11" name="AutoShape 11"/>
          <p:cNvSpPr/>
          <p:nvPr/>
        </p:nvSpPr>
        <p:spPr>
          <a:xfrm>
            <a:off x="4953000" y="3556000"/>
            <a:ext cx="1905000" cy="2159000"/>
          </a:xfrm>
          <a:prstGeom prst="roundRect">
            <a:avLst>
              <a:gd name="adj" fmla="val 8000"/>
            </a:avLst>
          </a:prstGeom>
          <a:solidFill>
            <a:srgbClr val="FFFFFF">
              <a:alpha val="100000"/>
            </a:srgbClr>
          </a:solidFill>
          <a:ln w="25400" cap="flat" cmpd="sng">
            <a:noFill/>
            <a:prstDash val="solid"/>
            <a:round/>
          </a:ln>
          <a:effectLst>
            <a:outerShdw blurRad="152400" dist="38100" dir="2700000" algn="tl" rotWithShape="0">
              <a:srgbClr val="000000">
                <a:alpha val="6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207000" y="3873500"/>
            <a:ext cx="609600" cy="609600"/>
          </a:xfrm>
          <a:prstGeom prst="rect">
            <a:avLst/>
          </a:prstGeom>
        </p:spPr>
      </p:pic>
      <p:sp>
        <p:nvSpPr>
          <p:cNvPr id="13" name="AutoShape 13"/>
          <p:cNvSpPr/>
          <p:nvPr/>
        </p:nvSpPr>
        <p:spPr>
          <a:xfrm>
            <a:off x="5207000" y="4699000"/>
            <a:ext cx="152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包大小分布</a:t>
            </a:r>
            <a:endParaRPr lang="en-US" sz="1100"/>
          </a:p>
        </p:txBody>
      </p:sp>
      <p:sp>
        <p:nvSpPr>
          <p:cNvPr id="14" name="AutoShape 14"/>
          <p:cNvSpPr/>
          <p:nvPr/>
        </p:nvSpPr>
        <p:spPr>
          <a:xfrm>
            <a:off x="5207000" y="5143500"/>
            <a:ext cx="1524000" cy="50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70757A"/>
                </a:solidFill>
                <a:latin typeface="Noto Sans SC" panose="020B0200000000000000" charset="-122"/>
                <a:ea typeface="Noto Sans SC" panose="020B0200000000000000" charset="-122"/>
                <a:cs typeface="Noto Sans SC" panose="020B0200000000000000" charset="-122"/>
                <a:sym typeface="Noto Sans SC" panose="020B0200000000000000" charset="-122"/>
              </a:rPr>
              <a:t>恶意软件与正常应用的数据包长度模式存在显著差异。</a:t>
            </a:r>
            <a:endParaRPr lang="en-US" sz="1100"/>
          </a:p>
        </p:txBody>
      </p:sp>
      <p:sp>
        <p:nvSpPr>
          <p:cNvPr id="15" name="AutoShape 15"/>
          <p:cNvSpPr/>
          <p:nvPr/>
        </p:nvSpPr>
        <p:spPr>
          <a:xfrm>
            <a:off x="7112000" y="3556000"/>
            <a:ext cx="1905000" cy="2159000"/>
          </a:xfrm>
          <a:prstGeom prst="roundRect">
            <a:avLst>
              <a:gd name="adj" fmla="val 8000"/>
            </a:avLst>
          </a:prstGeom>
          <a:solidFill>
            <a:srgbClr val="FFFFFF">
              <a:alpha val="100000"/>
            </a:srgbClr>
          </a:solidFill>
          <a:ln w="25400" cap="flat" cmpd="sng">
            <a:noFill/>
            <a:prstDash val="solid"/>
            <a:round/>
          </a:ln>
          <a:effectLst>
            <a:outerShdw blurRad="152400" dist="38100" dir="2700000" algn="tl" rotWithShape="0">
              <a:srgbClr val="000000">
                <a:alpha val="6000"/>
              </a:srgbClr>
            </a:outerShdw>
          </a:effectLst>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366000" y="3873500"/>
            <a:ext cx="609600" cy="609600"/>
          </a:xfrm>
          <a:prstGeom prst="rect">
            <a:avLst/>
          </a:prstGeom>
        </p:spPr>
      </p:pic>
      <p:sp>
        <p:nvSpPr>
          <p:cNvPr id="17" name="AutoShape 17"/>
          <p:cNvSpPr/>
          <p:nvPr/>
        </p:nvSpPr>
        <p:spPr>
          <a:xfrm>
            <a:off x="7366000" y="4699000"/>
            <a:ext cx="152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到达时间间隔</a:t>
            </a:r>
            <a:endParaRPr lang="en-US" sz="1100"/>
          </a:p>
        </p:txBody>
      </p:sp>
      <p:sp>
        <p:nvSpPr>
          <p:cNvPr id="18" name="AutoShape 18"/>
          <p:cNvSpPr/>
          <p:nvPr/>
        </p:nvSpPr>
        <p:spPr>
          <a:xfrm>
            <a:off x="7366000" y="5143500"/>
            <a:ext cx="1524000" cy="50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70757A"/>
                </a:solidFill>
                <a:latin typeface="Noto Sans SC" panose="020B0200000000000000" charset="-122"/>
                <a:ea typeface="Noto Sans SC" panose="020B0200000000000000" charset="-122"/>
                <a:cs typeface="Noto Sans SC" panose="020B0200000000000000" charset="-122"/>
                <a:sym typeface="Noto Sans SC" panose="020B0200000000000000" charset="-122"/>
              </a:rPr>
              <a:t>不同应用的通信“节奏”不同，AI能捕捉IAT的细微特征。</a:t>
            </a:r>
            <a:endParaRPr lang="en-US" sz="1100"/>
          </a:p>
        </p:txBody>
      </p:sp>
      <p:sp>
        <p:nvSpPr>
          <p:cNvPr id="19" name="AutoShape 19"/>
          <p:cNvSpPr/>
          <p:nvPr/>
        </p:nvSpPr>
        <p:spPr>
          <a:xfrm>
            <a:off x="9271000" y="3556000"/>
            <a:ext cx="1905000" cy="2159000"/>
          </a:xfrm>
          <a:prstGeom prst="roundRect">
            <a:avLst>
              <a:gd name="adj" fmla="val 8000"/>
            </a:avLst>
          </a:prstGeom>
          <a:solidFill>
            <a:srgbClr val="FFFFFF">
              <a:alpha val="100000"/>
            </a:srgbClr>
          </a:solidFill>
          <a:ln w="25400" cap="flat" cmpd="sng">
            <a:noFill/>
            <a:prstDash val="solid"/>
            <a:round/>
          </a:ln>
          <a:effectLst>
            <a:outerShdw blurRad="152400" dist="38100" dir="2700000" algn="tl" rotWithShape="0">
              <a:srgbClr val="000000">
                <a:alpha val="6000"/>
              </a:srgbClr>
            </a:outerShdw>
          </a:effectLst>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525000" y="3873500"/>
            <a:ext cx="609600" cy="609600"/>
          </a:xfrm>
          <a:prstGeom prst="rect">
            <a:avLst/>
          </a:prstGeom>
        </p:spPr>
      </p:pic>
      <p:sp>
        <p:nvSpPr>
          <p:cNvPr id="21" name="AutoShape 21"/>
          <p:cNvSpPr/>
          <p:nvPr/>
        </p:nvSpPr>
        <p:spPr>
          <a:xfrm>
            <a:off x="9525000" y="4699000"/>
            <a:ext cx="152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通信行为特征</a:t>
            </a:r>
            <a:endParaRPr lang="en-US" sz="1100"/>
          </a:p>
        </p:txBody>
      </p:sp>
      <p:sp>
        <p:nvSpPr>
          <p:cNvPr id="22" name="AutoShape 22"/>
          <p:cNvSpPr/>
          <p:nvPr/>
        </p:nvSpPr>
        <p:spPr>
          <a:xfrm>
            <a:off x="9525000" y="5143500"/>
            <a:ext cx="1524000" cy="50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70757A"/>
                </a:solidFill>
                <a:latin typeface="Noto Sans SC" panose="020B0200000000000000" charset="-122"/>
                <a:ea typeface="Noto Sans SC" panose="020B0200000000000000" charset="-122"/>
                <a:cs typeface="Noto Sans SC" panose="020B0200000000000000" charset="-122"/>
                <a:sym typeface="Noto Sans SC" panose="020B0200000000000000" charset="-122"/>
              </a:rPr>
              <a:t>连接持续时长、数据流长度等组合特征构建唯一的行为画像。</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技术选型：在速度、精度与成本间权衡</a:t>
            </a:r>
            <a:endParaRPr lang="en-US" sz="1100"/>
          </a:p>
        </p:txBody>
      </p:sp>
      <p:sp>
        <p:nvSpPr>
          <p:cNvPr id="3" name="AutoShape 3"/>
          <p:cNvSpPr/>
          <p:nvPr/>
        </p:nvSpPr>
        <p:spPr>
          <a:xfrm>
            <a:off x="762000" y="1397000"/>
            <a:ext cx="3302000" cy="4953000"/>
          </a:xfrm>
          <a:prstGeom prst="roundRect">
            <a:avLst>
              <a:gd name="adj" fmla="val 4615"/>
            </a:avLst>
          </a:prstGeom>
          <a:solidFill>
            <a:srgbClr val="F9FAFB">
              <a:alpha val="100000"/>
            </a:srgbClr>
          </a:solidFill>
          <a:ln w="25400" cap="flat" cmpd="sng">
            <a:noFill/>
            <a:prstDash val="solid"/>
            <a:round/>
          </a:ln>
          <a:effectLst>
            <a:outerShdw blurRad="2032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4" name="AutoShape 4"/>
          <p:cNvSpPr/>
          <p:nvPr/>
        </p:nvSpPr>
        <p:spPr>
          <a:xfrm>
            <a:off x="1016000" y="1651000"/>
            <a:ext cx="2794000" cy="4445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基于特征码</a:t>
            </a:r>
            <a:endParaRPr lang="en-US" sz="1100"/>
          </a:p>
        </p:txBody>
      </p:sp>
      <p:sp>
        <p:nvSpPr>
          <p:cNvPr id="5" name="AutoShape 5"/>
          <p:cNvSpPr/>
          <p:nvPr/>
        </p:nvSpPr>
        <p:spPr>
          <a:xfrm>
            <a:off x="1016000" y="2286000"/>
            <a:ext cx="2794000" cy="571500"/>
          </a:xfrm>
          <a:prstGeom prst="roundRect">
            <a:avLst>
              <a:gd name="adj" fmla="val 17777"/>
            </a:avLst>
          </a:prstGeom>
          <a:solidFill>
            <a:srgbClr val="FFFFFF">
              <a:alpha val="100000"/>
            </a:srgbClr>
          </a:solidFill>
          <a:ln w="25400" cap="flat" cmpd="sng">
            <a:noFill/>
            <a:prstDash val="solid"/>
            <a:round/>
          </a:ln>
          <a:effectLst>
            <a:outerShdw blurRad="76200" dist="25400" dir="5400000" algn="tl" rotWithShape="0">
              <a:srgbClr val="000000">
                <a:alpha val="5000"/>
              </a:srgbClr>
            </a:outerShdw>
          </a:effectLst>
        </p:spPr>
        <p:txBody>
          <a:bodyPr vert="horz" wrap="square" lIns="63500" tIns="63500" rIns="63500" bIns="63500" rtlCol="0" anchor="ctr"/>
          <a:lstStyle/>
          <a:p>
            <a:pPr algn="ctr">
              <a:defRPr/>
            </a:pPr>
          </a:p>
        </p:txBody>
      </p:sp>
      <p:sp>
        <p:nvSpPr>
          <p:cNvPr id="6" name="AutoShape 6"/>
          <p:cNvSpPr/>
          <p:nvPr/>
        </p:nvSpPr>
        <p:spPr>
          <a:xfrm>
            <a:off x="1143000" y="2413000"/>
            <a:ext cx="1016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检测能力</a:t>
            </a:r>
            <a:endParaRPr lang="en-US" sz="1100"/>
          </a:p>
        </p:txBody>
      </p:sp>
      <p:sp>
        <p:nvSpPr>
          <p:cNvPr id="7" name="AutoShape 7"/>
          <p:cNvSpPr/>
          <p:nvPr/>
        </p:nvSpPr>
        <p:spPr>
          <a:xfrm>
            <a:off x="2222500" y="2413000"/>
            <a:ext cx="1397000" cy="317500"/>
          </a:xfrm>
          <a:prstGeom prst="rect">
            <a:avLst/>
          </a:prstGeom>
          <a:noFill/>
          <a:ln w="12700" cap="flat" cmpd="sng">
            <a:noFill/>
            <a:prstDash val="solid"/>
            <a:round/>
          </a:ln>
        </p:spPr>
        <p:txBody>
          <a:bodyPr vert="horz" wrap="square" lIns="0" tIns="0" rIns="0" bIns="0" rtlCol="0" anchor="ctr" anchorCtr="0"/>
          <a:lstStyle/>
          <a:p>
            <a:pPr indent="0" algn="r">
              <a:lnSpc>
                <a:spcPct val="125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已知攻击</a:t>
            </a:r>
            <a:endParaRPr lang="en-US" sz="1100"/>
          </a:p>
        </p:txBody>
      </p:sp>
      <p:sp>
        <p:nvSpPr>
          <p:cNvPr id="8" name="AutoShape 8"/>
          <p:cNvSpPr/>
          <p:nvPr/>
        </p:nvSpPr>
        <p:spPr>
          <a:xfrm>
            <a:off x="1016000" y="2984500"/>
            <a:ext cx="2794000" cy="571500"/>
          </a:xfrm>
          <a:prstGeom prst="roundRect">
            <a:avLst>
              <a:gd name="adj" fmla="val 17777"/>
            </a:avLst>
          </a:prstGeom>
          <a:solidFill>
            <a:srgbClr val="FFFFFF">
              <a:alpha val="100000"/>
            </a:srgbClr>
          </a:solidFill>
          <a:ln w="25400" cap="flat" cmpd="sng">
            <a:noFill/>
            <a:prstDash val="solid"/>
            <a:round/>
          </a:ln>
          <a:effectLst>
            <a:outerShdw blurRad="76200" dist="25400" dir="5400000" algn="tl" rotWithShape="0">
              <a:srgbClr val="000000">
                <a:alpha val="5000"/>
              </a:srgbClr>
            </a:outerShdw>
          </a:effectLst>
        </p:spPr>
        <p:txBody>
          <a:bodyPr vert="horz" wrap="square" lIns="63500" tIns="63500" rIns="63500" bIns="63500" rtlCol="0" anchor="ctr"/>
          <a:lstStyle/>
          <a:p>
            <a:pPr algn="ctr">
              <a:defRPr/>
            </a:pPr>
          </a:p>
        </p:txBody>
      </p:sp>
      <p:sp>
        <p:nvSpPr>
          <p:cNvPr id="9" name="AutoShape 9"/>
          <p:cNvSpPr/>
          <p:nvPr/>
        </p:nvSpPr>
        <p:spPr>
          <a:xfrm>
            <a:off x="1143000" y="3111500"/>
            <a:ext cx="1016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准确率</a:t>
            </a:r>
            <a:endParaRPr lang="en-US" sz="1100"/>
          </a:p>
        </p:txBody>
      </p:sp>
      <p:sp>
        <p:nvSpPr>
          <p:cNvPr id="10" name="AutoShape 10"/>
          <p:cNvSpPr/>
          <p:nvPr/>
        </p:nvSpPr>
        <p:spPr>
          <a:xfrm>
            <a:off x="2222500" y="3111500"/>
            <a:ext cx="1397000" cy="317500"/>
          </a:xfrm>
          <a:prstGeom prst="rect">
            <a:avLst/>
          </a:prstGeom>
          <a:noFill/>
          <a:ln w="12700" cap="flat" cmpd="sng">
            <a:noFill/>
            <a:prstDash val="solid"/>
            <a:round/>
          </a:ln>
        </p:spPr>
        <p:txBody>
          <a:bodyPr vert="horz" wrap="square" lIns="0" tIns="0" rIns="0" bIns="0" rtlCol="0" anchor="ctr" anchorCtr="0"/>
          <a:lstStyle/>
          <a:p>
            <a:pPr indent="0" algn="r">
              <a:lnSpc>
                <a:spcPct val="125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高 (针对已知)</a:t>
            </a:r>
            <a:endParaRPr lang="en-US" sz="1100"/>
          </a:p>
        </p:txBody>
      </p:sp>
      <p:sp>
        <p:nvSpPr>
          <p:cNvPr id="11" name="AutoShape 11"/>
          <p:cNvSpPr/>
          <p:nvPr/>
        </p:nvSpPr>
        <p:spPr>
          <a:xfrm>
            <a:off x="1016000" y="3683000"/>
            <a:ext cx="2794000" cy="571500"/>
          </a:xfrm>
          <a:prstGeom prst="roundRect">
            <a:avLst>
              <a:gd name="adj" fmla="val 17777"/>
            </a:avLst>
          </a:prstGeom>
          <a:solidFill>
            <a:srgbClr val="FFFFFF">
              <a:alpha val="100000"/>
            </a:srgbClr>
          </a:solidFill>
          <a:ln w="25400" cap="flat" cmpd="sng">
            <a:noFill/>
            <a:prstDash val="solid"/>
            <a:round/>
          </a:ln>
          <a:effectLst>
            <a:outerShdw blurRad="76200" dist="25400" dir="5400000" algn="tl" rotWithShape="0">
              <a:srgbClr val="000000">
                <a:alpha val="5000"/>
              </a:srgbClr>
            </a:outerShdw>
          </a:effectLst>
        </p:spPr>
        <p:txBody>
          <a:bodyPr vert="horz" wrap="square" lIns="63500" tIns="63500" rIns="63500" bIns="63500" rtlCol="0" anchor="ctr"/>
          <a:lstStyle/>
          <a:p>
            <a:pPr algn="ctr">
              <a:defRPr/>
            </a:pPr>
          </a:p>
        </p:txBody>
      </p:sp>
      <p:sp>
        <p:nvSpPr>
          <p:cNvPr id="12" name="AutoShape 12"/>
          <p:cNvSpPr/>
          <p:nvPr/>
        </p:nvSpPr>
        <p:spPr>
          <a:xfrm>
            <a:off x="1143000" y="3810000"/>
            <a:ext cx="1016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响应时间</a:t>
            </a:r>
            <a:endParaRPr lang="en-US" sz="1100"/>
          </a:p>
        </p:txBody>
      </p:sp>
      <p:sp>
        <p:nvSpPr>
          <p:cNvPr id="13" name="AutoShape 13"/>
          <p:cNvSpPr/>
          <p:nvPr/>
        </p:nvSpPr>
        <p:spPr>
          <a:xfrm>
            <a:off x="2222500" y="3810000"/>
            <a:ext cx="1397000" cy="317500"/>
          </a:xfrm>
          <a:prstGeom prst="rect">
            <a:avLst/>
          </a:prstGeom>
          <a:noFill/>
          <a:ln w="12700" cap="flat" cmpd="sng">
            <a:noFill/>
            <a:prstDash val="solid"/>
            <a:round/>
          </a:ln>
        </p:spPr>
        <p:txBody>
          <a:bodyPr vert="horz" wrap="square" lIns="0" tIns="0" rIns="0" bIns="0" rtlCol="0" anchor="ctr" anchorCtr="0"/>
          <a:lstStyle/>
          <a:p>
            <a:pPr indent="0" algn="r">
              <a:lnSpc>
                <a:spcPct val="125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快 (毫秒级)</a:t>
            </a:r>
            <a:endParaRPr lang="en-US" sz="1100"/>
          </a:p>
        </p:txBody>
      </p:sp>
      <p:sp>
        <p:nvSpPr>
          <p:cNvPr id="14" name="AutoShape 14"/>
          <p:cNvSpPr/>
          <p:nvPr/>
        </p:nvSpPr>
        <p:spPr>
          <a:xfrm>
            <a:off x="1016000" y="4381500"/>
            <a:ext cx="2794000" cy="571500"/>
          </a:xfrm>
          <a:prstGeom prst="roundRect">
            <a:avLst>
              <a:gd name="adj" fmla="val 17777"/>
            </a:avLst>
          </a:prstGeom>
          <a:solidFill>
            <a:srgbClr val="FFFFFF">
              <a:alpha val="100000"/>
            </a:srgbClr>
          </a:solidFill>
          <a:ln w="25400" cap="flat" cmpd="sng">
            <a:noFill/>
            <a:prstDash val="solid"/>
            <a:round/>
          </a:ln>
          <a:effectLst>
            <a:outerShdw blurRad="76200" dist="25400" dir="5400000" algn="tl" rotWithShape="0">
              <a:srgbClr val="000000">
                <a:alpha val="5000"/>
              </a:srgbClr>
            </a:outerShdw>
          </a:effectLst>
        </p:spPr>
        <p:txBody>
          <a:bodyPr vert="horz" wrap="square" lIns="63500" tIns="63500" rIns="63500" bIns="63500" rtlCol="0" anchor="ctr"/>
          <a:lstStyle/>
          <a:p>
            <a:pPr algn="ctr">
              <a:defRPr/>
            </a:pPr>
          </a:p>
        </p:txBody>
      </p:sp>
      <p:sp>
        <p:nvSpPr>
          <p:cNvPr id="15" name="AutoShape 15"/>
          <p:cNvSpPr/>
          <p:nvPr/>
        </p:nvSpPr>
        <p:spPr>
          <a:xfrm>
            <a:off x="1143000" y="4508500"/>
            <a:ext cx="1016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资源开销</a:t>
            </a:r>
            <a:endParaRPr lang="en-US" sz="1100"/>
          </a:p>
        </p:txBody>
      </p:sp>
      <p:sp>
        <p:nvSpPr>
          <p:cNvPr id="16" name="AutoShape 16"/>
          <p:cNvSpPr/>
          <p:nvPr/>
        </p:nvSpPr>
        <p:spPr>
          <a:xfrm>
            <a:off x="2222500" y="4508500"/>
            <a:ext cx="1397000" cy="317500"/>
          </a:xfrm>
          <a:prstGeom prst="rect">
            <a:avLst/>
          </a:prstGeom>
          <a:noFill/>
          <a:ln w="12700" cap="flat" cmpd="sng">
            <a:noFill/>
            <a:prstDash val="solid"/>
            <a:round/>
          </a:ln>
        </p:spPr>
        <p:txBody>
          <a:bodyPr vert="horz" wrap="square" lIns="0" tIns="0" rIns="0" bIns="0" rtlCol="0" anchor="ctr" anchorCtr="0"/>
          <a:lstStyle/>
          <a:p>
            <a:pPr indent="0" algn="r">
              <a:lnSpc>
                <a:spcPct val="125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低</a:t>
            </a:r>
            <a:endParaRPr lang="en-US" sz="1100"/>
          </a:p>
        </p:txBody>
      </p:sp>
      <p:sp>
        <p:nvSpPr>
          <p:cNvPr id="17" name="AutoShape 17"/>
          <p:cNvSpPr/>
          <p:nvPr/>
        </p:nvSpPr>
        <p:spPr>
          <a:xfrm>
            <a:off x="1016000" y="5080000"/>
            <a:ext cx="2794000" cy="571500"/>
          </a:xfrm>
          <a:prstGeom prst="roundRect">
            <a:avLst>
              <a:gd name="adj" fmla="val 17777"/>
            </a:avLst>
          </a:prstGeom>
          <a:solidFill>
            <a:srgbClr val="FFFFFF">
              <a:alpha val="100000"/>
            </a:srgbClr>
          </a:solidFill>
          <a:ln w="25400" cap="flat" cmpd="sng">
            <a:noFill/>
            <a:prstDash val="solid"/>
            <a:round/>
          </a:ln>
          <a:effectLst>
            <a:outerShdw blurRad="76200" dist="25400" dir="5400000" algn="tl" rotWithShape="0">
              <a:srgbClr val="000000">
                <a:alpha val="5000"/>
              </a:srgbClr>
            </a:outerShdw>
          </a:effectLst>
        </p:spPr>
        <p:txBody>
          <a:bodyPr vert="horz" wrap="square" lIns="63500" tIns="63500" rIns="63500" bIns="63500" rtlCol="0" anchor="ctr"/>
          <a:lstStyle/>
          <a:p>
            <a:pPr algn="ctr">
              <a:defRPr/>
            </a:pPr>
          </a:p>
        </p:txBody>
      </p:sp>
      <p:sp>
        <p:nvSpPr>
          <p:cNvPr id="18" name="AutoShape 18"/>
          <p:cNvSpPr/>
          <p:nvPr/>
        </p:nvSpPr>
        <p:spPr>
          <a:xfrm>
            <a:off x="1143000" y="5207000"/>
            <a:ext cx="1016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维护成本</a:t>
            </a:r>
            <a:endParaRPr lang="en-US" sz="1100"/>
          </a:p>
        </p:txBody>
      </p:sp>
      <p:sp>
        <p:nvSpPr>
          <p:cNvPr id="19" name="AutoShape 19"/>
          <p:cNvSpPr/>
          <p:nvPr/>
        </p:nvSpPr>
        <p:spPr>
          <a:xfrm>
            <a:off x="2222500" y="5207000"/>
            <a:ext cx="1397000" cy="317500"/>
          </a:xfrm>
          <a:prstGeom prst="rect">
            <a:avLst/>
          </a:prstGeom>
          <a:noFill/>
          <a:ln w="12700" cap="flat" cmpd="sng">
            <a:noFill/>
            <a:prstDash val="solid"/>
            <a:round/>
          </a:ln>
        </p:spPr>
        <p:txBody>
          <a:bodyPr vert="horz" wrap="square" lIns="0" tIns="0" rIns="0" bIns="0" rtlCol="0" anchor="ctr" anchorCtr="0"/>
          <a:lstStyle/>
          <a:p>
            <a:pPr indent="0" algn="r">
              <a:lnSpc>
                <a:spcPct val="125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高 (更新特征库)</a:t>
            </a:r>
            <a:endParaRPr lang="en-US" sz="1100"/>
          </a:p>
        </p:txBody>
      </p:sp>
      <p:sp>
        <p:nvSpPr>
          <p:cNvPr id="20" name="AutoShape 20"/>
          <p:cNvSpPr/>
          <p:nvPr/>
        </p:nvSpPr>
        <p:spPr>
          <a:xfrm>
            <a:off x="4445000" y="1397000"/>
            <a:ext cx="3302000" cy="4953000"/>
          </a:xfrm>
          <a:prstGeom prst="roundRect">
            <a:avLst>
              <a:gd name="adj" fmla="val 4615"/>
            </a:avLst>
          </a:prstGeom>
          <a:solidFill>
            <a:srgbClr val="F9FAFB">
              <a:alpha val="100000"/>
            </a:srgbClr>
          </a:solidFill>
          <a:ln w="25400" cap="flat" cmpd="sng">
            <a:noFill/>
            <a:prstDash val="solid"/>
            <a:round/>
          </a:ln>
          <a:effectLst>
            <a:outerShdw blurRad="2032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21" name="AutoShape 21"/>
          <p:cNvSpPr/>
          <p:nvPr/>
        </p:nvSpPr>
        <p:spPr>
          <a:xfrm>
            <a:off x="4699000" y="1651000"/>
            <a:ext cx="2794000" cy="4445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基于统计门限</a:t>
            </a:r>
            <a:endParaRPr lang="en-US" sz="1100"/>
          </a:p>
        </p:txBody>
      </p:sp>
      <p:sp>
        <p:nvSpPr>
          <p:cNvPr id="22" name="AutoShape 22"/>
          <p:cNvSpPr/>
          <p:nvPr/>
        </p:nvSpPr>
        <p:spPr>
          <a:xfrm>
            <a:off x="4699000" y="2286000"/>
            <a:ext cx="2794000" cy="571500"/>
          </a:xfrm>
          <a:prstGeom prst="roundRect">
            <a:avLst>
              <a:gd name="adj" fmla="val 17777"/>
            </a:avLst>
          </a:prstGeom>
          <a:solidFill>
            <a:srgbClr val="FFFFFF">
              <a:alpha val="100000"/>
            </a:srgbClr>
          </a:solidFill>
          <a:ln w="25400" cap="flat" cmpd="sng">
            <a:noFill/>
            <a:prstDash val="solid"/>
            <a:round/>
          </a:ln>
          <a:effectLst>
            <a:outerShdw blurRad="76200" dist="25400" dir="5400000" algn="tl" rotWithShape="0">
              <a:srgbClr val="000000">
                <a:alpha val="5000"/>
              </a:srgbClr>
            </a:outerShdw>
          </a:effectLst>
        </p:spPr>
        <p:txBody>
          <a:bodyPr vert="horz" wrap="square" lIns="63500" tIns="63500" rIns="63500" bIns="63500" rtlCol="0" anchor="ctr"/>
          <a:lstStyle/>
          <a:p>
            <a:pPr algn="ctr">
              <a:defRPr/>
            </a:pPr>
          </a:p>
        </p:txBody>
      </p:sp>
      <p:sp>
        <p:nvSpPr>
          <p:cNvPr id="23" name="AutoShape 23"/>
          <p:cNvSpPr/>
          <p:nvPr/>
        </p:nvSpPr>
        <p:spPr>
          <a:xfrm>
            <a:off x="4826000" y="2413000"/>
            <a:ext cx="1016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检测能力</a:t>
            </a:r>
            <a:endParaRPr lang="en-US" sz="1100"/>
          </a:p>
        </p:txBody>
      </p:sp>
      <p:sp>
        <p:nvSpPr>
          <p:cNvPr id="24" name="AutoShape 24"/>
          <p:cNvSpPr/>
          <p:nvPr/>
        </p:nvSpPr>
        <p:spPr>
          <a:xfrm>
            <a:off x="5905500" y="2413000"/>
            <a:ext cx="1397000" cy="317500"/>
          </a:xfrm>
          <a:prstGeom prst="rect">
            <a:avLst/>
          </a:prstGeom>
          <a:noFill/>
          <a:ln w="12700" cap="flat" cmpd="sng">
            <a:noFill/>
            <a:prstDash val="solid"/>
            <a:round/>
          </a:ln>
        </p:spPr>
        <p:txBody>
          <a:bodyPr vert="horz" wrap="square" lIns="0" tIns="0" rIns="0" bIns="0" rtlCol="0" anchor="ctr" anchorCtr="0"/>
          <a:lstStyle/>
          <a:p>
            <a:pPr indent="0" algn="r">
              <a:lnSpc>
                <a:spcPct val="125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流量型攻击</a:t>
            </a:r>
            <a:endParaRPr lang="en-US" sz="1100"/>
          </a:p>
        </p:txBody>
      </p:sp>
      <p:sp>
        <p:nvSpPr>
          <p:cNvPr id="25" name="AutoShape 25"/>
          <p:cNvSpPr/>
          <p:nvPr/>
        </p:nvSpPr>
        <p:spPr>
          <a:xfrm>
            <a:off x="4699000" y="2984500"/>
            <a:ext cx="2794000" cy="571500"/>
          </a:xfrm>
          <a:prstGeom prst="roundRect">
            <a:avLst>
              <a:gd name="adj" fmla="val 17777"/>
            </a:avLst>
          </a:prstGeom>
          <a:solidFill>
            <a:srgbClr val="FFFFFF">
              <a:alpha val="100000"/>
            </a:srgbClr>
          </a:solidFill>
          <a:ln w="25400" cap="flat" cmpd="sng">
            <a:noFill/>
            <a:prstDash val="solid"/>
            <a:round/>
          </a:ln>
          <a:effectLst>
            <a:outerShdw blurRad="76200" dist="25400" dir="5400000" algn="tl" rotWithShape="0">
              <a:srgbClr val="000000">
                <a:alpha val="5000"/>
              </a:srgbClr>
            </a:outerShdw>
          </a:effectLst>
        </p:spPr>
        <p:txBody>
          <a:bodyPr vert="horz" wrap="square" lIns="63500" tIns="63500" rIns="63500" bIns="63500" rtlCol="0" anchor="ctr"/>
          <a:lstStyle/>
          <a:p>
            <a:pPr algn="ctr">
              <a:defRPr/>
            </a:pPr>
          </a:p>
        </p:txBody>
      </p:sp>
      <p:sp>
        <p:nvSpPr>
          <p:cNvPr id="26" name="AutoShape 26"/>
          <p:cNvSpPr/>
          <p:nvPr/>
        </p:nvSpPr>
        <p:spPr>
          <a:xfrm>
            <a:off x="4826000" y="3111500"/>
            <a:ext cx="1016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准确率</a:t>
            </a:r>
            <a:endParaRPr lang="en-US" sz="1100"/>
          </a:p>
        </p:txBody>
      </p:sp>
      <p:sp>
        <p:nvSpPr>
          <p:cNvPr id="27" name="AutoShape 27"/>
          <p:cNvSpPr/>
          <p:nvPr/>
        </p:nvSpPr>
        <p:spPr>
          <a:xfrm>
            <a:off x="5905500" y="3111500"/>
            <a:ext cx="1397000" cy="317500"/>
          </a:xfrm>
          <a:prstGeom prst="rect">
            <a:avLst/>
          </a:prstGeom>
          <a:noFill/>
          <a:ln w="12700" cap="flat" cmpd="sng">
            <a:noFill/>
            <a:prstDash val="solid"/>
            <a:round/>
          </a:ln>
        </p:spPr>
        <p:txBody>
          <a:bodyPr vert="horz" wrap="square" lIns="0" tIns="0" rIns="0" bIns="0" rtlCol="0" anchor="ctr" anchorCtr="0"/>
          <a:lstStyle/>
          <a:p>
            <a:pPr indent="0" algn="r">
              <a:lnSpc>
                <a:spcPct val="125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低 (高误报)</a:t>
            </a:r>
            <a:endParaRPr lang="en-US" sz="1100"/>
          </a:p>
        </p:txBody>
      </p:sp>
      <p:sp>
        <p:nvSpPr>
          <p:cNvPr id="28" name="AutoShape 28"/>
          <p:cNvSpPr/>
          <p:nvPr/>
        </p:nvSpPr>
        <p:spPr>
          <a:xfrm>
            <a:off x="4699000" y="3683000"/>
            <a:ext cx="2794000" cy="571500"/>
          </a:xfrm>
          <a:prstGeom prst="roundRect">
            <a:avLst>
              <a:gd name="adj" fmla="val 17777"/>
            </a:avLst>
          </a:prstGeom>
          <a:solidFill>
            <a:srgbClr val="FFFFFF">
              <a:alpha val="100000"/>
            </a:srgbClr>
          </a:solidFill>
          <a:ln w="25400" cap="flat" cmpd="sng">
            <a:noFill/>
            <a:prstDash val="solid"/>
            <a:round/>
          </a:ln>
          <a:effectLst>
            <a:outerShdw blurRad="76200" dist="25400" dir="5400000" algn="tl" rotWithShape="0">
              <a:srgbClr val="000000">
                <a:alpha val="5000"/>
              </a:srgbClr>
            </a:outerShdw>
          </a:effectLst>
        </p:spPr>
        <p:txBody>
          <a:bodyPr vert="horz" wrap="square" lIns="63500" tIns="63500" rIns="63500" bIns="63500" rtlCol="0" anchor="ctr"/>
          <a:lstStyle/>
          <a:p>
            <a:pPr algn="ctr">
              <a:defRPr/>
            </a:pPr>
          </a:p>
        </p:txBody>
      </p:sp>
      <p:sp>
        <p:nvSpPr>
          <p:cNvPr id="29" name="AutoShape 29"/>
          <p:cNvSpPr/>
          <p:nvPr/>
        </p:nvSpPr>
        <p:spPr>
          <a:xfrm>
            <a:off x="4826000" y="3810000"/>
            <a:ext cx="1016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响应时间</a:t>
            </a:r>
            <a:endParaRPr lang="en-US" sz="1100"/>
          </a:p>
        </p:txBody>
      </p:sp>
      <p:sp>
        <p:nvSpPr>
          <p:cNvPr id="30" name="AutoShape 30"/>
          <p:cNvSpPr/>
          <p:nvPr/>
        </p:nvSpPr>
        <p:spPr>
          <a:xfrm>
            <a:off x="5905500" y="3810000"/>
            <a:ext cx="1397000" cy="317500"/>
          </a:xfrm>
          <a:prstGeom prst="rect">
            <a:avLst/>
          </a:prstGeom>
          <a:noFill/>
          <a:ln w="12700" cap="flat" cmpd="sng">
            <a:noFill/>
            <a:prstDash val="solid"/>
            <a:round/>
          </a:ln>
        </p:spPr>
        <p:txBody>
          <a:bodyPr vert="horz" wrap="square" lIns="0" tIns="0" rIns="0" bIns="0" rtlCol="0" anchor="ctr" anchorCtr="0"/>
          <a:lstStyle/>
          <a:p>
            <a:pPr indent="0" algn="r">
              <a:lnSpc>
                <a:spcPct val="125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快 (毫秒级)</a:t>
            </a:r>
            <a:endParaRPr lang="en-US" sz="1100"/>
          </a:p>
        </p:txBody>
      </p:sp>
      <p:sp>
        <p:nvSpPr>
          <p:cNvPr id="31" name="AutoShape 31"/>
          <p:cNvSpPr/>
          <p:nvPr/>
        </p:nvSpPr>
        <p:spPr>
          <a:xfrm>
            <a:off x="4699000" y="4381500"/>
            <a:ext cx="2794000" cy="571500"/>
          </a:xfrm>
          <a:prstGeom prst="roundRect">
            <a:avLst>
              <a:gd name="adj" fmla="val 17777"/>
            </a:avLst>
          </a:prstGeom>
          <a:solidFill>
            <a:srgbClr val="FFFFFF">
              <a:alpha val="100000"/>
            </a:srgbClr>
          </a:solidFill>
          <a:ln w="25400" cap="flat" cmpd="sng">
            <a:noFill/>
            <a:prstDash val="solid"/>
            <a:round/>
          </a:ln>
          <a:effectLst>
            <a:outerShdw blurRad="76200" dist="25400" dir="5400000" algn="tl" rotWithShape="0">
              <a:srgbClr val="000000">
                <a:alpha val="5000"/>
              </a:srgbClr>
            </a:outerShdw>
          </a:effectLst>
        </p:spPr>
        <p:txBody>
          <a:bodyPr vert="horz" wrap="square" lIns="63500" tIns="63500" rIns="63500" bIns="63500" rtlCol="0" anchor="ctr"/>
          <a:lstStyle/>
          <a:p>
            <a:pPr algn="ctr">
              <a:defRPr/>
            </a:pPr>
          </a:p>
        </p:txBody>
      </p:sp>
      <p:sp>
        <p:nvSpPr>
          <p:cNvPr id="32" name="AutoShape 32"/>
          <p:cNvSpPr/>
          <p:nvPr/>
        </p:nvSpPr>
        <p:spPr>
          <a:xfrm>
            <a:off x="4826000" y="4508500"/>
            <a:ext cx="1016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资源开销</a:t>
            </a:r>
            <a:endParaRPr lang="en-US" sz="1100"/>
          </a:p>
        </p:txBody>
      </p:sp>
      <p:sp>
        <p:nvSpPr>
          <p:cNvPr id="33" name="AutoShape 33"/>
          <p:cNvSpPr/>
          <p:nvPr/>
        </p:nvSpPr>
        <p:spPr>
          <a:xfrm>
            <a:off x="5905500" y="4508500"/>
            <a:ext cx="1397000" cy="317500"/>
          </a:xfrm>
          <a:prstGeom prst="rect">
            <a:avLst/>
          </a:prstGeom>
          <a:noFill/>
          <a:ln w="12700" cap="flat" cmpd="sng">
            <a:noFill/>
            <a:prstDash val="solid"/>
            <a:round/>
          </a:ln>
        </p:spPr>
        <p:txBody>
          <a:bodyPr vert="horz" wrap="square" lIns="0" tIns="0" rIns="0" bIns="0" rtlCol="0" anchor="ctr" anchorCtr="0"/>
          <a:lstStyle/>
          <a:p>
            <a:pPr indent="0" algn="r">
              <a:lnSpc>
                <a:spcPct val="125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低</a:t>
            </a:r>
            <a:endParaRPr lang="en-US" sz="1100"/>
          </a:p>
        </p:txBody>
      </p:sp>
      <p:sp>
        <p:nvSpPr>
          <p:cNvPr id="34" name="AutoShape 34"/>
          <p:cNvSpPr/>
          <p:nvPr/>
        </p:nvSpPr>
        <p:spPr>
          <a:xfrm>
            <a:off x="4699000" y="5080000"/>
            <a:ext cx="2794000" cy="571500"/>
          </a:xfrm>
          <a:prstGeom prst="roundRect">
            <a:avLst>
              <a:gd name="adj" fmla="val 17777"/>
            </a:avLst>
          </a:prstGeom>
          <a:solidFill>
            <a:srgbClr val="FFFFFF">
              <a:alpha val="100000"/>
            </a:srgbClr>
          </a:solidFill>
          <a:ln w="25400" cap="flat" cmpd="sng">
            <a:noFill/>
            <a:prstDash val="solid"/>
            <a:round/>
          </a:ln>
          <a:effectLst>
            <a:outerShdw blurRad="76200" dist="25400" dir="5400000" algn="tl" rotWithShape="0">
              <a:srgbClr val="000000">
                <a:alpha val="5000"/>
              </a:srgbClr>
            </a:outerShdw>
          </a:effectLst>
        </p:spPr>
        <p:txBody>
          <a:bodyPr vert="horz" wrap="square" lIns="63500" tIns="63500" rIns="63500" bIns="63500" rtlCol="0" anchor="ctr"/>
          <a:lstStyle/>
          <a:p>
            <a:pPr algn="ctr">
              <a:defRPr/>
            </a:pPr>
          </a:p>
        </p:txBody>
      </p:sp>
      <p:sp>
        <p:nvSpPr>
          <p:cNvPr id="35" name="AutoShape 35"/>
          <p:cNvSpPr/>
          <p:nvPr/>
        </p:nvSpPr>
        <p:spPr>
          <a:xfrm>
            <a:off x="4826000" y="5207000"/>
            <a:ext cx="1016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维护成本</a:t>
            </a:r>
            <a:endParaRPr lang="en-US" sz="1100"/>
          </a:p>
        </p:txBody>
      </p:sp>
      <p:sp>
        <p:nvSpPr>
          <p:cNvPr id="36" name="AutoShape 36"/>
          <p:cNvSpPr/>
          <p:nvPr/>
        </p:nvSpPr>
        <p:spPr>
          <a:xfrm>
            <a:off x="5905500" y="5207000"/>
            <a:ext cx="1397000" cy="317500"/>
          </a:xfrm>
          <a:prstGeom prst="rect">
            <a:avLst/>
          </a:prstGeom>
          <a:noFill/>
          <a:ln w="12700" cap="flat" cmpd="sng">
            <a:noFill/>
            <a:prstDash val="solid"/>
            <a:round/>
          </a:ln>
        </p:spPr>
        <p:txBody>
          <a:bodyPr vert="horz" wrap="square" lIns="0" tIns="0" rIns="0" bIns="0" rtlCol="0" anchor="ctr" anchorCtr="0"/>
          <a:lstStyle/>
          <a:p>
            <a:pPr indent="0" algn="r">
              <a:lnSpc>
                <a:spcPct val="125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中 (阈值调优)</a:t>
            </a:r>
            <a:endParaRPr lang="en-US" sz="1100"/>
          </a:p>
        </p:txBody>
      </p:sp>
      <p:sp>
        <p:nvSpPr>
          <p:cNvPr id="37" name="AutoShape 37"/>
          <p:cNvSpPr/>
          <p:nvPr/>
        </p:nvSpPr>
        <p:spPr>
          <a:xfrm>
            <a:off x="8128000" y="1397000"/>
            <a:ext cx="3302000" cy="4953000"/>
          </a:xfrm>
          <a:prstGeom prst="roundRect">
            <a:avLst>
              <a:gd name="adj" fmla="val 4615"/>
            </a:avLst>
          </a:prstGeom>
          <a:solidFill>
            <a:srgbClr val="0052CC">
              <a:alpha val="100000"/>
            </a:srgbClr>
          </a:solidFill>
          <a:ln w="25400" cap="flat" cmpd="sng">
            <a:noFill/>
            <a:prstDash val="solid"/>
            <a:round/>
          </a:ln>
          <a:effectLst>
            <a:outerShdw blurRad="254000" dist="76200" dir="5400000" algn="tl" rotWithShape="0">
              <a:srgbClr val="0052CC">
                <a:alpha val="30000"/>
              </a:srgbClr>
            </a:outerShdw>
          </a:effectLst>
        </p:spPr>
        <p:txBody>
          <a:bodyPr vert="horz" wrap="square" lIns="63500" tIns="63500" rIns="63500" bIns="63500" rtlCol="0" anchor="ctr"/>
          <a:lstStyle/>
          <a:p>
            <a:pPr algn="ctr">
              <a:defRPr/>
            </a:pPr>
          </a:p>
        </p:txBody>
      </p:sp>
      <p:sp>
        <p:nvSpPr>
          <p:cNvPr id="38" name="AutoShape 38"/>
          <p:cNvSpPr/>
          <p:nvPr/>
        </p:nvSpPr>
        <p:spPr>
          <a:xfrm>
            <a:off x="8382000" y="1651000"/>
            <a:ext cx="2794000" cy="4445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基于AI的异常检测</a:t>
            </a:r>
            <a:endParaRPr lang="en-US" sz="1100"/>
          </a:p>
        </p:txBody>
      </p:sp>
      <p:sp>
        <p:nvSpPr>
          <p:cNvPr id="39" name="AutoShape 39"/>
          <p:cNvSpPr/>
          <p:nvPr/>
        </p:nvSpPr>
        <p:spPr>
          <a:xfrm>
            <a:off x="8382000" y="2286000"/>
            <a:ext cx="2794000" cy="571500"/>
          </a:xfrm>
          <a:prstGeom prst="roundRect">
            <a:avLst>
              <a:gd name="adj" fmla="val 17777"/>
            </a:avLst>
          </a:prstGeom>
          <a:solidFill>
            <a:srgbClr val="FFFFFF">
              <a:alpha val="15000"/>
            </a:srgbClr>
          </a:solidFill>
          <a:ln w="25400" cap="flat" cmpd="sng">
            <a:noFill/>
            <a:prstDash val="solid"/>
            <a:round/>
          </a:ln>
        </p:spPr>
        <p:txBody>
          <a:bodyPr vert="horz" wrap="square" lIns="63500" tIns="63500" rIns="63500" bIns="63500" rtlCol="0" anchor="ctr"/>
          <a:lstStyle/>
          <a:p>
            <a:pPr algn="ctr">
              <a:defRPr/>
            </a:pPr>
          </a:p>
        </p:txBody>
      </p:sp>
      <p:sp>
        <p:nvSpPr>
          <p:cNvPr id="40" name="AutoShape 40"/>
          <p:cNvSpPr/>
          <p:nvPr/>
        </p:nvSpPr>
        <p:spPr>
          <a:xfrm>
            <a:off x="8509000" y="2413000"/>
            <a:ext cx="1016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检测能力</a:t>
            </a:r>
            <a:endParaRPr lang="en-US" sz="1100"/>
          </a:p>
        </p:txBody>
      </p:sp>
      <p:sp>
        <p:nvSpPr>
          <p:cNvPr id="41" name="AutoShape 41"/>
          <p:cNvSpPr/>
          <p:nvPr/>
        </p:nvSpPr>
        <p:spPr>
          <a:xfrm>
            <a:off x="9588500" y="2413000"/>
            <a:ext cx="1460500" cy="317500"/>
          </a:xfrm>
          <a:prstGeom prst="rect">
            <a:avLst/>
          </a:prstGeom>
          <a:noFill/>
          <a:ln w="12700" cap="flat" cmpd="sng">
            <a:noFill/>
            <a:prstDash val="solid"/>
            <a:round/>
          </a:ln>
        </p:spPr>
        <p:txBody>
          <a:bodyPr vert="horz" wrap="square" lIns="0" tIns="0" rIns="0" bIns="0" rtlCol="0" anchor="ctr" anchorCtr="0"/>
          <a:lstStyle/>
          <a:p>
            <a:pPr indent="0" algn="r">
              <a:lnSpc>
                <a:spcPct val="125000"/>
              </a:lnSpc>
              <a:defRPr/>
            </a:pPr>
            <a:r>
              <a:rPr lang="en-US" sz="1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已知/未知/异常</a:t>
            </a:r>
            <a:endParaRPr lang="en-US" sz="1100"/>
          </a:p>
        </p:txBody>
      </p:sp>
      <p:sp>
        <p:nvSpPr>
          <p:cNvPr id="42" name="AutoShape 42"/>
          <p:cNvSpPr/>
          <p:nvPr/>
        </p:nvSpPr>
        <p:spPr>
          <a:xfrm>
            <a:off x="8382000" y="2984500"/>
            <a:ext cx="2794000" cy="571500"/>
          </a:xfrm>
          <a:prstGeom prst="roundRect">
            <a:avLst>
              <a:gd name="adj" fmla="val 17777"/>
            </a:avLst>
          </a:prstGeom>
          <a:solidFill>
            <a:srgbClr val="FFFFFF">
              <a:alpha val="15000"/>
            </a:srgbClr>
          </a:solidFill>
          <a:ln w="25400" cap="flat" cmpd="sng">
            <a:noFill/>
            <a:prstDash val="solid"/>
            <a:round/>
          </a:ln>
        </p:spPr>
        <p:txBody>
          <a:bodyPr vert="horz" wrap="square" lIns="63500" tIns="63500" rIns="63500" bIns="63500" rtlCol="0" anchor="ctr"/>
          <a:lstStyle/>
          <a:p>
            <a:pPr algn="ctr">
              <a:defRPr/>
            </a:pPr>
          </a:p>
        </p:txBody>
      </p:sp>
      <p:sp>
        <p:nvSpPr>
          <p:cNvPr id="43" name="AutoShape 43"/>
          <p:cNvSpPr/>
          <p:nvPr/>
        </p:nvSpPr>
        <p:spPr>
          <a:xfrm>
            <a:off x="8509000" y="3111500"/>
            <a:ext cx="1016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准确率</a:t>
            </a:r>
            <a:endParaRPr lang="en-US" sz="1100"/>
          </a:p>
        </p:txBody>
      </p:sp>
      <p:sp>
        <p:nvSpPr>
          <p:cNvPr id="44" name="AutoShape 44"/>
          <p:cNvSpPr/>
          <p:nvPr/>
        </p:nvSpPr>
        <p:spPr>
          <a:xfrm>
            <a:off x="9588500" y="3111500"/>
            <a:ext cx="1460500" cy="317500"/>
          </a:xfrm>
          <a:prstGeom prst="rect">
            <a:avLst/>
          </a:prstGeom>
          <a:noFill/>
          <a:ln w="12700" cap="flat" cmpd="sng">
            <a:noFill/>
            <a:prstDash val="solid"/>
            <a:round/>
          </a:ln>
        </p:spPr>
        <p:txBody>
          <a:bodyPr vert="horz" wrap="square" lIns="0" tIns="0" rIns="0" bIns="0" rtlCol="0" anchor="ctr" anchorCtr="0"/>
          <a:lstStyle/>
          <a:p>
            <a:pPr indent="0" algn="r">
              <a:lnSpc>
                <a:spcPct val="125000"/>
              </a:lnSpc>
              <a:defRPr/>
            </a:pPr>
            <a:r>
              <a:rPr lang="en-US" sz="1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高</a:t>
            </a:r>
            <a:endParaRPr lang="en-US" sz="1100"/>
          </a:p>
        </p:txBody>
      </p:sp>
      <p:sp>
        <p:nvSpPr>
          <p:cNvPr id="45" name="AutoShape 45"/>
          <p:cNvSpPr/>
          <p:nvPr/>
        </p:nvSpPr>
        <p:spPr>
          <a:xfrm>
            <a:off x="8382000" y="3683000"/>
            <a:ext cx="2794000" cy="571500"/>
          </a:xfrm>
          <a:prstGeom prst="roundRect">
            <a:avLst>
              <a:gd name="adj" fmla="val 17777"/>
            </a:avLst>
          </a:prstGeom>
          <a:solidFill>
            <a:srgbClr val="FFFFFF">
              <a:alpha val="15000"/>
            </a:srgbClr>
          </a:solidFill>
          <a:ln w="25400" cap="flat" cmpd="sng">
            <a:noFill/>
            <a:prstDash val="solid"/>
            <a:round/>
          </a:ln>
        </p:spPr>
        <p:txBody>
          <a:bodyPr vert="horz" wrap="square" lIns="63500" tIns="63500" rIns="63500" bIns="63500" rtlCol="0" anchor="ctr"/>
          <a:lstStyle/>
          <a:p>
            <a:pPr algn="ctr">
              <a:defRPr/>
            </a:pPr>
          </a:p>
        </p:txBody>
      </p:sp>
      <p:sp>
        <p:nvSpPr>
          <p:cNvPr id="46" name="AutoShape 46"/>
          <p:cNvSpPr/>
          <p:nvPr/>
        </p:nvSpPr>
        <p:spPr>
          <a:xfrm>
            <a:off x="8509000" y="3810000"/>
            <a:ext cx="1016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响应时间</a:t>
            </a:r>
            <a:endParaRPr lang="en-US" sz="1100"/>
          </a:p>
        </p:txBody>
      </p:sp>
      <p:sp>
        <p:nvSpPr>
          <p:cNvPr id="47" name="AutoShape 47"/>
          <p:cNvSpPr/>
          <p:nvPr/>
        </p:nvSpPr>
        <p:spPr>
          <a:xfrm>
            <a:off x="9588500" y="3810000"/>
            <a:ext cx="1460500" cy="317500"/>
          </a:xfrm>
          <a:prstGeom prst="rect">
            <a:avLst/>
          </a:prstGeom>
          <a:noFill/>
          <a:ln w="12700" cap="flat" cmpd="sng">
            <a:noFill/>
            <a:prstDash val="solid"/>
            <a:round/>
          </a:ln>
        </p:spPr>
        <p:txBody>
          <a:bodyPr vert="horz" wrap="square" lIns="0" tIns="0" rIns="0" bIns="0" rtlCol="0" anchor="ctr" anchorCtr="0"/>
          <a:lstStyle/>
          <a:p>
            <a:pPr indent="0" algn="r">
              <a:lnSpc>
                <a:spcPct val="125000"/>
              </a:lnSpc>
              <a:defRPr/>
            </a:pPr>
            <a:r>
              <a:rPr lang="en-US" sz="12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中等 (秒级)</a:t>
            </a:r>
            <a:endParaRPr lang="en-US" sz="1100"/>
          </a:p>
        </p:txBody>
      </p:sp>
      <p:sp>
        <p:nvSpPr>
          <p:cNvPr id="48" name="AutoShape 48"/>
          <p:cNvSpPr/>
          <p:nvPr/>
        </p:nvSpPr>
        <p:spPr>
          <a:xfrm>
            <a:off x="8382000" y="4381500"/>
            <a:ext cx="2794000" cy="571500"/>
          </a:xfrm>
          <a:prstGeom prst="roundRect">
            <a:avLst>
              <a:gd name="adj" fmla="val 17777"/>
            </a:avLst>
          </a:prstGeom>
          <a:solidFill>
            <a:srgbClr val="FFFFFF">
              <a:alpha val="15000"/>
            </a:srgbClr>
          </a:solidFill>
          <a:ln w="25400" cap="flat" cmpd="sng">
            <a:noFill/>
            <a:prstDash val="solid"/>
            <a:round/>
          </a:ln>
        </p:spPr>
        <p:txBody>
          <a:bodyPr vert="horz" wrap="square" lIns="63500" tIns="63500" rIns="63500" bIns="63500" rtlCol="0" anchor="ctr"/>
          <a:lstStyle/>
          <a:p>
            <a:pPr algn="ctr">
              <a:defRPr/>
            </a:pPr>
          </a:p>
        </p:txBody>
      </p:sp>
      <p:sp>
        <p:nvSpPr>
          <p:cNvPr id="49" name="AutoShape 49"/>
          <p:cNvSpPr/>
          <p:nvPr/>
        </p:nvSpPr>
        <p:spPr>
          <a:xfrm>
            <a:off x="8509000" y="4508500"/>
            <a:ext cx="1016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资源开销</a:t>
            </a:r>
            <a:endParaRPr lang="en-US" sz="1100"/>
          </a:p>
        </p:txBody>
      </p:sp>
      <p:sp>
        <p:nvSpPr>
          <p:cNvPr id="50" name="AutoShape 50"/>
          <p:cNvSpPr/>
          <p:nvPr/>
        </p:nvSpPr>
        <p:spPr>
          <a:xfrm>
            <a:off x="9588500" y="4508500"/>
            <a:ext cx="1460500" cy="317500"/>
          </a:xfrm>
          <a:prstGeom prst="rect">
            <a:avLst/>
          </a:prstGeom>
          <a:noFill/>
          <a:ln w="12700" cap="flat" cmpd="sng">
            <a:noFill/>
            <a:prstDash val="solid"/>
            <a:round/>
          </a:ln>
        </p:spPr>
        <p:txBody>
          <a:bodyPr vert="horz" wrap="square" lIns="0" tIns="0" rIns="0" bIns="0" rtlCol="0" anchor="ctr" anchorCtr="0"/>
          <a:lstStyle/>
          <a:p>
            <a:pPr indent="0" algn="r">
              <a:lnSpc>
                <a:spcPct val="125000"/>
              </a:lnSpc>
              <a:defRPr/>
            </a:pPr>
            <a:r>
              <a:rPr lang="en-US" sz="1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高</a:t>
            </a:r>
            <a:endParaRPr lang="en-US" sz="1100"/>
          </a:p>
        </p:txBody>
      </p:sp>
      <p:sp>
        <p:nvSpPr>
          <p:cNvPr id="51" name="AutoShape 51"/>
          <p:cNvSpPr/>
          <p:nvPr/>
        </p:nvSpPr>
        <p:spPr>
          <a:xfrm>
            <a:off x="8382000" y="5080000"/>
            <a:ext cx="2794000" cy="571500"/>
          </a:xfrm>
          <a:prstGeom prst="roundRect">
            <a:avLst>
              <a:gd name="adj" fmla="val 17777"/>
            </a:avLst>
          </a:prstGeom>
          <a:solidFill>
            <a:srgbClr val="FFFFFF">
              <a:alpha val="15000"/>
            </a:srgbClr>
          </a:solidFill>
          <a:ln w="25400" cap="flat" cmpd="sng">
            <a:noFill/>
            <a:prstDash val="solid"/>
            <a:round/>
          </a:ln>
        </p:spPr>
        <p:txBody>
          <a:bodyPr vert="horz" wrap="square" lIns="63500" tIns="63500" rIns="63500" bIns="63500" rtlCol="0" anchor="ctr"/>
          <a:lstStyle/>
          <a:p>
            <a:pPr algn="ctr">
              <a:defRPr/>
            </a:pPr>
          </a:p>
        </p:txBody>
      </p:sp>
      <p:sp>
        <p:nvSpPr>
          <p:cNvPr id="52" name="AutoShape 52"/>
          <p:cNvSpPr/>
          <p:nvPr/>
        </p:nvSpPr>
        <p:spPr>
          <a:xfrm>
            <a:off x="8509000" y="5207000"/>
            <a:ext cx="1016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维护成本</a:t>
            </a:r>
            <a:endParaRPr lang="en-US" sz="1100"/>
          </a:p>
        </p:txBody>
      </p:sp>
      <p:sp>
        <p:nvSpPr>
          <p:cNvPr id="53" name="AutoShape 53"/>
          <p:cNvSpPr/>
          <p:nvPr/>
        </p:nvSpPr>
        <p:spPr>
          <a:xfrm>
            <a:off x="9588500" y="5207000"/>
            <a:ext cx="1460500" cy="317500"/>
          </a:xfrm>
          <a:prstGeom prst="rect">
            <a:avLst/>
          </a:prstGeom>
          <a:noFill/>
          <a:ln w="12700" cap="flat" cmpd="sng">
            <a:noFill/>
            <a:prstDash val="solid"/>
            <a:round/>
          </a:ln>
        </p:spPr>
        <p:txBody>
          <a:bodyPr vert="horz" wrap="square" lIns="0" tIns="0" rIns="0" bIns="0" rtlCol="0" anchor="ctr" anchorCtr="0"/>
          <a:lstStyle/>
          <a:p>
            <a:pPr indent="0" algn="r">
              <a:lnSpc>
                <a:spcPct val="125000"/>
              </a:lnSpc>
              <a:defRPr/>
            </a:pPr>
            <a:r>
              <a:rPr lang="en-US" sz="12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中 (模型更新)</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1524000"/>
            <a:ext cx="12192000" cy="177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10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PART 04</a:t>
            </a:r>
            <a:endParaRPr lang="en-US" sz="1100"/>
          </a:p>
        </p:txBody>
      </p:sp>
      <p:sp>
        <p:nvSpPr>
          <p:cNvPr id="3" name="AutoShape 3"/>
          <p:cNvSpPr/>
          <p:nvPr/>
        </p:nvSpPr>
        <p:spPr>
          <a:xfrm>
            <a:off x="5461000" y="3556000"/>
            <a:ext cx="1270000" cy="76200"/>
          </a:xfrm>
          <a:prstGeom prst="roundRect">
            <a:avLst>
              <a:gd name="adj" fmla="val 50000"/>
            </a:avLst>
          </a:prstGeom>
          <a:solidFill>
            <a:srgbClr val="0052CC">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0" y="4064000"/>
            <a:ext cx="1219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二分类</a:t>
            </a:r>
            <a:r>
              <a:rPr lang="zh-CN" altLang="en-US" sz="4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无线恶意流量</a:t>
            </a:r>
            <a:r>
              <a:rPr lang="en-US" sz="4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实验</a:t>
            </a:r>
            <a:endParaRPr lang="en-US" sz="1100"/>
          </a:p>
        </p:txBody>
      </p:sp>
      <p:sp>
        <p:nvSpPr>
          <p:cNvPr id="5" name="AutoShape 5"/>
          <p:cNvSpPr/>
          <p:nvPr/>
        </p:nvSpPr>
        <p:spPr>
          <a:xfrm>
            <a:off x="0" y="4953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数据集 / 模型 / 实现</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实验基石：AWID3 - 新一代无线攻击数据集</a:t>
            </a:r>
            <a:endParaRPr lang="en-US" sz="1100"/>
          </a:p>
        </p:txBody>
      </p:sp>
      <p:sp>
        <p:nvSpPr>
          <p:cNvPr id="3" name="AutoShape 3"/>
          <p:cNvSpPr/>
          <p:nvPr/>
        </p:nvSpPr>
        <p:spPr>
          <a:xfrm>
            <a:off x="762000" y="1524000"/>
            <a:ext cx="5207000" cy="4699000"/>
          </a:xfrm>
          <a:prstGeom prst="roundRect">
            <a:avLst>
              <a:gd name="adj" fmla="val 3243"/>
            </a:avLst>
          </a:prstGeom>
          <a:solidFill>
            <a:srgbClr val="F0F5FF">
              <a:alpha val="100000"/>
            </a:srgbClr>
          </a:solidFill>
          <a:ln cap="flat" cmpd="sng">
            <a:solidFill>
              <a:srgbClr val="C1CDE6">
                <a:alpha val="100000"/>
              </a:srgbClr>
            </a:solidFill>
            <a:prstDash val="solid"/>
            <a:round/>
          </a:ln>
        </p:spPr>
        <p:txBody>
          <a:bodyPr vert="horz" wrap="square" lIns="63500" tIns="63500" rIns="63500" bIns="63500" rtlCol="0" anchor="ctr"/>
          <a:lstStyle/>
          <a:p>
            <a:pPr algn="ctr">
              <a:defRPr/>
            </a:pPr>
          </a:p>
        </p:txBody>
      </p:sp>
      <p:sp>
        <p:nvSpPr>
          <p:cNvPr id="4" name="AutoShape 4"/>
          <p:cNvSpPr/>
          <p:nvPr/>
        </p:nvSpPr>
        <p:spPr>
          <a:xfrm>
            <a:off x="1016000" y="1778000"/>
            <a:ext cx="4699000" cy="1397000"/>
          </a:xfrm>
          <a:prstGeom prst="roundRect">
            <a:avLst>
              <a:gd name="adj" fmla="val 7272"/>
            </a:avLst>
          </a:prstGeom>
          <a:solidFill>
            <a:srgbClr val="FFFFFF">
              <a:alpha val="100000"/>
            </a:srgbClr>
          </a:solidFill>
          <a:ln w="25400" cap="flat" cmpd="sng">
            <a:noFill/>
            <a:prstDash val="solid"/>
            <a:round/>
          </a:ln>
          <a:effectLst>
            <a:outerShdw blurRad="127000" dist="50800" dir="5400000" algn="tl" rotWithShape="0">
              <a:srgbClr val="000000">
                <a:alpha val="5000"/>
              </a:srgbClr>
            </a:outerShdw>
          </a:effectLst>
        </p:spPr>
        <p:txBody>
          <a:bodyPr vert="horz" wrap="square" lIns="63500" tIns="63500" rIns="63500" bIns="63500" rtlCol="0" anchor="ctr"/>
          <a:lstStyle/>
          <a:p>
            <a:pPr algn="ctr">
              <a:defRPr/>
            </a:pPr>
          </a:p>
        </p:txBody>
      </p:sp>
      <p:sp>
        <p:nvSpPr>
          <p:cNvPr id="5" name="AutoShape 5"/>
          <p:cNvSpPr/>
          <p:nvPr/>
        </p:nvSpPr>
        <p:spPr>
          <a:xfrm>
            <a:off x="1270000" y="1968500"/>
            <a:ext cx="419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 简介与来源</a:t>
            </a:r>
            <a:endParaRPr lang="en-US" sz="1100"/>
          </a:p>
        </p:txBody>
      </p:sp>
      <p:sp>
        <p:nvSpPr>
          <p:cNvPr id="6" name="AutoShape 6"/>
          <p:cNvSpPr/>
          <p:nvPr/>
        </p:nvSpPr>
        <p:spPr>
          <a:xfrm>
            <a:off x="1270000" y="2413000"/>
            <a:ext cx="4191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AWID3是专用于无线入侵检测系统评估的公开数据集，由学术机构在受控环境中模拟各类攻击生成，具备极高的研究参考价值。</a:t>
            </a:r>
            <a:endParaRPr lang="en-US" sz="1100"/>
          </a:p>
        </p:txBody>
      </p:sp>
      <p:sp>
        <p:nvSpPr>
          <p:cNvPr id="7" name="AutoShape 7"/>
          <p:cNvSpPr/>
          <p:nvPr/>
        </p:nvSpPr>
        <p:spPr>
          <a:xfrm>
            <a:off x="1016000" y="3429000"/>
            <a:ext cx="4699000" cy="1905000"/>
          </a:xfrm>
          <a:prstGeom prst="roundRect">
            <a:avLst>
              <a:gd name="adj" fmla="val 5333"/>
            </a:avLst>
          </a:prstGeom>
          <a:solidFill>
            <a:srgbClr val="FFFFFF">
              <a:alpha val="100000"/>
            </a:srgbClr>
          </a:solidFill>
          <a:ln w="25400" cap="flat" cmpd="sng">
            <a:noFill/>
            <a:prstDash val="solid"/>
            <a:round/>
          </a:ln>
          <a:effectLst>
            <a:outerShdw blurRad="127000" dist="50800" dir="5400000" algn="tl" rotWithShape="0">
              <a:srgbClr val="000000">
                <a:alpha val="5000"/>
              </a:srgbClr>
            </a:outerShdw>
          </a:effectLst>
        </p:spPr>
        <p:txBody>
          <a:bodyPr vert="horz" wrap="square" lIns="63500" tIns="63500" rIns="63500" bIns="63500" rtlCol="0" anchor="ctr"/>
          <a:lstStyle/>
          <a:p>
            <a:pPr algn="ctr">
              <a:defRPr/>
            </a:pPr>
          </a:p>
        </p:txBody>
      </p:sp>
      <p:sp>
        <p:nvSpPr>
          <p:cNvPr id="8" name="AutoShape 8"/>
          <p:cNvSpPr/>
          <p:nvPr/>
        </p:nvSpPr>
        <p:spPr>
          <a:xfrm>
            <a:off x="1270000" y="3619500"/>
            <a:ext cx="419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 核心数据构成</a:t>
            </a:r>
            <a:endParaRPr lang="en-US" sz="1100"/>
          </a:p>
        </p:txBody>
      </p:sp>
      <p:sp>
        <p:nvSpPr>
          <p:cNvPr id="9" name="AutoShape 9"/>
          <p:cNvSpPr/>
          <p:nvPr/>
        </p:nvSpPr>
        <p:spPr>
          <a:xfrm>
            <a:off x="1270000" y="4064000"/>
            <a:ext cx="2032000" cy="1016000"/>
          </a:xfrm>
          <a:prstGeom prst="roundRect">
            <a:avLst>
              <a:gd name="adj" fmla="val 1000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1397000" y="4191000"/>
            <a:ext cx="1778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 正常流量：</a:t>
            </a:r>
            <a:r>
              <a:rPr lang="en-US" sz="11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典型办公Wi-Fi活动</a:t>
            </a:r>
            <a:endParaRPr lang="en-US" sz="1100"/>
          </a:p>
          <a:p>
            <a:pPr indent="0" algn="l">
              <a:lnSpc>
                <a:spcPct val="125000"/>
              </a:lnSpc>
            </a:pPr>
            <a:r>
              <a:rPr lang="en-US" sz="12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 攻击流量：</a:t>
            </a:r>
            <a:r>
              <a:rPr lang="en-US" sz="11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涵盖21+种无线攻击</a:t>
            </a:r>
            <a:endParaRPr lang="en-US" sz="11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nvSpPr>
        <p:spPr>
          <a:xfrm>
            <a:off x="3429000" y="4064000"/>
            <a:ext cx="2032000" cy="1016000"/>
          </a:xfrm>
          <a:prstGeom prst="roundRect">
            <a:avLst>
              <a:gd name="adj" fmla="val 10000"/>
            </a:avLst>
          </a:prstGeom>
          <a:solidFill>
            <a:srgbClr val="E6F0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619500" y="4254500"/>
            <a:ext cx="508000" cy="508000"/>
          </a:xfrm>
          <a:prstGeom prst="rect">
            <a:avLst/>
          </a:prstGeom>
        </p:spPr>
      </p:pic>
      <p:sp>
        <p:nvSpPr>
          <p:cNvPr id="13" name="AutoShape 13"/>
          <p:cNvSpPr/>
          <p:nvPr/>
        </p:nvSpPr>
        <p:spPr>
          <a:xfrm>
            <a:off x="4254500" y="4254500"/>
            <a:ext cx="1143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数据分布</a:t>
            </a:r>
            <a:endParaRPr lang="en-US" sz="1100"/>
          </a:p>
          <a:p>
            <a:pPr indent="0" algn="l">
              <a:lnSpc>
                <a:spcPct val="125000"/>
              </a:lnSpc>
            </a:pPr>
            <a:r>
              <a:rPr lang="en-US" sz="10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样本比例清晰</a:t>
            </a:r>
            <a:endParaRPr lang="en-US" sz="10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nvSpPr>
        <p:spPr>
          <a:xfrm>
            <a:off x="6223000" y="1524000"/>
            <a:ext cx="5207000" cy="1397000"/>
          </a:xfrm>
          <a:prstGeom prst="roundRect">
            <a:avLst>
              <a:gd name="adj" fmla="val 10909"/>
            </a:avLst>
          </a:prstGeom>
          <a:solidFill>
            <a:srgbClr val="FFFFFF">
              <a:alpha val="100000"/>
            </a:srgbClr>
          </a:solidFill>
          <a:ln w="25400" cap="flat" cmpd="sng">
            <a:noFill/>
            <a:prstDash val="solid"/>
            <a:round/>
          </a:ln>
          <a:effectLst>
            <a:outerShdw blurRad="190500" dist="63500" dir="5400000" algn="tl" rotWithShape="0">
              <a:srgbClr val="0052CC">
                <a:alpha val="10000"/>
              </a:srgbClr>
            </a:outerShdw>
          </a:effectLst>
        </p:spPr>
        <p:txBody>
          <a:bodyPr vert="horz" wrap="square" lIns="63500" tIns="63500" rIns="63500" bIns="63500" rtlCol="0" anchor="ctr"/>
          <a:lstStyle/>
          <a:p>
            <a:pPr algn="ctr">
              <a:defRPr/>
            </a:pPr>
          </a:p>
        </p:txBody>
      </p:sp>
      <p:sp>
        <p:nvSpPr>
          <p:cNvPr id="15" name="AutoShape 15"/>
          <p:cNvSpPr/>
          <p:nvPr/>
        </p:nvSpPr>
        <p:spPr>
          <a:xfrm>
            <a:off x="6477000" y="1714500"/>
            <a:ext cx="889000" cy="889000"/>
          </a:xfrm>
          <a:prstGeom prst="ellipse">
            <a:avLst/>
          </a:prstGeom>
          <a:solidFill>
            <a:srgbClr val="E6F0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67500" y="1905000"/>
            <a:ext cx="508000" cy="508000"/>
          </a:xfrm>
          <a:prstGeom prst="rect">
            <a:avLst/>
          </a:prstGeom>
        </p:spPr>
      </p:pic>
      <p:sp>
        <p:nvSpPr>
          <p:cNvPr id="17" name="AutoShape 17"/>
          <p:cNvSpPr/>
          <p:nvPr/>
        </p:nvSpPr>
        <p:spPr>
          <a:xfrm>
            <a:off x="7620000" y="1778000"/>
            <a:ext cx="3556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学术权威性与公认度</a:t>
            </a:r>
            <a:endParaRPr lang="en-US" sz="1100"/>
          </a:p>
        </p:txBody>
      </p:sp>
      <p:sp>
        <p:nvSpPr>
          <p:cNvPr id="18" name="AutoShape 18"/>
          <p:cNvSpPr/>
          <p:nvPr/>
        </p:nvSpPr>
        <p:spPr>
          <a:xfrm>
            <a:off x="7620000" y="2222500"/>
            <a:ext cx="3556000" cy="50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被广泛认可的标准数据集，能够有效支持研究结果的复现与横向对比，确保实验结论的科学性。</a:t>
            </a:r>
            <a:endParaRPr lang="en-US" sz="1100"/>
          </a:p>
        </p:txBody>
      </p:sp>
      <p:sp>
        <p:nvSpPr>
          <p:cNvPr id="19" name="AutoShape 19"/>
          <p:cNvSpPr/>
          <p:nvPr/>
        </p:nvSpPr>
        <p:spPr>
          <a:xfrm>
            <a:off x="6223000" y="3175000"/>
            <a:ext cx="5207000" cy="1397000"/>
          </a:xfrm>
          <a:prstGeom prst="roundRect">
            <a:avLst>
              <a:gd name="adj" fmla="val 10909"/>
            </a:avLst>
          </a:prstGeom>
          <a:solidFill>
            <a:srgbClr val="FFFFFF">
              <a:alpha val="100000"/>
            </a:srgbClr>
          </a:solidFill>
          <a:ln w="25400" cap="flat" cmpd="sng">
            <a:noFill/>
            <a:prstDash val="solid"/>
            <a:round/>
          </a:ln>
          <a:effectLst>
            <a:outerShdw blurRad="190500" dist="63500" dir="5400000" algn="tl" rotWithShape="0">
              <a:srgbClr val="0052CC">
                <a:alpha val="10000"/>
              </a:srgbClr>
            </a:outerShdw>
          </a:effectLst>
        </p:spPr>
        <p:txBody>
          <a:bodyPr vert="horz" wrap="square" lIns="63500" tIns="63500" rIns="63500" bIns="63500" rtlCol="0" anchor="ctr"/>
          <a:lstStyle/>
          <a:p>
            <a:pPr algn="ctr">
              <a:defRPr/>
            </a:pPr>
          </a:p>
        </p:txBody>
      </p:sp>
      <p:sp>
        <p:nvSpPr>
          <p:cNvPr id="20" name="AutoShape 20"/>
          <p:cNvSpPr/>
          <p:nvPr/>
        </p:nvSpPr>
        <p:spPr>
          <a:xfrm>
            <a:off x="6477000" y="3365500"/>
            <a:ext cx="889000" cy="889000"/>
          </a:xfrm>
          <a:prstGeom prst="ellipse">
            <a:avLst/>
          </a:prstGeom>
          <a:solidFill>
            <a:srgbClr val="E6F0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667500" y="3556000"/>
            <a:ext cx="508000" cy="508000"/>
          </a:xfrm>
          <a:prstGeom prst="rect">
            <a:avLst/>
          </a:prstGeom>
        </p:spPr>
      </p:pic>
      <p:sp>
        <p:nvSpPr>
          <p:cNvPr id="22" name="AutoShape 22"/>
          <p:cNvSpPr/>
          <p:nvPr/>
        </p:nvSpPr>
        <p:spPr>
          <a:xfrm>
            <a:off x="7620000" y="3429000"/>
            <a:ext cx="3556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攻击类型的全面覆盖</a:t>
            </a:r>
            <a:endParaRPr lang="en-US" sz="1100"/>
          </a:p>
        </p:txBody>
      </p:sp>
      <p:sp>
        <p:nvSpPr>
          <p:cNvPr id="23" name="AutoShape 23"/>
          <p:cNvSpPr/>
          <p:nvPr/>
        </p:nvSpPr>
        <p:spPr>
          <a:xfrm>
            <a:off x="7620000" y="3873500"/>
            <a:ext cx="3556000" cy="50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不仅包含传统攻击，还覆盖了多种最新的无线攻击手段，数据样本丰富，能充分检验检测模型的鲁棒性。</a:t>
            </a:r>
            <a:endParaRPr lang="en-US" sz="1100"/>
          </a:p>
        </p:txBody>
      </p:sp>
      <p:sp>
        <p:nvSpPr>
          <p:cNvPr id="24" name="AutoShape 24"/>
          <p:cNvSpPr/>
          <p:nvPr/>
        </p:nvSpPr>
        <p:spPr>
          <a:xfrm>
            <a:off x="6223000" y="4826000"/>
            <a:ext cx="5207000" cy="1397000"/>
          </a:xfrm>
          <a:prstGeom prst="roundRect">
            <a:avLst>
              <a:gd name="adj" fmla="val 10909"/>
            </a:avLst>
          </a:prstGeom>
          <a:solidFill>
            <a:srgbClr val="FFFFFF">
              <a:alpha val="100000"/>
            </a:srgbClr>
          </a:solidFill>
          <a:ln w="25400" cap="flat" cmpd="sng">
            <a:noFill/>
            <a:prstDash val="solid"/>
            <a:round/>
          </a:ln>
          <a:effectLst>
            <a:outerShdw blurRad="190500" dist="63500" dir="5400000" algn="tl" rotWithShape="0">
              <a:srgbClr val="0052CC">
                <a:alpha val="10000"/>
              </a:srgbClr>
            </a:outerShdw>
          </a:effectLst>
        </p:spPr>
        <p:txBody>
          <a:bodyPr vert="horz" wrap="square" lIns="63500" tIns="63500" rIns="63500" bIns="63500" rtlCol="0" anchor="ctr"/>
          <a:lstStyle/>
          <a:p>
            <a:pPr algn="ctr">
              <a:defRPr/>
            </a:pPr>
          </a:p>
        </p:txBody>
      </p:sp>
      <p:sp>
        <p:nvSpPr>
          <p:cNvPr id="25" name="AutoShape 25"/>
          <p:cNvSpPr/>
          <p:nvPr/>
        </p:nvSpPr>
        <p:spPr>
          <a:xfrm>
            <a:off x="6477000" y="5016500"/>
            <a:ext cx="889000" cy="889000"/>
          </a:xfrm>
          <a:prstGeom prst="ellipse">
            <a:avLst/>
          </a:prstGeom>
          <a:solidFill>
            <a:srgbClr val="E6F0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6" name="Picture 2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667500" y="5207000"/>
            <a:ext cx="508000" cy="508000"/>
          </a:xfrm>
          <a:prstGeom prst="rect">
            <a:avLst/>
          </a:prstGeom>
        </p:spPr>
      </p:pic>
      <p:sp>
        <p:nvSpPr>
          <p:cNvPr id="27" name="AutoShape 27"/>
          <p:cNvSpPr/>
          <p:nvPr/>
        </p:nvSpPr>
        <p:spPr>
          <a:xfrm>
            <a:off x="7620000" y="5080000"/>
            <a:ext cx="3556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精准的样本标签体系</a:t>
            </a:r>
            <a:endParaRPr lang="en-US" sz="1100"/>
          </a:p>
        </p:txBody>
      </p:sp>
      <p:sp>
        <p:nvSpPr>
          <p:cNvPr id="28" name="AutoShape 28"/>
          <p:cNvSpPr/>
          <p:nvPr/>
        </p:nvSpPr>
        <p:spPr>
          <a:xfrm>
            <a:off x="7620000" y="5524500"/>
            <a:ext cx="3556000" cy="50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数据集中的每个流量样本都附带明确的“正常”或“攻击”标签，非常适合用于监督学习模型的训练与验证。</a:t>
            </a:r>
            <a:endParaRPr lang="en-US" sz="11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工欲善其事：搭建AI检测实验环境</a:t>
            </a:r>
            <a:endParaRPr lang="en-US" sz="1100"/>
          </a:p>
        </p:txBody>
      </p:sp>
      <p:sp>
        <p:nvSpPr>
          <p:cNvPr id="3" name="AutoShape 3"/>
          <p:cNvSpPr/>
          <p:nvPr/>
        </p:nvSpPr>
        <p:spPr>
          <a:xfrm>
            <a:off x="762000" y="1524000"/>
            <a:ext cx="5207000" cy="4826000"/>
          </a:xfrm>
          <a:prstGeom prst="roundRect">
            <a:avLst>
              <a:gd name="adj" fmla="val 3157"/>
            </a:avLst>
          </a:prstGeom>
          <a:solidFill>
            <a:srgbClr val="FFFFFF">
              <a:alpha val="100000"/>
            </a:srgbClr>
          </a:solidFill>
          <a:ln w="25400" cap="flat" cmpd="sng">
            <a:noFill/>
            <a:prstDash val="solid"/>
            <a:round/>
          </a:ln>
          <a:effectLst>
            <a:outerShdw blurRad="203200" dist="50800" dir="5400000" algn="tl" rotWithShape="0">
              <a:srgbClr val="000000">
                <a:alpha val="8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778000"/>
            <a:ext cx="406400" cy="406400"/>
          </a:xfrm>
          <a:prstGeom prst="rect">
            <a:avLst/>
          </a:prstGeom>
        </p:spPr>
      </p:pic>
      <p:sp>
        <p:nvSpPr>
          <p:cNvPr id="5" name="AutoShape 5"/>
          <p:cNvSpPr/>
          <p:nvPr/>
        </p:nvSpPr>
        <p:spPr>
          <a:xfrm>
            <a:off x="1574800" y="1778000"/>
            <a:ext cx="3810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硬件资源配置</a:t>
            </a:r>
            <a:endParaRPr lang="en-US" sz="1100"/>
          </a:p>
        </p:txBody>
      </p:sp>
      <p:sp>
        <p:nvSpPr>
          <p:cNvPr id="6" name="AutoShape 6"/>
          <p:cNvSpPr/>
          <p:nvPr/>
        </p:nvSpPr>
        <p:spPr>
          <a:xfrm>
            <a:off x="1016000" y="2413000"/>
            <a:ext cx="4699000" cy="1143000"/>
          </a:xfrm>
          <a:prstGeom prst="roundRect">
            <a:avLst>
              <a:gd name="adj" fmla="val 8888"/>
            </a:avLst>
          </a:prstGeom>
          <a:solidFill>
            <a:srgbClr val="F0F5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06500" y="2667000"/>
            <a:ext cx="609600" cy="609600"/>
          </a:xfrm>
          <a:prstGeom prst="rect">
            <a:avLst/>
          </a:prstGeom>
        </p:spPr>
      </p:pic>
      <p:sp>
        <p:nvSpPr>
          <p:cNvPr id="8" name="AutoShape 8"/>
          <p:cNvSpPr/>
          <p:nvPr/>
        </p:nvSpPr>
        <p:spPr>
          <a:xfrm>
            <a:off x="2032000" y="2603500"/>
            <a:ext cx="355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多核处理器 (CPU)</a:t>
            </a:r>
            <a:endParaRPr lang="en-US" sz="1100"/>
          </a:p>
        </p:txBody>
      </p:sp>
      <p:sp>
        <p:nvSpPr>
          <p:cNvPr id="9" name="AutoShape 9"/>
          <p:cNvSpPr/>
          <p:nvPr/>
        </p:nvSpPr>
        <p:spPr>
          <a:xfrm>
            <a:off x="2032000" y="2984500"/>
            <a:ext cx="3556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推荐 Intel i7 / AMD Ryzen 7 及以上多核架构，确保模型训练并发性能。</a:t>
            </a:r>
            <a:endParaRPr lang="en-US" sz="1100"/>
          </a:p>
        </p:txBody>
      </p:sp>
      <p:sp>
        <p:nvSpPr>
          <p:cNvPr id="10" name="AutoShape 10"/>
          <p:cNvSpPr/>
          <p:nvPr/>
        </p:nvSpPr>
        <p:spPr>
          <a:xfrm>
            <a:off x="1016000" y="3683000"/>
            <a:ext cx="4699000" cy="1143000"/>
          </a:xfrm>
          <a:prstGeom prst="roundRect">
            <a:avLst>
              <a:gd name="adj" fmla="val 8888"/>
            </a:avLst>
          </a:prstGeom>
          <a:solidFill>
            <a:srgbClr val="F0F5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206500" y="3937000"/>
            <a:ext cx="609600" cy="609600"/>
          </a:xfrm>
          <a:prstGeom prst="rect">
            <a:avLst/>
          </a:prstGeom>
        </p:spPr>
      </p:pic>
      <p:sp>
        <p:nvSpPr>
          <p:cNvPr id="12" name="AutoShape 12"/>
          <p:cNvSpPr/>
          <p:nvPr/>
        </p:nvSpPr>
        <p:spPr>
          <a:xfrm>
            <a:off x="2032000" y="3873500"/>
            <a:ext cx="355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高容量运行内存 (RAM)</a:t>
            </a:r>
            <a:endParaRPr lang="en-US" sz="1100"/>
          </a:p>
        </p:txBody>
      </p:sp>
      <p:sp>
        <p:nvSpPr>
          <p:cNvPr id="13" name="AutoShape 13"/>
          <p:cNvSpPr/>
          <p:nvPr/>
        </p:nvSpPr>
        <p:spPr>
          <a:xfrm>
            <a:off x="2032000" y="4254500"/>
            <a:ext cx="3556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至少 16GB 物理内存，建议 32GB 或更高，以流畅处理大规模数据集加载。</a:t>
            </a:r>
            <a:endParaRPr lang="en-US" sz="1100"/>
          </a:p>
        </p:txBody>
      </p:sp>
      <p:sp>
        <p:nvSpPr>
          <p:cNvPr id="14" name="AutoShape 14"/>
          <p:cNvSpPr/>
          <p:nvPr/>
        </p:nvSpPr>
        <p:spPr>
          <a:xfrm>
            <a:off x="1016000" y="4953000"/>
            <a:ext cx="4699000" cy="1143000"/>
          </a:xfrm>
          <a:prstGeom prst="roundRect">
            <a:avLst>
              <a:gd name="adj" fmla="val 8888"/>
            </a:avLst>
          </a:prstGeom>
          <a:solidFill>
            <a:srgbClr val="F0F5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206500" y="5207000"/>
            <a:ext cx="609600" cy="609600"/>
          </a:xfrm>
          <a:prstGeom prst="rect">
            <a:avLst/>
          </a:prstGeom>
        </p:spPr>
      </p:pic>
      <p:sp>
        <p:nvSpPr>
          <p:cNvPr id="16" name="AutoShape 16"/>
          <p:cNvSpPr/>
          <p:nvPr/>
        </p:nvSpPr>
        <p:spPr>
          <a:xfrm>
            <a:off x="2032000" y="5143500"/>
            <a:ext cx="355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高速存储空间 (Storage)</a:t>
            </a:r>
            <a:endParaRPr lang="en-US" sz="1100"/>
          </a:p>
        </p:txBody>
      </p:sp>
      <p:sp>
        <p:nvSpPr>
          <p:cNvPr id="17" name="AutoShape 17"/>
          <p:cNvSpPr/>
          <p:nvPr/>
        </p:nvSpPr>
        <p:spPr>
          <a:xfrm>
            <a:off x="2032000" y="5524500"/>
            <a:ext cx="3556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预留至少 50GB 可用空间，强烈推荐 SSD 固态硬盘以显著提升数据读写速度。</a:t>
            </a:r>
            <a:endParaRPr lang="en-US" sz="1100"/>
          </a:p>
        </p:txBody>
      </p:sp>
      <p:sp>
        <p:nvSpPr>
          <p:cNvPr id="18" name="AutoShape 18"/>
          <p:cNvSpPr/>
          <p:nvPr/>
        </p:nvSpPr>
        <p:spPr>
          <a:xfrm>
            <a:off x="6223000" y="1524000"/>
            <a:ext cx="5207000" cy="4826000"/>
          </a:xfrm>
          <a:prstGeom prst="roundRect">
            <a:avLst>
              <a:gd name="adj" fmla="val 3157"/>
            </a:avLst>
          </a:prstGeom>
          <a:solidFill>
            <a:srgbClr val="FFFFFF">
              <a:alpha val="100000"/>
            </a:srgbClr>
          </a:solidFill>
          <a:ln w="25400" cap="flat" cmpd="sng">
            <a:noFill/>
            <a:prstDash val="solid"/>
            <a:round/>
          </a:ln>
          <a:effectLst>
            <a:outerShdw blurRad="203200" dist="50800" dir="5400000" algn="tl" rotWithShape="0">
              <a:srgbClr val="000000">
                <a:alpha val="8000"/>
              </a:srgbClr>
            </a:outerShdw>
          </a:effectLst>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477000" y="1778000"/>
            <a:ext cx="406400" cy="406400"/>
          </a:xfrm>
          <a:prstGeom prst="rect">
            <a:avLst/>
          </a:prstGeom>
        </p:spPr>
      </p:pic>
      <p:sp>
        <p:nvSpPr>
          <p:cNvPr id="20" name="AutoShape 20"/>
          <p:cNvSpPr/>
          <p:nvPr/>
        </p:nvSpPr>
        <p:spPr>
          <a:xfrm>
            <a:off x="7035800" y="1778000"/>
            <a:ext cx="3810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软件环境生态</a:t>
            </a:r>
            <a:endParaRPr lang="en-US" sz="1100"/>
          </a:p>
        </p:txBody>
      </p:sp>
      <p:sp>
        <p:nvSpPr>
          <p:cNvPr id="21" name="AutoShape 21"/>
          <p:cNvSpPr/>
          <p:nvPr/>
        </p:nvSpPr>
        <p:spPr>
          <a:xfrm>
            <a:off x="6477000" y="2413000"/>
            <a:ext cx="4699000" cy="1079500"/>
          </a:xfrm>
          <a:prstGeom prst="roundRect">
            <a:avLst>
              <a:gd name="adj" fmla="val 9411"/>
            </a:avLst>
          </a:prstGeom>
          <a:solidFill>
            <a:srgbClr val="F0F5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2" name="Picture 22"/>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667500" y="2667000"/>
            <a:ext cx="558800" cy="558800"/>
          </a:xfrm>
          <a:prstGeom prst="rect">
            <a:avLst/>
          </a:prstGeom>
        </p:spPr>
      </p:pic>
      <p:sp>
        <p:nvSpPr>
          <p:cNvPr id="23" name="AutoShape 23"/>
          <p:cNvSpPr/>
          <p:nvPr/>
        </p:nvSpPr>
        <p:spPr>
          <a:xfrm>
            <a:off x="7493000" y="2603500"/>
            <a:ext cx="355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基础操作系统 (OS)</a:t>
            </a:r>
            <a:endParaRPr lang="en-US" sz="1100"/>
          </a:p>
        </p:txBody>
      </p:sp>
      <p:sp>
        <p:nvSpPr>
          <p:cNvPr id="24" name="AutoShape 24"/>
          <p:cNvSpPr/>
          <p:nvPr/>
        </p:nvSpPr>
        <p:spPr>
          <a:xfrm>
            <a:off x="7493000" y="2984500"/>
            <a:ext cx="3556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首选 Linux (Ubuntu 20.04 LTS+)，macOS 12+ 亦可，建议避免 Windows 环境。</a:t>
            </a:r>
            <a:endParaRPr lang="en-US" sz="1100"/>
          </a:p>
        </p:txBody>
      </p:sp>
      <p:sp>
        <p:nvSpPr>
          <p:cNvPr id="25" name="AutoShape 25"/>
          <p:cNvSpPr/>
          <p:nvPr/>
        </p:nvSpPr>
        <p:spPr>
          <a:xfrm>
            <a:off x="6477000" y="3683000"/>
            <a:ext cx="4699000" cy="1079500"/>
          </a:xfrm>
          <a:prstGeom prst="roundRect">
            <a:avLst>
              <a:gd name="adj" fmla="val 9411"/>
            </a:avLst>
          </a:prstGeom>
          <a:solidFill>
            <a:srgbClr val="F0F5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6" name="Picture 26"/>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667500" y="3937000"/>
            <a:ext cx="558800" cy="558800"/>
          </a:xfrm>
          <a:prstGeom prst="rect">
            <a:avLst/>
          </a:prstGeom>
        </p:spPr>
      </p:pic>
      <p:sp>
        <p:nvSpPr>
          <p:cNvPr id="27" name="AutoShape 27"/>
          <p:cNvSpPr/>
          <p:nvPr/>
        </p:nvSpPr>
        <p:spPr>
          <a:xfrm>
            <a:off x="7493000" y="3873500"/>
            <a:ext cx="355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核心开发语言</a:t>
            </a:r>
            <a:endParaRPr lang="en-US" sz="1100"/>
          </a:p>
        </p:txBody>
      </p:sp>
      <p:sp>
        <p:nvSpPr>
          <p:cNvPr id="28" name="AutoShape 28"/>
          <p:cNvSpPr/>
          <p:nvPr/>
        </p:nvSpPr>
        <p:spPr>
          <a:xfrm>
            <a:off x="7493000" y="4254500"/>
            <a:ext cx="3556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Python 3.10+ 版本。拥有最丰富的 AI 开源社区支持，语法简洁易维护。</a:t>
            </a:r>
            <a:endParaRPr lang="en-US" sz="1100"/>
          </a:p>
        </p:txBody>
      </p:sp>
      <p:sp>
        <p:nvSpPr>
          <p:cNvPr id="29" name="AutoShape 29"/>
          <p:cNvSpPr/>
          <p:nvPr/>
        </p:nvSpPr>
        <p:spPr>
          <a:xfrm>
            <a:off x="6477000" y="4953000"/>
            <a:ext cx="4699000" cy="1206500"/>
          </a:xfrm>
          <a:prstGeom prst="roundRect">
            <a:avLst>
              <a:gd name="adj" fmla="val 8421"/>
            </a:avLst>
          </a:prstGeom>
          <a:solidFill>
            <a:srgbClr val="F0F5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30" name="Picture 30"/>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667500" y="5207000"/>
            <a:ext cx="558800" cy="558800"/>
          </a:xfrm>
          <a:prstGeom prst="rect">
            <a:avLst/>
          </a:prstGeom>
        </p:spPr>
      </p:pic>
      <p:sp>
        <p:nvSpPr>
          <p:cNvPr id="31" name="AutoShape 31"/>
          <p:cNvSpPr/>
          <p:nvPr/>
        </p:nvSpPr>
        <p:spPr>
          <a:xfrm>
            <a:off x="7493000" y="5143500"/>
            <a:ext cx="355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关键数据科学库</a:t>
            </a:r>
            <a:endParaRPr lang="en-US" sz="1100"/>
          </a:p>
        </p:txBody>
      </p:sp>
      <p:sp>
        <p:nvSpPr>
          <p:cNvPr id="32" name="AutoShape 32"/>
          <p:cNvSpPr/>
          <p:nvPr/>
        </p:nvSpPr>
        <p:spPr>
          <a:xfrm>
            <a:off x="7493000" y="5524500"/>
            <a:ext cx="3556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Scikit-learn(建模) / Pandas(分析) / NumPy(计算) / Matplotlib(可视化)。</a:t>
            </a:r>
            <a:endParaRPr lang="en-US" sz="11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从比特到智慧：关键特征的选择</a:t>
            </a:r>
            <a:endParaRPr lang="en-US" sz="1100"/>
          </a:p>
        </p:txBody>
      </p:sp>
      <p:sp>
        <p:nvSpPr>
          <p:cNvPr id="3" name="AutoShape 3"/>
          <p:cNvSpPr/>
          <p:nvPr/>
        </p:nvSpPr>
        <p:spPr>
          <a:xfrm>
            <a:off x="762000" y="1524000"/>
            <a:ext cx="5207000" cy="4826000"/>
          </a:xfrm>
          <a:prstGeom prst="roundRect">
            <a:avLst>
              <a:gd name="adj" fmla="val 4210"/>
            </a:avLst>
          </a:prstGeom>
          <a:solidFill>
            <a:srgbClr val="0052CC">
              <a:alpha val="6000"/>
            </a:srgbClr>
          </a:solidFill>
          <a:ln w="25400" cap="flat" cmpd="sng">
            <a:noFill/>
            <a:prstDash val="solid"/>
            <a:round/>
          </a:ln>
          <a:effectLst>
            <a:outerShdw blurRad="203200" dist="50800" dir="5400000" algn="tl" rotWithShape="0">
              <a:srgbClr val="000000">
                <a:alpha val="6000"/>
              </a:srgbClr>
            </a:outerShdw>
          </a:effectLst>
        </p:spPr>
        <p:txBody>
          <a:bodyPr vert="horz" wrap="square" lIns="63500" tIns="63500" rIns="63500" bIns="63500" rtlCol="0" anchor="ctr"/>
          <a:lstStyle/>
          <a:p>
            <a:pPr algn="ctr">
              <a:defRPr/>
            </a:pPr>
          </a:p>
        </p:txBody>
      </p:sp>
      <p:sp>
        <p:nvSpPr>
          <p:cNvPr id="4" name="AutoShape 4"/>
          <p:cNvSpPr/>
          <p:nvPr/>
        </p:nvSpPr>
        <p:spPr>
          <a:xfrm>
            <a:off x="6223000" y="1524000"/>
            <a:ext cx="5207000" cy="4826000"/>
          </a:xfrm>
          <a:prstGeom prst="roundRect">
            <a:avLst>
              <a:gd name="adj" fmla="val 4210"/>
            </a:avLst>
          </a:prstGeom>
          <a:solidFill>
            <a:srgbClr val="0052CC">
              <a:alpha val="6000"/>
            </a:srgbClr>
          </a:solidFill>
          <a:ln w="25400" cap="flat" cmpd="sng">
            <a:noFill/>
            <a:prstDash val="solid"/>
            <a:round/>
          </a:ln>
          <a:effectLst>
            <a:outerShdw blurRad="203200" dist="50800" dir="5400000" algn="tl" rotWithShape="0">
              <a:srgbClr val="000000">
                <a:alpha val="6000"/>
              </a:srgbClr>
            </a:outerShdw>
          </a:effectLst>
        </p:spPr>
        <p:txBody>
          <a:bodyPr vert="horz" wrap="square" lIns="63500" tIns="63500" rIns="63500" bIns="63500" rtlCol="0" anchor="ctr"/>
          <a:lstStyle/>
          <a:p>
            <a:pPr algn="ctr">
              <a:defRPr/>
            </a:pPr>
          </a:p>
        </p:txBody>
      </p:sp>
      <p:sp>
        <p:nvSpPr>
          <p:cNvPr id="5" name="AutoShape 5"/>
          <p:cNvSpPr/>
          <p:nvPr/>
        </p:nvSpPr>
        <p:spPr>
          <a:xfrm>
            <a:off x="1016000" y="1714500"/>
            <a:ext cx="469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关键字段示例 Key Fields</a:t>
            </a:r>
            <a:endParaRPr lang="en-US" sz="1100"/>
          </a:p>
        </p:txBody>
      </p:sp>
      <p:sp>
        <p:nvSpPr>
          <p:cNvPr id="6" name="AutoShape 6"/>
          <p:cNvSpPr/>
          <p:nvPr/>
        </p:nvSpPr>
        <p:spPr>
          <a:xfrm>
            <a:off x="6477000" y="1714500"/>
            <a:ext cx="469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衍生特征 Derived Features</a:t>
            </a:r>
            <a:endParaRPr lang="en-US" sz="1100"/>
          </a:p>
        </p:txBody>
      </p:sp>
      <p:sp>
        <p:nvSpPr>
          <p:cNvPr id="7" name="AutoShape 7"/>
          <p:cNvSpPr/>
          <p:nvPr/>
        </p:nvSpPr>
        <p:spPr>
          <a:xfrm>
            <a:off x="1016000" y="2286000"/>
            <a:ext cx="4699000" cy="952500"/>
          </a:xfrm>
          <a:prstGeom prst="roundRect">
            <a:avLst>
              <a:gd name="adj" fmla="val 16000"/>
            </a:avLst>
          </a:prstGeom>
          <a:solidFill>
            <a:srgbClr val="FFFFFF">
              <a:alpha val="100000"/>
            </a:srgbClr>
          </a:solidFill>
          <a:ln w="25400" cap="flat" cmpd="sng">
            <a:noFill/>
            <a:prstDash val="solid"/>
            <a:round/>
          </a:ln>
          <a:effectLst>
            <a:outerShdw blurRad="152400" dist="25400" dir="5400000" algn="tl" rotWithShape="0">
              <a:srgbClr val="0052CC">
                <a:alpha val="12000"/>
              </a:srgbClr>
            </a:outerShdw>
          </a:effectLst>
        </p:spPr>
        <p:txBody>
          <a:bodyPr vert="horz" wrap="square" lIns="63500" tIns="63500" rIns="63500" bIns="63500" rtlCol="0" anchor="ctr"/>
          <a:lstStyle/>
          <a:p>
            <a:pPr algn="ctr">
              <a:defRPr/>
            </a:pPr>
          </a:p>
        </p:txBody>
      </p:sp>
      <p:sp>
        <p:nvSpPr>
          <p:cNvPr id="8" name="AutoShape 8"/>
          <p:cNvSpPr/>
          <p:nvPr/>
        </p:nvSpPr>
        <p:spPr>
          <a:xfrm>
            <a:off x="1206500" y="2438400"/>
            <a:ext cx="635000" cy="635000"/>
          </a:xfrm>
          <a:prstGeom prst="roundRect">
            <a:avLst>
              <a:gd name="adj" fmla="val 24000"/>
            </a:avLst>
          </a:prstGeom>
          <a:solidFill>
            <a:srgbClr val="0052CC">
              <a:alpha val="10000"/>
            </a:srgbClr>
          </a:solidFill>
          <a:ln w="25400" cap="flat" cmpd="sng">
            <a:no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333500" y="2565400"/>
            <a:ext cx="381000" cy="381000"/>
          </a:xfrm>
          <a:prstGeom prst="rect">
            <a:avLst/>
          </a:prstGeom>
        </p:spPr>
      </p:pic>
      <p:sp>
        <p:nvSpPr>
          <p:cNvPr id="10" name="AutoShape 10"/>
          <p:cNvSpPr/>
          <p:nvPr/>
        </p:nvSpPr>
        <p:spPr>
          <a:xfrm>
            <a:off x="2032000" y="2413000"/>
            <a:ext cx="3556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frame.len (数据包长度)</a:t>
            </a:r>
            <a:endParaRPr lang="en-US" sz="1100"/>
          </a:p>
          <a:p>
            <a:pPr indent="0" algn="l">
              <a:lnSpc>
                <a:spcPct val="125000"/>
              </a:lnSpc>
            </a:pPr>
            <a:r>
              <a:rPr lang="en-US" sz="12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捕获数据包的总字节长度，最基础的数据特征。</a:t>
            </a:r>
            <a:endParaRPr lang="en-US" sz="12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nvSpPr>
        <p:spPr>
          <a:xfrm>
            <a:off x="1016000" y="3365500"/>
            <a:ext cx="4699000" cy="952500"/>
          </a:xfrm>
          <a:prstGeom prst="roundRect">
            <a:avLst>
              <a:gd name="adj" fmla="val 16000"/>
            </a:avLst>
          </a:prstGeom>
          <a:solidFill>
            <a:srgbClr val="FFFFFF">
              <a:alpha val="100000"/>
            </a:srgbClr>
          </a:solidFill>
          <a:ln w="25400" cap="flat" cmpd="sng">
            <a:noFill/>
            <a:prstDash val="solid"/>
            <a:round/>
          </a:ln>
          <a:effectLst>
            <a:outerShdw blurRad="152400" dist="25400" dir="5400000" algn="tl" rotWithShape="0">
              <a:srgbClr val="0052CC">
                <a:alpha val="12000"/>
              </a:srgbClr>
            </a:outerShdw>
          </a:effectLst>
        </p:spPr>
        <p:txBody>
          <a:bodyPr vert="horz" wrap="square" lIns="63500" tIns="63500" rIns="63500" bIns="63500" rtlCol="0" anchor="ctr"/>
          <a:lstStyle/>
          <a:p>
            <a:pPr algn="ctr">
              <a:defRPr/>
            </a:pPr>
          </a:p>
        </p:txBody>
      </p:sp>
      <p:sp>
        <p:nvSpPr>
          <p:cNvPr id="12" name="AutoShape 12"/>
          <p:cNvSpPr/>
          <p:nvPr/>
        </p:nvSpPr>
        <p:spPr>
          <a:xfrm>
            <a:off x="1206500" y="3517900"/>
            <a:ext cx="635000" cy="635000"/>
          </a:xfrm>
          <a:prstGeom prst="roundRect">
            <a:avLst>
              <a:gd name="adj" fmla="val 24000"/>
            </a:avLst>
          </a:prstGeom>
          <a:solidFill>
            <a:srgbClr val="0052CC">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3500" y="3644900"/>
            <a:ext cx="381000" cy="381000"/>
          </a:xfrm>
          <a:prstGeom prst="rect">
            <a:avLst/>
          </a:prstGeom>
        </p:spPr>
      </p:pic>
      <p:sp>
        <p:nvSpPr>
          <p:cNvPr id="14" name="AutoShape 14"/>
          <p:cNvSpPr/>
          <p:nvPr/>
        </p:nvSpPr>
        <p:spPr>
          <a:xfrm>
            <a:off x="2032000" y="3492500"/>
            <a:ext cx="3556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wlan.fc.type / subtype</a:t>
            </a:r>
            <a:endParaRPr lang="en-US" sz="1100"/>
          </a:p>
          <a:p>
            <a:pPr indent="0" algn="l">
              <a:lnSpc>
                <a:spcPct val="125000"/>
              </a:lnSpc>
            </a:pPr>
            <a:r>
              <a:rPr lang="en-US" sz="12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识别帧类型(管理/控制/数据)，是检测异常攻击的关键依据。</a:t>
            </a:r>
            <a:endParaRPr lang="en-US" sz="12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15"/>
          <p:cNvSpPr/>
          <p:nvPr/>
        </p:nvSpPr>
        <p:spPr>
          <a:xfrm>
            <a:off x="1016000" y="4445000"/>
            <a:ext cx="4699000" cy="952500"/>
          </a:xfrm>
          <a:prstGeom prst="roundRect">
            <a:avLst>
              <a:gd name="adj" fmla="val 16000"/>
            </a:avLst>
          </a:prstGeom>
          <a:solidFill>
            <a:srgbClr val="FFFFFF">
              <a:alpha val="100000"/>
            </a:srgbClr>
          </a:solidFill>
          <a:ln w="25400" cap="flat" cmpd="sng">
            <a:noFill/>
            <a:prstDash val="solid"/>
            <a:round/>
          </a:ln>
          <a:effectLst>
            <a:outerShdw blurRad="152400" dist="25400" dir="5400000" algn="tl" rotWithShape="0">
              <a:srgbClr val="0052CC">
                <a:alpha val="12000"/>
              </a:srgbClr>
            </a:outerShdw>
          </a:effectLst>
        </p:spPr>
        <p:txBody>
          <a:bodyPr vert="horz" wrap="square" lIns="63500" tIns="63500" rIns="63500" bIns="63500" rtlCol="0" anchor="ctr"/>
          <a:lstStyle/>
          <a:p>
            <a:pPr algn="ctr">
              <a:defRPr/>
            </a:pPr>
          </a:p>
        </p:txBody>
      </p:sp>
      <p:sp>
        <p:nvSpPr>
          <p:cNvPr id="16" name="AutoShape 16"/>
          <p:cNvSpPr/>
          <p:nvPr/>
        </p:nvSpPr>
        <p:spPr>
          <a:xfrm>
            <a:off x="1206500" y="4597400"/>
            <a:ext cx="635000" cy="635000"/>
          </a:xfrm>
          <a:prstGeom prst="roundRect">
            <a:avLst>
              <a:gd name="adj" fmla="val 24000"/>
            </a:avLst>
          </a:prstGeom>
          <a:solidFill>
            <a:srgbClr val="0052CC">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333500" y="4724400"/>
            <a:ext cx="381000" cy="381000"/>
          </a:xfrm>
          <a:prstGeom prst="rect">
            <a:avLst/>
          </a:prstGeom>
        </p:spPr>
      </p:pic>
      <p:sp>
        <p:nvSpPr>
          <p:cNvPr id="18" name="AutoShape 18"/>
          <p:cNvSpPr/>
          <p:nvPr/>
        </p:nvSpPr>
        <p:spPr>
          <a:xfrm>
            <a:off x="2032000" y="4572000"/>
            <a:ext cx="3556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wlan.sa / da (MAC地址)</a:t>
            </a:r>
            <a:endParaRPr lang="en-US" sz="1100"/>
          </a:p>
          <a:p>
            <a:pPr indent="0" algn="l">
              <a:lnSpc>
                <a:spcPct val="125000"/>
              </a:lnSpc>
            </a:pPr>
            <a:r>
              <a:rPr lang="en-US" sz="12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源/目的物理地址，用于识别网络中的通信主体与异常设备。</a:t>
            </a:r>
            <a:endParaRPr lang="en-US" sz="12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9" name="AutoShape 19"/>
          <p:cNvSpPr/>
          <p:nvPr/>
        </p:nvSpPr>
        <p:spPr>
          <a:xfrm>
            <a:off x="1016000" y="5524500"/>
            <a:ext cx="4699000" cy="825500"/>
          </a:xfrm>
          <a:prstGeom prst="roundRect">
            <a:avLst>
              <a:gd name="adj" fmla="val 18461"/>
            </a:avLst>
          </a:prstGeom>
          <a:solidFill>
            <a:srgbClr val="FFFFFF">
              <a:alpha val="100000"/>
            </a:srgbClr>
          </a:solidFill>
          <a:ln w="25400" cap="flat" cmpd="sng">
            <a:noFill/>
            <a:prstDash val="solid"/>
            <a:round/>
          </a:ln>
          <a:effectLst>
            <a:outerShdw blurRad="152400" dist="25400" dir="5400000" algn="tl" rotWithShape="0">
              <a:srgbClr val="0052CC">
                <a:alpha val="12000"/>
              </a:srgbClr>
            </a:outerShdw>
          </a:effectLst>
        </p:spPr>
        <p:txBody>
          <a:bodyPr vert="horz" wrap="square" lIns="63500" tIns="63500" rIns="63500" bIns="63500" rtlCol="0" anchor="ctr"/>
          <a:lstStyle/>
          <a:p>
            <a:pPr algn="ctr">
              <a:defRPr/>
            </a:pPr>
          </a:p>
        </p:txBody>
      </p:sp>
      <p:sp>
        <p:nvSpPr>
          <p:cNvPr id="20" name="AutoShape 20"/>
          <p:cNvSpPr/>
          <p:nvPr/>
        </p:nvSpPr>
        <p:spPr>
          <a:xfrm>
            <a:off x="1206500" y="5651500"/>
            <a:ext cx="508000" cy="508000"/>
          </a:xfrm>
          <a:prstGeom prst="roundRect">
            <a:avLst>
              <a:gd name="adj" fmla="val 30000"/>
            </a:avLst>
          </a:prstGeom>
          <a:solidFill>
            <a:srgbClr val="0052CC">
              <a:alpha val="10000"/>
            </a:srgbClr>
          </a:solidFill>
          <a:ln w="25400" cap="flat" cmpd="sng">
            <a:no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308100" y="5753100"/>
            <a:ext cx="304800" cy="304800"/>
          </a:xfrm>
          <a:prstGeom prst="rect">
            <a:avLst/>
          </a:prstGeom>
        </p:spPr>
      </p:pic>
      <p:sp>
        <p:nvSpPr>
          <p:cNvPr id="22" name="AutoShape 22"/>
          <p:cNvSpPr/>
          <p:nvPr/>
        </p:nvSpPr>
        <p:spPr>
          <a:xfrm>
            <a:off x="2032000" y="5651500"/>
            <a:ext cx="3556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timestamp (捕获时间)</a:t>
            </a:r>
            <a:endParaRPr lang="en-US" sz="1100"/>
          </a:p>
          <a:p>
            <a:pPr indent="0" algn="l">
              <a:lnSpc>
                <a:spcPct val="125000"/>
              </a:lnSpc>
            </a:pPr>
            <a:r>
              <a:rPr lang="en-US" sz="12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记录包到达时间，用于计算后续的时间间隔特征。</a:t>
            </a:r>
            <a:endParaRPr lang="en-US" sz="12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3" name="AutoShape 23"/>
          <p:cNvSpPr/>
          <p:nvPr/>
        </p:nvSpPr>
        <p:spPr>
          <a:xfrm>
            <a:off x="6477000" y="2286000"/>
            <a:ext cx="4699000" cy="1143000"/>
          </a:xfrm>
          <a:prstGeom prst="roundRect">
            <a:avLst>
              <a:gd name="adj" fmla="val 13333"/>
            </a:avLst>
          </a:prstGeom>
          <a:solidFill>
            <a:srgbClr val="FFFFFF">
              <a:alpha val="100000"/>
            </a:srgbClr>
          </a:solidFill>
          <a:ln w="25400" cap="flat" cmpd="sng">
            <a:noFill/>
            <a:prstDash val="solid"/>
            <a:round/>
          </a:ln>
          <a:effectLst>
            <a:outerShdw blurRad="152400" dist="25400" dir="5400000" algn="tl" rotWithShape="0">
              <a:srgbClr val="0052CC">
                <a:alpha val="12000"/>
              </a:srgbClr>
            </a:outerShdw>
          </a:effectLst>
        </p:spPr>
        <p:txBody>
          <a:bodyPr vert="horz" wrap="square" lIns="63500" tIns="63500" rIns="63500" bIns="63500" rtlCol="0" anchor="ctr"/>
          <a:lstStyle/>
          <a:p>
            <a:pPr algn="ctr">
              <a:defRPr/>
            </a:pPr>
          </a:p>
        </p:txBody>
      </p:sp>
      <p:sp>
        <p:nvSpPr>
          <p:cNvPr id="24" name="AutoShape 24"/>
          <p:cNvSpPr/>
          <p:nvPr/>
        </p:nvSpPr>
        <p:spPr>
          <a:xfrm>
            <a:off x="6667500" y="2476500"/>
            <a:ext cx="762000" cy="762000"/>
          </a:xfrm>
          <a:prstGeom prst="roundRect">
            <a:avLst>
              <a:gd name="adj" fmla="val 26666"/>
            </a:avLst>
          </a:prstGeom>
          <a:solidFill>
            <a:srgbClr val="0052CC">
              <a:alpha val="10000"/>
            </a:srgbClr>
          </a:solidFill>
          <a:ln w="25400" cap="flat" cmpd="sng">
            <a:noFill/>
            <a:prstDash val="solid"/>
            <a:round/>
          </a:ln>
        </p:spPr>
        <p:txBody>
          <a:bodyPr vert="horz" wrap="square" lIns="63500" tIns="63500" rIns="63500" bIns="63500" rtlCol="0" anchor="ctr"/>
          <a:lstStyle/>
          <a:p>
            <a:pPr algn="ctr">
              <a:defRPr/>
            </a:pPr>
          </a:p>
        </p:txBody>
      </p:sp>
      <p:pic>
        <p:nvPicPr>
          <p:cNvPr id="25" name="Picture 25"/>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858000" y="2667000"/>
            <a:ext cx="381000" cy="381000"/>
          </a:xfrm>
          <a:prstGeom prst="rect">
            <a:avLst/>
          </a:prstGeom>
        </p:spPr>
      </p:pic>
      <p:sp>
        <p:nvSpPr>
          <p:cNvPr id="26" name="AutoShape 26"/>
          <p:cNvSpPr/>
          <p:nvPr/>
        </p:nvSpPr>
        <p:spPr>
          <a:xfrm>
            <a:off x="7620000" y="2413000"/>
            <a:ext cx="3429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Inter-Arrival Time (IAT)</a:t>
            </a:r>
            <a:endParaRPr lang="en-US" sz="1100"/>
          </a:p>
          <a:p>
            <a:pPr indent="0" algn="l">
              <a:lnSpc>
                <a:spcPct val="125000"/>
              </a:lnSpc>
            </a:pPr>
            <a:r>
              <a:rPr lang="en-US" sz="12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连续两个数据包之间的时间差，反映网络流量的突发特性。</a:t>
            </a:r>
            <a:endParaRPr lang="en-US" sz="12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7" name="AutoShape 27"/>
          <p:cNvSpPr/>
          <p:nvPr/>
        </p:nvSpPr>
        <p:spPr>
          <a:xfrm>
            <a:off x="6477000" y="3619500"/>
            <a:ext cx="4699000" cy="1143000"/>
          </a:xfrm>
          <a:prstGeom prst="roundRect">
            <a:avLst>
              <a:gd name="adj" fmla="val 13333"/>
            </a:avLst>
          </a:prstGeom>
          <a:solidFill>
            <a:srgbClr val="FFFFFF">
              <a:alpha val="100000"/>
            </a:srgbClr>
          </a:solidFill>
          <a:ln w="25400" cap="flat" cmpd="sng">
            <a:noFill/>
            <a:prstDash val="solid"/>
            <a:round/>
          </a:ln>
          <a:effectLst>
            <a:outerShdw blurRad="152400" dist="25400" dir="5400000" algn="tl" rotWithShape="0">
              <a:srgbClr val="0052CC">
                <a:alpha val="12000"/>
              </a:srgbClr>
            </a:outerShdw>
          </a:effectLst>
        </p:spPr>
        <p:txBody>
          <a:bodyPr vert="horz" wrap="square" lIns="63500" tIns="63500" rIns="63500" bIns="63500" rtlCol="0" anchor="ctr"/>
          <a:lstStyle/>
          <a:p>
            <a:pPr algn="ctr">
              <a:defRPr/>
            </a:pPr>
          </a:p>
        </p:txBody>
      </p:sp>
      <p:sp>
        <p:nvSpPr>
          <p:cNvPr id="28" name="AutoShape 28"/>
          <p:cNvSpPr/>
          <p:nvPr/>
        </p:nvSpPr>
        <p:spPr>
          <a:xfrm>
            <a:off x="6667500" y="3810000"/>
            <a:ext cx="762000" cy="762000"/>
          </a:xfrm>
          <a:prstGeom prst="roundRect">
            <a:avLst>
              <a:gd name="adj" fmla="val 26666"/>
            </a:avLst>
          </a:prstGeom>
          <a:solidFill>
            <a:srgbClr val="0052CC">
              <a:alpha val="10000"/>
            </a:srgbClr>
          </a:solidFill>
          <a:ln w="25400" cap="flat" cmpd="sng">
            <a:noFill/>
            <a:prstDash val="solid"/>
            <a:round/>
          </a:ln>
        </p:spPr>
        <p:txBody>
          <a:bodyPr vert="horz" wrap="square" lIns="63500" tIns="63500" rIns="63500" bIns="63500" rtlCol="0" anchor="ctr"/>
          <a:lstStyle/>
          <a:p>
            <a:pPr algn="ctr">
              <a:defRPr/>
            </a:pPr>
          </a:p>
        </p:txBody>
      </p:sp>
      <p:pic>
        <p:nvPicPr>
          <p:cNvPr id="29" name="Picture 29"/>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858000" y="4000500"/>
            <a:ext cx="381000" cy="381000"/>
          </a:xfrm>
          <a:prstGeom prst="rect">
            <a:avLst/>
          </a:prstGeom>
        </p:spPr>
      </p:pic>
      <p:sp>
        <p:nvSpPr>
          <p:cNvPr id="30" name="AutoShape 30"/>
          <p:cNvSpPr/>
          <p:nvPr/>
        </p:nvSpPr>
        <p:spPr>
          <a:xfrm>
            <a:off x="7620000" y="3746500"/>
            <a:ext cx="3429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Packets Per Second (PPS)</a:t>
            </a:r>
            <a:endParaRPr lang="en-US" sz="1100"/>
          </a:p>
          <a:p>
            <a:pPr indent="0" algn="l">
              <a:lnSpc>
                <a:spcPct val="125000"/>
              </a:lnSpc>
            </a:pPr>
            <a:r>
              <a:rPr lang="en-US" sz="12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单位时间窗口内的数据包数量，衡量网络传输的吞吐强度。</a:t>
            </a:r>
            <a:endParaRPr lang="en-US" sz="12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1" name="AutoShape 31"/>
          <p:cNvSpPr/>
          <p:nvPr/>
        </p:nvSpPr>
        <p:spPr>
          <a:xfrm>
            <a:off x="6477000" y="4953000"/>
            <a:ext cx="4699000" cy="1143000"/>
          </a:xfrm>
          <a:prstGeom prst="roundRect">
            <a:avLst>
              <a:gd name="adj" fmla="val 13333"/>
            </a:avLst>
          </a:prstGeom>
          <a:solidFill>
            <a:srgbClr val="FFFFFF">
              <a:alpha val="100000"/>
            </a:srgbClr>
          </a:solidFill>
          <a:ln w="25400" cap="flat" cmpd="sng">
            <a:noFill/>
            <a:prstDash val="solid"/>
            <a:round/>
          </a:ln>
          <a:effectLst>
            <a:outerShdw blurRad="152400" dist="25400" dir="5400000" algn="tl" rotWithShape="0">
              <a:srgbClr val="0052CC">
                <a:alpha val="12000"/>
              </a:srgbClr>
            </a:outerShdw>
          </a:effectLst>
        </p:spPr>
        <p:txBody>
          <a:bodyPr vert="horz" wrap="square" lIns="63500" tIns="63500" rIns="63500" bIns="63500" rtlCol="0" anchor="ctr"/>
          <a:lstStyle/>
          <a:p>
            <a:pPr algn="ctr">
              <a:defRPr/>
            </a:pPr>
          </a:p>
        </p:txBody>
      </p:sp>
      <p:sp>
        <p:nvSpPr>
          <p:cNvPr id="32" name="AutoShape 32"/>
          <p:cNvSpPr/>
          <p:nvPr/>
        </p:nvSpPr>
        <p:spPr>
          <a:xfrm>
            <a:off x="6667500" y="5143500"/>
            <a:ext cx="762000" cy="762000"/>
          </a:xfrm>
          <a:prstGeom prst="roundRect">
            <a:avLst>
              <a:gd name="adj" fmla="val 26666"/>
            </a:avLst>
          </a:prstGeom>
          <a:solidFill>
            <a:srgbClr val="0052CC">
              <a:alpha val="10000"/>
            </a:srgbClr>
          </a:solidFill>
          <a:ln w="25400" cap="flat" cmpd="sng">
            <a:noFill/>
            <a:prstDash val="solid"/>
            <a:round/>
          </a:ln>
        </p:spPr>
        <p:txBody>
          <a:bodyPr vert="horz" wrap="square" lIns="63500" tIns="63500" rIns="63500" bIns="63500" rtlCol="0" anchor="ctr"/>
          <a:lstStyle/>
          <a:p>
            <a:pPr algn="ctr">
              <a:defRPr/>
            </a:pPr>
          </a:p>
        </p:txBody>
      </p:sp>
      <p:pic>
        <p:nvPicPr>
          <p:cNvPr id="33" name="Picture 33"/>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858000" y="5334000"/>
            <a:ext cx="381000" cy="381000"/>
          </a:xfrm>
          <a:prstGeom prst="rect">
            <a:avLst/>
          </a:prstGeom>
        </p:spPr>
      </p:pic>
      <p:sp>
        <p:nvSpPr>
          <p:cNvPr id="34" name="AutoShape 34"/>
          <p:cNvSpPr/>
          <p:nvPr/>
        </p:nvSpPr>
        <p:spPr>
          <a:xfrm>
            <a:off x="7620000" y="5080000"/>
            <a:ext cx="3429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Flow Duration (流持续时间)</a:t>
            </a:r>
            <a:endParaRPr lang="en-US" sz="1100"/>
          </a:p>
          <a:p>
            <a:pPr indent="0" algn="l">
              <a:lnSpc>
                <a:spcPct val="125000"/>
              </a:lnSpc>
            </a:pPr>
            <a:r>
              <a:rPr lang="en-US" sz="12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TCP流从建立到结束的总时长，识别持续性攻击的重要指标。</a:t>
            </a:r>
            <a:endParaRPr lang="en-US" sz="12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模型选型：为什么选择随机森林？</a:t>
            </a:r>
            <a:endParaRPr lang="en-US" sz="1100"/>
          </a:p>
        </p:txBody>
      </p:sp>
      <p:sp>
        <p:nvSpPr>
          <p:cNvPr id="3" name="AutoShape 3"/>
          <p:cNvSpPr/>
          <p:nvPr/>
        </p:nvSpPr>
        <p:spPr>
          <a:xfrm>
            <a:off x="762000" y="1524000"/>
            <a:ext cx="3302000" cy="4572000"/>
          </a:xfrm>
          <a:prstGeom prst="roundRect">
            <a:avLst>
              <a:gd name="adj" fmla="val 4615"/>
            </a:avLst>
          </a:prstGeom>
          <a:solidFill>
            <a:srgbClr val="FFFFFF">
              <a:alpha val="100000"/>
            </a:srgbClr>
          </a:solidFill>
          <a:ln w="25400" cap="flat" cmpd="sng">
            <a:noFill/>
            <a:prstDash val="solid"/>
            <a:round/>
          </a:ln>
          <a:effectLst>
            <a:outerShdw blurRad="254000" dist="50800" dir="2700000" algn="tl" rotWithShape="0">
              <a:srgbClr val="000000">
                <a:alpha val="6000"/>
              </a:srgbClr>
            </a:outerShdw>
          </a:effectLst>
        </p:spPr>
        <p:txBody>
          <a:bodyPr vert="horz" wrap="square" lIns="63500" tIns="63500" rIns="63500" bIns="63500" rtlCol="0" anchor="ctr"/>
          <a:lstStyle/>
          <a:p>
            <a:pPr algn="ctr">
              <a:defRPr/>
            </a:pPr>
          </a:p>
        </p:txBody>
      </p:sp>
      <p:sp>
        <p:nvSpPr>
          <p:cNvPr id="4" name="AutoShape 4"/>
          <p:cNvSpPr/>
          <p:nvPr/>
        </p:nvSpPr>
        <p:spPr>
          <a:xfrm>
            <a:off x="1016000" y="1778000"/>
            <a:ext cx="812800" cy="812800"/>
          </a:xfrm>
          <a:prstGeom prst="ellipse">
            <a:avLst/>
          </a:prstGeom>
          <a:solidFill>
            <a:srgbClr val="0052CC">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19200" y="1981200"/>
            <a:ext cx="406400" cy="406400"/>
          </a:xfrm>
          <a:prstGeom prst="rect">
            <a:avLst/>
          </a:prstGeom>
        </p:spPr>
      </p:pic>
      <p:sp>
        <p:nvSpPr>
          <p:cNvPr id="6" name="AutoShape 6"/>
          <p:cNvSpPr/>
          <p:nvPr/>
        </p:nvSpPr>
        <p:spPr>
          <a:xfrm>
            <a:off x="2032000" y="1905000"/>
            <a:ext cx="1778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强大的抗噪能力与高准确率</a:t>
            </a:r>
            <a:endParaRPr lang="en-US" sz="1100"/>
          </a:p>
        </p:txBody>
      </p:sp>
      <p:sp>
        <p:nvSpPr>
          <p:cNvPr id="7" name="AutoShape 7"/>
          <p:cNvSpPr/>
          <p:nvPr/>
        </p:nvSpPr>
        <p:spPr>
          <a:xfrm>
            <a:off x="1016000" y="2921000"/>
            <a:ext cx="2794000" cy="1206500"/>
          </a:xfrm>
          <a:prstGeom prst="roundRect">
            <a:avLst>
              <a:gd name="adj" fmla="val 8421"/>
            </a:avLst>
          </a:prstGeom>
          <a:solidFill>
            <a:srgbClr val="EBF2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143000" y="3048000"/>
            <a:ext cx="2540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▍核心原理</a:t>
            </a:r>
            <a:endParaRPr lang="en-US" sz="1100"/>
          </a:p>
        </p:txBody>
      </p:sp>
      <p:sp>
        <p:nvSpPr>
          <p:cNvPr id="9" name="AutoShape 9"/>
          <p:cNvSpPr/>
          <p:nvPr/>
        </p:nvSpPr>
        <p:spPr>
          <a:xfrm>
            <a:off x="1143000" y="3365500"/>
            <a:ext cx="2540000" cy="635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1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集成多个决策树进行投票，有效降低单树的过拟合风险，提升模型稳定性。</a:t>
            </a:r>
            <a:endParaRPr lang="en-US" sz="1100"/>
          </a:p>
        </p:txBody>
      </p:sp>
      <p:sp>
        <p:nvSpPr>
          <p:cNvPr id="10" name="AutoShape 10"/>
          <p:cNvSpPr/>
          <p:nvPr/>
        </p:nvSpPr>
        <p:spPr>
          <a:xfrm>
            <a:off x="1016000" y="4318000"/>
            <a:ext cx="2794000" cy="1206500"/>
          </a:xfrm>
          <a:prstGeom prst="roundRect">
            <a:avLst>
              <a:gd name="adj" fmla="val 8421"/>
            </a:avLst>
          </a:prstGeom>
          <a:solidFill>
            <a:srgbClr val="F1F3F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143000" y="4445000"/>
            <a:ext cx="2540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▍实际效果</a:t>
            </a:r>
            <a:endParaRPr lang="en-US" sz="1100"/>
          </a:p>
        </p:txBody>
      </p:sp>
      <p:sp>
        <p:nvSpPr>
          <p:cNvPr id="12" name="AutoShape 12"/>
          <p:cNvSpPr/>
          <p:nvPr/>
        </p:nvSpPr>
        <p:spPr>
          <a:xfrm>
            <a:off x="1143000" y="4762500"/>
            <a:ext cx="2540000" cy="635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1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对复杂、包含大量噪声的网络流量数据表现稳健，预测准确率显著优于单模型。</a:t>
            </a:r>
            <a:endParaRPr lang="en-US" sz="1100"/>
          </a:p>
        </p:txBody>
      </p:sp>
      <p:sp>
        <p:nvSpPr>
          <p:cNvPr id="13" name="AutoShape 13"/>
          <p:cNvSpPr/>
          <p:nvPr/>
        </p:nvSpPr>
        <p:spPr>
          <a:xfrm>
            <a:off x="4445000" y="1524000"/>
            <a:ext cx="3302000" cy="4572000"/>
          </a:xfrm>
          <a:prstGeom prst="roundRect">
            <a:avLst>
              <a:gd name="adj" fmla="val 4615"/>
            </a:avLst>
          </a:prstGeom>
          <a:solidFill>
            <a:srgbClr val="FFFFFF">
              <a:alpha val="100000"/>
            </a:srgbClr>
          </a:solidFill>
          <a:ln w="25400" cap="flat" cmpd="sng">
            <a:noFill/>
            <a:prstDash val="solid"/>
            <a:round/>
          </a:ln>
          <a:effectLst>
            <a:outerShdw blurRad="254000" dist="50800" dir="2700000" algn="tl" rotWithShape="0">
              <a:srgbClr val="000000">
                <a:alpha val="6000"/>
              </a:srgbClr>
            </a:outerShdw>
          </a:effectLst>
        </p:spPr>
        <p:txBody>
          <a:bodyPr vert="horz" wrap="square" lIns="63500" tIns="63500" rIns="63500" bIns="63500" rtlCol="0" anchor="ctr"/>
          <a:lstStyle/>
          <a:p>
            <a:pPr algn="ctr">
              <a:defRPr/>
            </a:pPr>
          </a:p>
        </p:txBody>
      </p:sp>
      <p:sp>
        <p:nvSpPr>
          <p:cNvPr id="14" name="AutoShape 14"/>
          <p:cNvSpPr/>
          <p:nvPr/>
        </p:nvSpPr>
        <p:spPr>
          <a:xfrm>
            <a:off x="4699000" y="1778000"/>
            <a:ext cx="812800" cy="812800"/>
          </a:xfrm>
          <a:prstGeom prst="ellipse">
            <a:avLst/>
          </a:prstGeom>
          <a:solidFill>
            <a:srgbClr val="0052CC">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902200" y="1981200"/>
            <a:ext cx="406400" cy="406400"/>
          </a:xfrm>
          <a:prstGeom prst="rect">
            <a:avLst/>
          </a:prstGeom>
        </p:spPr>
      </p:pic>
      <p:sp>
        <p:nvSpPr>
          <p:cNvPr id="16" name="AutoShape 16"/>
          <p:cNvSpPr/>
          <p:nvPr/>
        </p:nvSpPr>
        <p:spPr>
          <a:xfrm>
            <a:off x="5715000" y="1905000"/>
            <a:ext cx="1778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天然处理非线性特征</a:t>
            </a:r>
            <a:endParaRPr lang="en-US" sz="1100"/>
          </a:p>
        </p:txBody>
      </p:sp>
      <p:sp>
        <p:nvSpPr>
          <p:cNvPr id="17" name="AutoShape 17"/>
          <p:cNvSpPr/>
          <p:nvPr/>
        </p:nvSpPr>
        <p:spPr>
          <a:xfrm>
            <a:off x="4699000" y="2921000"/>
            <a:ext cx="2794000" cy="1206500"/>
          </a:xfrm>
          <a:prstGeom prst="roundRect">
            <a:avLst>
              <a:gd name="adj" fmla="val 8421"/>
            </a:avLst>
          </a:prstGeom>
          <a:solidFill>
            <a:srgbClr val="EBF2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4826000" y="3048000"/>
            <a:ext cx="2540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▍核心原理</a:t>
            </a:r>
            <a:endParaRPr lang="en-US" sz="1100"/>
          </a:p>
        </p:txBody>
      </p:sp>
      <p:sp>
        <p:nvSpPr>
          <p:cNvPr id="19" name="AutoShape 19"/>
          <p:cNvSpPr/>
          <p:nvPr/>
        </p:nvSpPr>
        <p:spPr>
          <a:xfrm>
            <a:off x="4826000" y="3365500"/>
            <a:ext cx="2540000" cy="635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1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决策树基模型通过对特征空间的多次递归分割，能够自然拟合复杂的非线性决策边界。</a:t>
            </a:r>
            <a:endParaRPr lang="en-US" sz="1100"/>
          </a:p>
        </p:txBody>
      </p:sp>
      <p:sp>
        <p:nvSpPr>
          <p:cNvPr id="20" name="AutoShape 20"/>
          <p:cNvSpPr/>
          <p:nvPr/>
        </p:nvSpPr>
        <p:spPr>
          <a:xfrm>
            <a:off x="4699000" y="4318000"/>
            <a:ext cx="2794000" cy="1206500"/>
          </a:xfrm>
          <a:prstGeom prst="roundRect">
            <a:avLst>
              <a:gd name="adj" fmla="val 8421"/>
            </a:avLst>
          </a:prstGeom>
          <a:solidFill>
            <a:srgbClr val="F1F3F4">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4826000" y="4445000"/>
            <a:ext cx="2540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▍工程价值</a:t>
            </a:r>
            <a:endParaRPr lang="en-US" sz="1100"/>
          </a:p>
        </p:txBody>
      </p:sp>
      <p:sp>
        <p:nvSpPr>
          <p:cNvPr id="22" name="AutoShape 22"/>
          <p:cNvSpPr/>
          <p:nvPr/>
        </p:nvSpPr>
        <p:spPr>
          <a:xfrm>
            <a:off x="4826000" y="4762500"/>
            <a:ext cx="2540000" cy="635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1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无需对原始数据进行复杂的人工特征转换（如多项式扩展），大幅简化特征工程流程。</a:t>
            </a:r>
            <a:endParaRPr lang="en-US" sz="1100"/>
          </a:p>
        </p:txBody>
      </p:sp>
      <p:sp>
        <p:nvSpPr>
          <p:cNvPr id="23" name="AutoShape 23"/>
          <p:cNvSpPr/>
          <p:nvPr/>
        </p:nvSpPr>
        <p:spPr>
          <a:xfrm>
            <a:off x="8128000" y="1524000"/>
            <a:ext cx="3302000" cy="4572000"/>
          </a:xfrm>
          <a:prstGeom prst="roundRect">
            <a:avLst>
              <a:gd name="adj" fmla="val 4615"/>
            </a:avLst>
          </a:prstGeom>
          <a:solidFill>
            <a:srgbClr val="FFFFFF">
              <a:alpha val="100000"/>
            </a:srgbClr>
          </a:solidFill>
          <a:ln w="25400" cap="flat" cmpd="sng">
            <a:noFill/>
            <a:prstDash val="solid"/>
            <a:round/>
          </a:ln>
          <a:effectLst>
            <a:outerShdw blurRad="254000" dist="50800" dir="2700000" algn="tl" rotWithShape="0">
              <a:srgbClr val="000000">
                <a:alpha val="6000"/>
              </a:srgbClr>
            </a:outerShdw>
          </a:effectLst>
        </p:spPr>
        <p:txBody>
          <a:bodyPr vert="horz" wrap="square" lIns="63500" tIns="63500" rIns="63500" bIns="63500" rtlCol="0" anchor="ctr"/>
          <a:lstStyle/>
          <a:p>
            <a:pPr algn="ctr">
              <a:defRPr/>
            </a:pPr>
          </a:p>
        </p:txBody>
      </p:sp>
      <p:sp>
        <p:nvSpPr>
          <p:cNvPr id="24" name="AutoShape 24"/>
          <p:cNvSpPr/>
          <p:nvPr/>
        </p:nvSpPr>
        <p:spPr>
          <a:xfrm>
            <a:off x="8382000" y="1778000"/>
            <a:ext cx="812800" cy="812800"/>
          </a:xfrm>
          <a:prstGeom prst="ellipse">
            <a:avLst/>
          </a:prstGeom>
          <a:solidFill>
            <a:srgbClr val="0052CC">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5" name="Picture 2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585200" y="1981200"/>
            <a:ext cx="406400" cy="406400"/>
          </a:xfrm>
          <a:prstGeom prst="rect">
            <a:avLst/>
          </a:prstGeom>
        </p:spPr>
      </p:pic>
      <p:sp>
        <p:nvSpPr>
          <p:cNvPr id="26" name="AutoShape 26"/>
          <p:cNvSpPr/>
          <p:nvPr/>
        </p:nvSpPr>
        <p:spPr>
          <a:xfrm>
            <a:off x="9398000" y="1905000"/>
            <a:ext cx="1778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卓越的模型可解释性</a:t>
            </a:r>
            <a:endParaRPr lang="en-US" sz="1100"/>
          </a:p>
        </p:txBody>
      </p:sp>
      <p:sp>
        <p:nvSpPr>
          <p:cNvPr id="27" name="AutoShape 27"/>
          <p:cNvSpPr/>
          <p:nvPr/>
        </p:nvSpPr>
        <p:spPr>
          <a:xfrm>
            <a:off x="8382000" y="2921000"/>
            <a:ext cx="2794000" cy="1206500"/>
          </a:xfrm>
          <a:prstGeom prst="roundRect">
            <a:avLst>
              <a:gd name="adj" fmla="val 8421"/>
            </a:avLst>
          </a:prstGeom>
          <a:solidFill>
            <a:srgbClr val="EBF2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28" name="AutoShape 28"/>
          <p:cNvSpPr/>
          <p:nvPr/>
        </p:nvSpPr>
        <p:spPr>
          <a:xfrm>
            <a:off x="8509000" y="3048000"/>
            <a:ext cx="2540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▍核心原理</a:t>
            </a:r>
            <a:endParaRPr lang="en-US" sz="1100"/>
          </a:p>
        </p:txBody>
      </p:sp>
      <p:sp>
        <p:nvSpPr>
          <p:cNvPr id="29" name="AutoShape 29"/>
          <p:cNvSpPr/>
          <p:nvPr/>
        </p:nvSpPr>
        <p:spPr>
          <a:xfrm>
            <a:off x="8509000" y="3365500"/>
            <a:ext cx="2540000" cy="635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1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能够量化计算每个输入特征对模型最终预测结果的贡献度（Feature Importance）。</a:t>
            </a:r>
            <a:endParaRPr lang="en-US" sz="1100"/>
          </a:p>
        </p:txBody>
      </p:sp>
      <p:sp>
        <p:nvSpPr>
          <p:cNvPr id="30" name="AutoShape 30"/>
          <p:cNvSpPr/>
          <p:nvPr/>
        </p:nvSpPr>
        <p:spPr>
          <a:xfrm>
            <a:off x="8382000" y="4318000"/>
            <a:ext cx="2794000" cy="1206500"/>
          </a:xfrm>
          <a:prstGeom prst="roundRect">
            <a:avLst>
              <a:gd name="adj" fmla="val 8421"/>
            </a:avLst>
          </a:prstGeom>
          <a:solidFill>
            <a:srgbClr val="F1F3F4">
              <a:alpha val="100000"/>
            </a:srgbClr>
          </a:solidFill>
          <a:ln w="25400" cap="flat" cmpd="sng">
            <a:noFill/>
            <a:prstDash val="solid"/>
            <a:round/>
          </a:ln>
        </p:spPr>
        <p:txBody>
          <a:bodyPr vert="horz" wrap="square" lIns="63500" tIns="63500" rIns="63500" bIns="63500" rtlCol="0" anchor="ctr"/>
          <a:lstStyle/>
          <a:p>
            <a:pPr algn="ctr">
              <a:defRPr/>
            </a:pPr>
          </a:p>
        </p:txBody>
      </p:sp>
      <p:sp>
        <p:nvSpPr>
          <p:cNvPr id="31" name="AutoShape 31"/>
          <p:cNvSpPr/>
          <p:nvPr/>
        </p:nvSpPr>
        <p:spPr>
          <a:xfrm>
            <a:off x="8509000" y="4445000"/>
            <a:ext cx="2540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▍业务赋能</a:t>
            </a:r>
            <a:endParaRPr lang="en-US" sz="1100"/>
          </a:p>
        </p:txBody>
      </p:sp>
      <p:sp>
        <p:nvSpPr>
          <p:cNvPr id="32" name="AutoShape 32"/>
          <p:cNvSpPr/>
          <p:nvPr/>
        </p:nvSpPr>
        <p:spPr>
          <a:xfrm>
            <a:off x="8509000" y="4762500"/>
            <a:ext cx="2540000" cy="635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1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帮助安全团队理解模型决策逻辑，发现关键攻击特征，并持续迭代优化检测策略。</a:t>
            </a:r>
            <a:endParaRPr lang="en-US" sz="11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从数据到模型：实验全流程</a:t>
            </a:r>
            <a:endParaRPr lang="en-US" sz="1100"/>
          </a:p>
        </p:txBody>
      </p:sp>
      <p:sp>
        <p:nvSpPr>
          <p:cNvPr id="3" name="AutoShape 3"/>
          <p:cNvSpPr/>
          <p:nvPr/>
        </p:nvSpPr>
        <p:spPr>
          <a:xfrm>
            <a:off x="762000" y="1651000"/>
            <a:ext cx="1905000" cy="4318000"/>
          </a:xfrm>
          <a:prstGeom prst="roundRect">
            <a:avLst>
              <a:gd name="adj" fmla="val 8000"/>
            </a:avLst>
          </a:prstGeom>
          <a:solidFill>
            <a:srgbClr val="FFFFFF">
              <a:alpha val="100000"/>
            </a:srgbClr>
          </a:solidFill>
          <a:ln w="12700" cap="flat" cmpd="sng">
            <a:solidFill>
              <a:srgbClr val="EBF0FA">
                <a:alpha val="100000"/>
              </a:srgbClr>
            </a:solidFill>
            <a:prstDash val="solid"/>
            <a:round/>
          </a:ln>
          <a:effectLst>
            <a:outerShdw blurRad="190500" dist="63500" dir="5400000" algn="tl" rotWithShape="0">
              <a:srgbClr val="0052CC">
                <a:alpha val="10000"/>
              </a:srgbClr>
            </a:outerShdw>
          </a:effectLst>
        </p:spPr>
        <p:txBody>
          <a:bodyPr vert="horz" wrap="square" lIns="63500" tIns="63500" rIns="63500" bIns="63500" rtlCol="0" anchor="ctr"/>
          <a:lstStyle/>
          <a:p>
            <a:pPr algn="ctr">
              <a:defRPr/>
            </a:pPr>
          </a:p>
        </p:txBody>
      </p:sp>
      <p:sp>
        <p:nvSpPr>
          <p:cNvPr id="4" name="AutoShape 4"/>
          <p:cNvSpPr/>
          <p:nvPr/>
        </p:nvSpPr>
        <p:spPr>
          <a:xfrm>
            <a:off x="1206500" y="2032000"/>
            <a:ext cx="1016000" cy="1016000"/>
          </a:xfrm>
          <a:prstGeom prst="ellipse">
            <a:avLst/>
          </a:prstGeom>
          <a:solidFill>
            <a:srgbClr val="E6F0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460500" y="2286000"/>
            <a:ext cx="508000" cy="508000"/>
          </a:xfrm>
          <a:prstGeom prst="rect">
            <a:avLst/>
          </a:prstGeom>
        </p:spPr>
      </p:pic>
      <p:sp>
        <p:nvSpPr>
          <p:cNvPr id="6" name="AutoShape 6"/>
          <p:cNvSpPr/>
          <p:nvPr/>
        </p:nvSpPr>
        <p:spPr>
          <a:xfrm>
            <a:off x="762000" y="3175000"/>
            <a:ext cx="1905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sp>
        <p:nvSpPr>
          <p:cNvPr id="7" name="AutoShape 7"/>
          <p:cNvSpPr/>
          <p:nvPr/>
        </p:nvSpPr>
        <p:spPr>
          <a:xfrm>
            <a:off x="762000" y="3683000"/>
            <a:ext cx="1905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数据准备</a:t>
            </a:r>
            <a:endParaRPr lang="en-US" sz="1100"/>
          </a:p>
        </p:txBody>
      </p:sp>
      <p:sp>
        <p:nvSpPr>
          <p:cNvPr id="8" name="AutoShape 8"/>
          <p:cNvSpPr/>
          <p:nvPr/>
        </p:nvSpPr>
        <p:spPr>
          <a:xfrm>
            <a:off x="1079500" y="4254500"/>
            <a:ext cx="1270000" cy="25400"/>
          </a:xfrm>
          <a:prstGeom prst="roundRect">
            <a:avLst>
              <a:gd name="adj" fmla="val 0"/>
            </a:avLst>
          </a:prstGeom>
          <a:solidFill>
            <a:srgbClr val="E5E7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952500" y="4508500"/>
            <a:ext cx="1524000" cy="1016000"/>
          </a:xfrm>
          <a:prstGeom prst="rect">
            <a:avLst/>
          </a:prstGeom>
          <a:noFill/>
          <a:ln w="12700" cap="flat" cmpd="sng">
            <a:noFill/>
            <a:prstDash val="solid"/>
            <a:round/>
          </a:ln>
        </p:spPr>
        <p:txBody>
          <a:bodyPr vert="horz" wrap="square" lIns="0" tIns="0" rIns="0" bIns="0" rtlCol="0" anchor="ctr" anchorCtr="0"/>
          <a:lstStyle/>
          <a:p>
            <a:pPr indent="0" algn="ctr">
              <a:lnSpc>
                <a:spcPct val="117000"/>
              </a:lnSpc>
              <a:defRPr/>
            </a:pPr>
            <a:r>
              <a:rPr lang="en-US" sz="1200" b="0" i="0" u="none" strike="noStrike">
                <a:solidFill>
                  <a:srgbClr val="616161"/>
                </a:solidFill>
                <a:latin typeface="Noto Sans SC" panose="020B0200000000000000" charset="-122"/>
                <a:ea typeface="Noto Sans SC" panose="020B0200000000000000" charset="-122"/>
                <a:cs typeface="Noto Sans SC" panose="020B0200000000000000" charset="-122"/>
                <a:sym typeface="Noto Sans SC" panose="020B0200000000000000" charset="-122"/>
              </a:rPr>
              <a:t>加载原始数据</a:t>
            </a:r>
            <a:br>
              <a:rPr lang="en-US" sz="1200" b="0" i="0" u="none" strike="noStrike">
                <a:solidFill>
                  <a:srgbClr val="61616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616161"/>
                </a:solidFill>
                <a:latin typeface="Noto Sans SC" panose="020B0200000000000000" charset="-122"/>
                <a:ea typeface="Noto Sans SC" panose="020B0200000000000000" charset="-122"/>
                <a:cs typeface="Noto Sans SC" panose="020B0200000000000000" charset="-122"/>
                <a:sym typeface="Noto Sans SC" panose="020B0200000000000000" charset="-122"/>
              </a:rPr>
              <a:t>多维度数据清洗</a:t>
            </a:r>
            <a:br>
              <a:rPr lang="en-US" sz="1200" b="0" i="0" u="none" strike="noStrike">
                <a:solidFill>
                  <a:srgbClr val="61616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616161"/>
                </a:solidFill>
                <a:latin typeface="Noto Sans SC" panose="020B0200000000000000" charset="-122"/>
                <a:ea typeface="Noto Sans SC" panose="020B0200000000000000" charset="-122"/>
                <a:cs typeface="Noto Sans SC" panose="020B0200000000000000" charset="-122"/>
                <a:sym typeface="Noto Sans SC" panose="020B0200000000000000" charset="-122"/>
              </a:rPr>
              <a:t>划分训练集与测试集</a:t>
            </a:r>
            <a:endParaRPr lang="en-US" sz="1100"/>
          </a:p>
        </p:txBody>
      </p:sp>
      <p:sp>
        <p:nvSpPr>
          <p:cNvPr id="10" name="AutoShape 10"/>
          <p:cNvSpPr/>
          <p:nvPr/>
        </p:nvSpPr>
        <p:spPr>
          <a:xfrm>
            <a:off x="2921000" y="1651000"/>
            <a:ext cx="1905000" cy="4318000"/>
          </a:xfrm>
          <a:prstGeom prst="roundRect">
            <a:avLst>
              <a:gd name="adj" fmla="val 8000"/>
            </a:avLst>
          </a:prstGeom>
          <a:solidFill>
            <a:srgbClr val="FFFFFF">
              <a:alpha val="100000"/>
            </a:srgbClr>
          </a:solidFill>
          <a:ln w="12700" cap="flat" cmpd="sng">
            <a:solidFill>
              <a:srgbClr val="EBF0FA">
                <a:alpha val="100000"/>
              </a:srgbClr>
            </a:solidFill>
            <a:prstDash val="solid"/>
            <a:round/>
          </a:ln>
          <a:effectLst>
            <a:outerShdw blurRad="190500" dist="63500" dir="5400000" algn="tl" rotWithShape="0">
              <a:srgbClr val="0052CC">
                <a:alpha val="10000"/>
              </a:srgbClr>
            </a:outerShdw>
          </a:effectLst>
        </p:spPr>
        <p:txBody>
          <a:bodyPr vert="horz" wrap="square" lIns="63500" tIns="63500" rIns="63500" bIns="63500" rtlCol="0" anchor="ctr"/>
          <a:lstStyle/>
          <a:p>
            <a:pPr algn="ctr">
              <a:defRPr/>
            </a:pPr>
          </a:p>
        </p:txBody>
      </p:sp>
      <p:sp>
        <p:nvSpPr>
          <p:cNvPr id="11" name="AutoShape 11"/>
          <p:cNvSpPr/>
          <p:nvPr/>
        </p:nvSpPr>
        <p:spPr>
          <a:xfrm>
            <a:off x="3365500" y="2032000"/>
            <a:ext cx="1016000" cy="1016000"/>
          </a:xfrm>
          <a:prstGeom prst="ellipse">
            <a:avLst/>
          </a:prstGeom>
          <a:solidFill>
            <a:srgbClr val="E6F0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19500" y="2286000"/>
            <a:ext cx="508000" cy="508000"/>
          </a:xfrm>
          <a:prstGeom prst="rect">
            <a:avLst/>
          </a:prstGeom>
        </p:spPr>
      </p:pic>
      <p:sp>
        <p:nvSpPr>
          <p:cNvPr id="13" name="AutoShape 13"/>
          <p:cNvSpPr/>
          <p:nvPr/>
        </p:nvSpPr>
        <p:spPr>
          <a:xfrm>
            <a:off x="2921000" y="3175000"/>
            <a:ext cx="1905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sp>
        <p:nvSpPr>
          <p:cNvPr id="14" name="AutoShape 14"/>
          <p:cNvSpPr/>
          <p:nvPr/>
        </p:nvSpPr>
        <p:spPr>
          <a:xfrm>
            <a:off x="2921000" y="3683000"/>
            <a:ext cx="1905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特征工程</a:t>
            </a:r>
            <a:endParaRPr lang="en-US" sz="1100"/>
          </a:p>
        </p:txBody>
      </p:sp>
      <p:sp>
        <p:nvSpPr>
          <p:cNvPr id="15" name="AutoShape 15"/>
          <p:cNvSpPr/>
          <p:nvPr/>
        </p:nvSpPr>
        <p:spPr>
          <a:xfrm>
            <a:off x="3238500" y="4254500"/>
            <a:ext cx="1270000" cy="25400"/>
          </a:xfrm>
          <a:prstGeom prst="roundRect">
            <a:avLst>
              <a:gd name="adj" fmla="val 0"/>
            </a:avLst>
          </a:prstGeom>
          <a:solidFill>
            <a:srgbClr val="E5E7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3111500" y="4508500"/>
            <a:ext cx="1524000" cy="1016000"/>
          </a:xfrm>
          <a:prstGeom prst="rect">
            <a:avLst/>
          </a:prstGeom>
          <a:noFill/>
          <a:ln w="12700" cap="flat" cmpd="sng">
            <a:noFill/>
            <a:prstDash val="solid"/>
            <a:round/>
          </a:ln>
        </p:spPr>
        <p:txBody>
          <a:bodyPr vert="horz" wrap="square" lIns="0" tIns="0" rIns="0" bIns="0" rtlCol="0" anchor="ctr" anchorCtr="0"/>
          <a:lstStyle/>
          <a:p>
            <a:pPr indent="0" algn="ctr">
              <a:lnSpc>
                <a:spcPct val="117000"/>
              </a:lnSpc>
              <a:defRPr/>
            </a:pPr>
            <a:r>
              <a:rPr lang="en-US" sz="1200" b="0" i="0" u="none" strike="noStrike">
                <a:solidFill>
                  <a:srgbClr val="616161"/>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基于相关性筛选特征</a:t>
            </a:r>
            <a:br>
              <a:rPr lang="en-US" sz="1200" b="0" i="0" u="none" strike="noStrike">
                <a:solidFill>
                  <a:srgbClr val="61616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616161"/>
                </a:solidFill>
                <a:latin typeface="Noto Sans SC" panose="020B0200000000000000" charset="-122"/>
                <a:ea typeface="Noto Sans SC" panose="020B0200000000000000" charset="-122"/>
                <a:cs typeface="Noto Sans SC" panose="020B0200000000000000" charset="-122"/>
                <a:sym typeface="Noto Sans SC" panose="020B0200000000000000" charset="-122"/>
              </a:rPr>
              <a:t>分类特征数值编码</a:t>
            </a:r>
            <a:br>
              <a:rPr lang="en-US" sz="1200" b="0" i="0" u="none" strike="noStrike">
                <a:solidFill>
                  <a:srgbClr val="61616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616161"/>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数据标准化与缩放</a:t>
            </a:r>
            <a:endParaRPr lang="en-US" sz="1100"/>
          </a:p>
        </p:txBody>
      </p:sp>
      <p:sp>
        <p:nvSpPr>
          <p:cNvPr id="17" name="AutoShape 17"/>
          <p:cNvSpPr/>
          <p:nvPr/>
        </p:nvSpPr>
        <p:spPr>
          <a:xfrm>
            <a:off x="5080000" y="1651000"/>
            <a:ext cx="1905000" cy="4318000"/>
          </a:xfrm>
          <a:prstGeom prst="roundRect">
            <a:avLst>
              <a:gd name="adj" fmla="val 8000"/>
            </a:avLst>
          </a:prstGeom>
          <a:solidFill>
            <a:srgbClr val="FFFFFF">
              <a:alpha val="100000"/>
            </a:srgbClr>
          </a:solidFill>
          <a:ln w="12700" cap="flat" cmpd="sng">
            <a:solidFill>
              <a:srgbClr val="EBF0FA">
                <a:alpha val="100000"/>
              </a:srgbClr>
            </a:solidFill>
            <a:prstDash val="solid"/>
            <a:round/>
          </a:ln>
          <a:effectLst>
            <a:outerShdw blurRad="190500" dist="63500" dir="5400000" algn="tl" rotWithShape="0">
              <a:srgbClr val="0052CC">
                <a:alpha val="10000"/>
              </a:srgbClr>
            </a:outerShdw>
          </a:effectLst>
        </p:spPr>
        <p:txBody>
          <a:bodyPr vert="horz" wrap="square" lIns="63500" tIns="63500" rIns="63500" bIns="63500" rtlCol="0" anchor="ctr"/>
          <a:lstStyle/>
          <a:p>
            <a:pPr algn="ctr">
              <a:defRPr/>
            </a:pPr>
          </a:p>
        </p:txBody>
      </p:sp>
      <p:sp>
        <p:nvSpPr>
          <p:cNvPr id="18" name="AutoShape 18"/>
          <p:cNvSpPr/>
          <p:nvPr/>
        </p:nvSpPr>
        <p:spPr>
          <a:xfrm>
            <a:off x="5524500" y="2032000"/>
            <a:ext cx="1016000" cy="1016000"/>
          </a:xfrm>
          <a:prstGeom prst="ellipse">
            <a:avLst/>
          </a:prstGeom>
          <a:solidFill>
            <a:srgbClr val="E6F0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778500" y="2286000"/>
            <a:ext cx="508000" cy="508000"/>
          </a:xfrm>
          <a:prstGeom prst="rect">
            <a:avLst/>
          </a:prstGeom>
        </p:spPr>
      </p:pic>
      <p:sp>
        <p:nvSpPr>
          <p:cNvPr id="20" name="AutoShape 20"/>
          <p:cNvSpPr/>
          <p:nvPr/>
        </p:nvSpPr>
        <p:spPr>
          <a:xfrm>
            <a:off x="5080000" y="3175000"/>
            <a:ext cx="1905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sp>
        <p:nvSpPr>
          <p:cNvPr id="21" name="AutoShape 21"/>
          <p:cNvSpPr/>
          <p:nvPr/>
        </p:nvSpPr>
        <p:spPr>
          <a:xfrm>
            <a:off x="5080000" y="3683000"/>
            <a:ext cx="1905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模型训练</a:t>
            </a:r>
            <a:endParaRPr lang="en-US" sz="1100"/>
          </a:p>
        </p:txBody>
      </p:sp>
      <p:sp>
        <p:nvSpPr>
          <p:cNvPr id="22" name="AutoShape 22"/>
          <p:cNvSpPr/>
          <p:nvPr/>
        </p:nvSpPr>
        <p:spPr>
          <a:xfrm>
            <a:off x="5397500" y="4254500"/>
            <a:ext cx="1270000" cy="25400"/>
          </a:xfrm>
          <a:prstGeom prst="roundRect">
            <a:avLst>
              <a:gd name="adj" fmla="val 0"/>
            </a:avLst>
          </a:prstGeom>
          <a:solidFill>
            <a:srgbClr val="E5E7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5270500" y="4508500"/>
            <a:ext cx="1524000" cy="1016000"/>
          </a:xfrm>
          <a:prstGeom prst="rect">
            <a:avLst/>
          </a:prstGeom>
          <a:noFill/>
          <a:ln w="12700" cap="flat" cmpd="sng">
            <a:noFill/>
            <a:prstDash val="solid"/>
            <a:round/>
          </a:ln>
        </p:spPr>
        <p:txBody>
          <a:bodyPr vert="horz" wrap="square" lIns="0" tIns="0" rIns="0" bIns="0" rtlCol="0" anchor="ctr" anchorCtr="0"/>
          <a:lstStyle/>
          <a:p>
            <a:pPr indent="0" algn="ctr">
              <a:lnSpc>
                <a:spcPct val="117000"/>
              </a:lnSpc>
              <a:defRPr/>
            </a:pPr>
            <a:r>
              <a:rPr lang="en-US" sz="1200" b="0" i="0" u="none" strike="noStrike">
                <a:solidFill>
                  <a:srgbClr val="616161"/>
                </a:solidFill>
                <a:latin typeface="Noto Sans SC" panose="020B0200000000000000" charset="-122"/>
                <a:ea typeface="Noto Sans SC" panose="020B0200000000000000" charset="-122"/>
                <a:cs typeface="Noto Sans SC" panose="020B0200000000000000" charset="-122"/>
                <a:sym typeface="Noto Sans SC" panose="020B0200000000000000" charset="-122"/>
              </a:rPr>
              <a:t>初始化随机森林模型</a:t>
            </a:r>
            <a:br>
              <a:rPr lang="en-US" sz="1200" b="0" i="0" u="none" strike="noStrike">
                <a:solidFill>
                  <a:srgbClr val="61616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616161"/>
                </a:solidFill>
                <a:latin typeface="Noto Sans SC" panose="020B0200000000000000" charset="-122"/>
                <a:ea typeface="Noto Sans SC" panose="020B0200000000000000" charset="-122"/>
                <a:cs typeface="Noto Sans SC" panose="020B0200000000000000" charset="-122"/>
                <a:sym typeface="Noto Sans SC" panose="020B0200000000000000" charset="-122"/>
              </a:rPr>
              <a:t>配置核心超参数</a:t>
            </a:r>
            <a:br>
              <a:rPr lang="en-US" sz="1200" b="0" i="0" u="none" strike="noStrike">
                <a:solidFill>
                  <a:srgbClr val="61616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616161"/>
                </a:solidFill>
                <a:latin typeface="Noto Sans SC" panose="020B0200000000000000" charset="-122"/>
                <a:ea typeface="Noto Sans SC" panose="020B0200000000000000" charset="-122"/>
                <a:cs typeface="Noto Sans SC" panose="020B0200000000000000" charset="-122"/>
                <a:sym typeface="Noto Sans SC" panose="020B0200000000000000" charset="-122"/>
              </a:rPr>
              <a:t>投入数据进行迭代训练</a:t>
            </a:r>
            <a:endParaRPr lang="en-US" sz="1100"/>
          </a:p>
        </p:txBody>
      </p:sp>
      <p:sp>
        <p:nvSpPr>
          <p:cNvPr id="24" name="AutoShape 24"/>
          <p:cNvSpPr/>
          <p:nvPr/>
        </p:nvSpPr>
        <p:spPr>
          <a:xfrm>
            <a:off x="7239000" y="1651000"/>
            <a:ext cx="1905000" cy="4318000"/>
          </a:xfrm>
          <a:prstGeom prst="roundRect">
            <a:avLst>
              <a:gd name="adj" fmla="val 8000"/>
            </a:avLst>
          </a:prstGeom>
          <a:solidFill>
            <a:srgbClr val="FFFFFF">
              <a:alpha val="100000"/>
            </a:srgbClr>
          </a:solidFill>
          <a:ln w="12700" cap="flat" cmpd="sng">
            <a:solidFill>
              <a:srgbClr val="EBF0FA">
                <a:alpha val="100000"/>
              </a:srgbClr>
            </a:solidFill>
            <a:prstDash val="solid"/>
            <a:round/>
          </a:ln>
          <a:effectLst>
            <a:outerShdw blurRad="190500" dist="63500" dir="5400000" algn="tl" rotWithShape="0">
              <a:srgbClr val="0052CC">
                <a:alpha val="10000"/>
              </a:srgbClr>
            </a:outerShdw>
          </a:effectLst>
        </p:spPr>
        <p:txBody>
          <a:bodyPr vert="horz" wrap="square" lIns="63500" tIns="63500" rIns="63500" bIns="63500" rtlCol="0" anchor="ctr"/>
          <a:lstStyle/>
          <a:p>
            <a:pPr algn="ctr">
              <a:defRPr/>
            </a:pPr>
          </a:p>
        </p:txBody>
      </p:sp>
      <p:sp>
        <p:nvSpPr>
          <p:cNvPr id="25" name="AutoShape 25"/>
          <p:cNvSpPr/>
          <p:nvPr/>
        </p:nvSpPr>
        <p:spPr>
          <a:xfrm>
            <a:off x="7683500" y="2032000"/>
            <a:ext cx="1016000" cy="1016000"/>
          </a:xfrm>
          <a:prstGeom prst="ellipse">
            <a:avLst/>
          </a:prstGeom>
          <a:solidFill>
            <a:srgbClr val="E6F0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6" name="Picture 2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937500" y="2286000"/>
            <a:ext cx="508000" cy="508000"/>
          </a:xfrm>
          <a:prstGeom prst="rect">
            <a:avLst/>
          </a:prstGeom>
        </p:spPr>
      </p:pic>
      <p:sp>
        <p:nvSpPr>
          <p:cNvPr id="27" name="AutoShape 27"/>
          <p:cNvSpPr/>
          <p:nvPr/>
        </p:nvSpPr>
        <p:spPr>
          <a:xfrm>
            <a:off x="7239000" y="3175000"/>
            <a:ext cx="1905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lang="en-US" sz="1100"/>
          </a:p>
        </p:txBody>
      </p:sp>
      <p:sp>
        <p:nvSpPr>
          <p:cNvPr id="28" name="AutoShape 28"/>
          <p:cNvSpPr/>
          <p:nvPr/>
        </p:nvSpPr>
        <p:spPr>
          <a:xfrm>
            <a:off x="7239000" y="3683000"/>
            <a:ext cx="1905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模型评估</a:t>
            </a:r>
            <a:endParaRPr lang="en-US" sz="1100"/>
          </a:p>
        </p:txBody>
      </p:sp>
      <p:sp>
        <p:nvSpPr>
          <p:cNvPr id="29" name="AutoShape 29"/>
          <p:cNvSpPr/>
          <p:nvPr/>
        </p:nvSpPr>
        <p:spPr>
          <a:xfrm>
            <a:off x="7556500" y="4254500"/>
            <a:ext cx="1270000" cy="25400"/>
          </a:xfrm>
          <a:prstGeom prst="roundRect">
            <a:avLst>
              <a:gd name="adj" fmla="val 0"/>
            </a:avLst>
          </a:prstGeom>
          <a:solidFill>
            <a:srgbClr val="E5E7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30" name="AutoShape 30"/>
          <p:cNvSpPr/>
          <p:nvPr/>
        </p:nvSpPr>
        <p:spPr>
          <a:xfrm>
            <a:off x="7429500" y="4508500"/>
            <a:ext cx="1524000" cy="1016000"/>
          </a:xfrm>
          <a:prstGeom prst="rect">
            <a:avLst/>
          </a:prstGeom>
          <a:noFill/>
          <a:ln w="12700" cap="flat" cmpd="sng">
            <a:noFill/>
            <a:prstDash val="solid"/>
            <a:round/>
          </a:ln>
        </p:spPr>
        <p:txBody>
          <a:bodyPr vert="horz" wrap="square" lIns="0" tIns="0" rIns="0" bIns="0" rtlCol="0" anchor="ctr" anchorCtr="0"/>
          <a:lstStyle/>
          <a:p>
            <a:pPr indent="0" algn="ctr">
              <a:lnSpc>
                <a:spcPct val="117000"/>
              </a:lnSpc>
              <a:defRPr/>
            </a:pPr>
            <a:r>
              <a:rPr lang="en-US" sz="1200" b="0" i="0" u="none" strike="noStrike">
                <a:solidFill>
                  <a:srgbClr val="616161"/>
                </a:solidFill>
                <a:latin typeface="Noto Sans SC" panose="020B0200000000000000" charset="-122"/>
                <a:ea typeface="Noto Sans SC" panose="020B0200000000000000" charset="-122"/>
                <a:cs typeface="Noto Sans SC" panose="020B0200000000000000" charset="-122"/>
                <a:sym typeface="Noto Sans SC" panose="020B0200000000000000" charset="-122"/>
              </a:rPr>
              <a:t>利用测试集进行预测</a:t>
            </a:r>
            <a:br>
              <a:rPr lang="en-US" sz="1200" b="0" i="0" u="none" strike="noStrike">
                <a:solidFill>
                  <a:srgbClr val="61616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616161"/>
                </a:solidFill>
                <a:latin typeface="Noto Sans SC" panose="020B0200000000000000" charset="-122"/>
                <a:ea typeface="Noto Sans SC" panose="020B0200000000000000" charset="-122"/>
                <a:cs typeface="Noto Sans SC" panose="020B0200000000000000" charset="-122"/>
                <a:sym typeface="Noto Sans SC" panose="020B0200000000000000" charset="-122"/>
              </a:rPr>
              <a:t>计算精确率/召回率</a:t>
            </a:r>
            <a:br>
              <a:rPr lang="en-US" sz="1200" b="0" i="0" u="none" strike="noStrike">
                <a:solidFill>
                  <a:srgbClr val="61616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616161"/>
                </a:solidFill>
                <a:latin typeface="Noto Sans SC" panose="020B0200000000000000" charset="-122"/>
                <a:ea typeface="Noto Sans SC" panose="020B0200000000000000" charset="-122"/>
                <a:cs typeface="Noto Sans SC" panose="020B0200000000000000" charset="-122"/>
                <a:sym typeface="Noto Sans SC" panose="020B0200000000000000" charset="-122"/>
              </a:rPr>
              <a:t>生成混淆矩阵可视化</a:t>
            </a:r>
            <a:endParaRPr lang="en-US" sz="1100"/>
          </a:p>
        </p:txBody>
      </p:sp>
      <p:sp>
        <p:nvSpPr>
          <p:cNvPr id="31" name="AutoShape 31"/>
          <p:cNvSpPr/>
          <p:nvPr/>
        </p:nvSpPr>
        <p:spPr>
          <a:xfrm>
            <a:off x="9398000" y="1651000"/>
            <a:ext cx="1905000" cy="4318000"/>
          </a:xfrm>
          <a:prstGeom prst="roundRect">
            <a:avLst>
              <a:gd name="adj" fmla="val 8000"/>
            </a:avLst>
          </a:prstGeom>
          <a:solidFill>
            <a:srgbClr val="FFFFFF">
              <a:alpha val="100000"/>
            </a:srgbClr>
          </a:solidFill>
          <a:ln w="12700" cap="flat" cmpd="sng">
            <a:solidFill>
              <a:srgbClr val="EBF0FA">
                <a:alpha val="100000"/>
              </a:srgbClr>
            </a:solidFill>
            <a:prstDash val="solid"/>
            <a:round/>
          </a:ln>
          <a:effectLst>
            <a:outerShdw blurRad="190500" dist="63500" dir="5400000" algn="tl" rotWithShape="0">
              <a:srgbClr val="0052CC">
                <a:alpha val="10000"/>
              </a:srgbClr>
            </a:outerShdw>
          </a:effectLst>
        </p:spPr>
        <p:txBody>
          <a:bodyPr vert="horz" wrap="square" lIns="63500" tIns="63500" rIns="63500" bIns="63500" rtlCol="0" anchor="ctr"/>
          <a:lstStyle/>
          <a:p>
            <a:pPr algn="ctr">
              <a:defRPr/>
            </a:pPr>
          </a:p>
        </p:txBody>
      </p:sp>
      <p:sp>
        <p:nvSpPr>
          <p:cNvPr id="32" name="AutoShape 32"/>
          <p:cNvSpPr/>
          <p:nvPr/>
        </p:nvSpPr>
        <p:spPr>
          <a:xfrm>
            <a:off x="9842500" y="2032000"/>
            <a:ext cx="1016000" cy="1016000"/>
          </a:xfrm>
          <a:prstGeom prst="ellipse">
            <a:avLst/>
          </a:prstGeom>
          <a:solidFill>
            <a:srgbClr val="E6F0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33" name="Picture 33"/>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096500" y="2286000"/>
            <a:ext cx="508000" cy="508000"/>
          </a:xfrm>
          <a:prstGeom prst="rect">
            <a:avLst/>
          </a:prstGeom>
        </p:spPr>
      </p:pic>
      <p:sp>
        <p:nvSpPr>
          <p:cNvPr id="34" name="AutoShape 34"/>
          <p:cNvSpPr/>
          <p:nvPr/>
        </p:nvSpPr>
        <p:spPr>
          <a:xfrm>
            <a:off x="9398000" y="3175000"/>
            <a:ext cx="1905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8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05</a:t>
            </a:r>
            <a:endParaRPr lang="en-US" sz="1100"/>
          </a:p>
        </p:txBody>
      </p:sp>
      <p:sp>
        <p:nvSpPr>
          <p:cNvPr id="35" name="AutoShape 35"/>
          <p:cNvSpPr/>
          <p:nvPr/>
        </p:nvSpPr>
        <p:spPr>
          <a:xfrm>
            <a:off x="9398000" y="3683000"/>
            <a:ext cx="1905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结果预测</a:t>
            </a:r>
            <a:endParaRPr lang="en-US" sz="1100"/>
          </a:p>
        </p:txBody>
      </p:sp>
      <p:sp>
        <p:nvSpPr>
          <p:cNvPr id="36" name="AutoShape 36"/>
          <p:cNvSpPr/>
          <p:nvPr/>
        </p:nvSpPr>
        <p:spPr>
          <a:xfrm>
            <a:off x="9715500" y="4254500"/>
            <a:ext cx="1270000" cy="25400"/>
          </a:xfrm>
          <a:prstGeom prst="roundRect">
            <a:avLst>
              <a:gd name="adj" fmla="val 0"/>
            </a:avLst>
          </a:prstGeom>
          <a:solidFill>
            <a:srgbClr val="E5E7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37" name="AutoShape 37"/>
          <p:cNvSpPr/>
          <p:nvPr/>
        </p:nvSpPr>
        <p:spPr>
          <a:xfrm>
            <a:off x="9588500" y="4508500"/>
            <a:ext cx="1524000" cy="1016000"/>
          </a:xfrm>
          <a:prstGeom prst="rect">
            <a:avLst/>
          </a:prstGeom>
          <a:noFill/>
          <a:ln w="12700" cap="flat" cmpd="sng">
            <a:noFill/>
            <a:prstDash val="solid"/>
            <a:round/>
          </a:ln>
        </p:spPr>
        <p:txBody>
          <a:bodyPr vert="horz" wrap="square" lIns="0" tIns="0" rIns="0" bIns="0" rtlCol="0" anchor="ctr" anchorCtr="0"/>
          <a:lstStyle/>
          <a:p>
            <a:pPr indent="0" algn="ctr">
              <a:lnSpc>
                <a:spcPct val="117000"/>
              </a:lnSpc>
              <a:defRPr/>
            </a:pPr>
            <a:r>
              <a:rPr lang="en-US" sz="1200" b="0" i="0" u="none" strike="noStrike">
                <a:solidFill>
                  <a:srgbClr val="616161"/>
                </a:solidFill>
                <a:latin typeface="Noto Sans SC" panose="020B0200000000000000" charset="-122"/>
                <a:ea typeface="Noto Sans SC" panose="020B0200000000000000" charset="-122"/>
                <a:cs typeface="Noto Sans SC" panose="020B0200000000000000" charset="-122"/>
                <a:sym typeface="Noto Sans SC" panose="020B0200000000000000" charset="-122"/>
              </a:rPr>
              <a:t>输入全新未知流量</a:t>
            </a:r>
            <a:br>
              <a:rPr lang="en-US" sz="1200" b="0" i="0" u="none" strike="noStrike">
                <a:solidFill>
                  <a:srgbClr val="61616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616161"/>
                </a:solidFill>
                <a:latin typeface="Noto Sans SC" panose="020B0200000000000000" charset="-122"/>
                <a:ea typeface="Noto Sans SC" panose="020B0200000000000000" charset="-122"/>
                <a:cs typeface="Noto Sans SC" panose="020B0200000000000000" charset="-122"/>
                <a:sym typeface="Noto Sans SC" panose="020B0200000000000000" charset="-122"/>
              </a:rPr>
              <a:t>调用训练好的模型</a:t>
            </a:r>
            <a:br>
              <a:rPr lang="en-US" sz="1200" b="0" i="0" u="none" strike="noStrike">
                <a:solidFill>
                  <a:srgbClr val="61616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616161"/>
                </a:solidFill>
                <a:latin typeface="Noto Sans SC" panose="020B0200000000000000" charset="-122"/>
                <a:ea typeface="Noto Sans SC" panose="020B0200000000000000" charset="-122"/>
                <a:cs typeface="Noto Sans SC" panose="020B0200000000000000" charset="-122"/>
                <a:sym typeface="Noto Sans SC" panose="020B0200000000000000" charset="-122"/>
              </a:rPr>
              <a:t>输出最终分类结果</a:t>
            </a:r>
            <a:endParaRPr lang="en-US" sz="11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核心代码：用Python构建AI检测器</a:t>
            </a:r>
            <a:endParaRPr lang="en-US" sz="1100"/>
          </a:p>
        </p:txBody>
      </p:sp>
      <p:sp>
        <p:nvSpPr>
          <p:cNvPr id="3" name="AutoShape 3"/>
          <p:cNvSpPr/>
          <p:nvPr/>
        </p:nvSpPr>
        <p:spPr>
          <a:xfrm>
            <a:off x="762000" y="1524000"/>
            <a:ext cx="10668000" cy="4572000"/>
          </a:xfrm>
          <a:prstGeom prst="roundRect">
            <a:avLst>
              <a:gd name="adj" fmla="val 3333"/>
            </a:avLst>
          </a:prstGeom>
          <a:solidFill>
            <a:srgbClr val="FFFFFF">
              <a:alpha val="100000"/>
            </a:srgbClr>
          </a:solidFill>
          <a:ln w="25400" cap="flat" cmpd="sng">
            <a:noFill/>
            <a:prstDash val="solid"/>
            <a:round/>
          </a:ln>
          <a:effectLst>
            <a:outerShdw blurRad="2540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4" name="AutoShape 4"/>
          <p:cNvSpPr/>
          <p:nvPr/>
        </p:nvSpPr>
        <p:spPr>
          <a:xfrm>
            <a:off x="1016000" y="1778000"/>
            <a:ext cx="10160000" cy="609600"/>
          </a:xfrm>
          <a:prstGeom prst="roundRect">
            <a:avLst>
              <a:gd name="adj" fmla="val 16666"/>
            </a:avLst>
          </a:prstGeom>
          <a:solidFill>
            <a:srgbClr val="0052CC">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270000" y="1981200"/>
            <a:ext cx="177800" cy="177800"/>
          </a:xfrm>
          <a:prstGeom prst="ellipse">
            <a:avLst/>
          </a:prstGeom>
          <a:solidFill>
            <a:srgbClr val="EF4444">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549400" y="1981200"/>
            <a:ext cx="177800" cy="177800"/>
          </a:xfrm>
          <a:prstGeom prst="ellipse">
            <a:avLst/>
          </a:prstGeom>
          <a:solidFill>
            <a:srgbClr val="F59E0B">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828800" y="1981200"/>
            <a:ext cx="177800" cy="177800"/>
          </a:xfrm>
          <a:prstGeom prst="ellipse">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2286000" y="1778000"/>
            <a:ext cx="7620000" cy="609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main.py — Python Environment</a:t>
            </a:r>
            <a:endParaRPr lang="en-US" sz="1100"/>
          </a:p>
        </p:txBody>
      </p:sp>
      <p:sp>
        <p:nvSpPr>
          <p:cNvPr id="9" name="AutoShape 9"/>
          <p:cNvSpPr/>
          <p:nvPr/>
        </p:nvSpPr>
        <p:spPr>
          <a:xfrm>
            <a:off x="1016000" y="2540000"/>
            <a:ext cx="10160000" cy="3175000"/>
          </a:xfrm>
          <a:prstGeom prst="roundRect">
            <a:avLst>
              <a:gd name="adj" fmla="val 3200"/>
            </a:avLst>
          </a:prstGeom>
          <a:solidFill>
            <a:srgbClr val="1E2127">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1270000" y="2730500"/>
            <a:ext cx="9652000" cy="2794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100" b="0" i="0" u="none" strike="noStrike">
                <a:solidFill>
                  <a:srgbClr val="9CA3AF"/>
                </a:solidFill>
                <a:latin typeface="Source Code Pro"/>
                <a:ea typeface="Source Code Pro"/>
                <a:cs typeface="Source Code Pro"/>
                <a:sym typeface="Source Code Pro"/>
              </a:rPr>
              <a:t># 1. 导入核心机器学习与数据处理库</a:t>
            </a:r>
            <a:endParaRPr lang="en-US" sz="1100"/>
          </a:p>
          <a:p>
            <a:pPr indent="0" algn="l">
              <a:lnSpc>
                <a:spcPct val="117000"/>
              </a:lnSpc>
            </a:pPr>
            <a:r>
              <a:rPr lang="en-US" sz="1100" b="0" i="0" u="none" strike="noStrike">
                <a:solidFill>
                  <a:srgbClr val="C678DD"/>
                </a:solidFill>
                <a:latin typeface="Source Code Pro"/>
                <a:ea typeface="Source Code Pro"/>
                <a:cs typeface="Source Code Pro"/>
                <a:sym typeface="Source Code Pro"/>
              </a:rPr>
              <a:t>import</a:t>
            </a:r>
            <a:r>
              <a:rPr lang="en-US" sz="1100" b="0" i="0" u="none" strike="noStrike">
                <a:solidFill>
                  <a:srgbClr val="61AFEF"/>
                </a:solidFill>
                <a:latin typeface="Source Code Pro"/>
                <a:ea typeface="Source Code Pro"/>
                <a:cs typeface="Source Code Pro"/>
                <a:sym typeface="Source Code Pro"/>
              </a:rPr>
              <a:t>pandas</a:t>
            </a:r>
            <a:r>
              <a:rPr lang="en-US" sz="1100" b="0" i="0" u="none" strike="noStrike">
                <a:solidFill>
                  <a:srgbClr val="ABB2BF"/>
                </a:solidFill>
                <a:latin typeface="Source Code Pro"/>
                <a:ea typeface="Source Code Pro"/>
                <a:cs typeface="Source Code Pro"/>
                <a:sym typeface="Source Code Pro"/>
              </a:rPr>
              <a:t>as pd</a:t>
            </a:r>
            <a:r>
              <a:rPr lang="en-US" sz="1100" b="0" i="0" u="none" strike="noStrike">
                <a:solidFill>
                  <a:srgbClr val="C678DD"/>
                </a:solidFill>
                <a:latin typeface="Source Code Pro"/>
                <a:ea typeface="Source Code Pro"/>
                <a:cs typeface="Source Code Pro"/>
                <a:sym typeface="Source Code Pro"/>
              </a:rPr>
              <a:t>from</a:t>
            </a:r>
            <a:r>
              <a:rPr lang="en-US" sz="1100" b="0" i="0" u="none" strike="noStrike">
                <a:solidFill>
                  <a:srgbClr val="61AFEF"/>
                </a:solidFill>
                <a:latin typeface="Source Code Pro"/>
                <a:ea typeface="Source Code Pro"/>
                <a:cs typeface="Source Code Pro"/>
                <a:sym typeface="Source Code Pro"/>
              </a:rPr>
              <a:t>sklearn.ensemble</a:t>
            </a:r>
            <a:r>
              <a:rPr lang="en-US" sz="1100" b="0" i="0" u="none" strike="noStrike">
                <a:solidFill>
                  <a:srgbClr val="C678DD"/>
                </a:solidFill>
                <a:latin typeface="Source Code Pro"/>
                <a:ea typeface="Source Code Pro"/>
                <a:cs typeface="Source Code Pro"/>
                <a:sym typeface="Source Code Pro"/>
              </a:rPr>
              <a:t>import</a:t>
            </a:r>
            <a:r>
              <a:rPr lang="en-US" sz="1100" b="0" i="0" u="none" strike="noStrike">
                <a:solidFill>
                  <a:srgbClr val="E5C07B"/>
                </a:solidFill>
                <a:latin typeface="Source Code Pro"/>
                <a:ea typeface="Source Code Pro"/>
                <a:cs typeface="Source Code Pro"/>
                <a:sym typeface="Source Code Pro"/>
              </a:rPr>
              <a:t>RandomForestClassifier</a:t>
            </a:r>
            <a:endParaRPr lang="en-US" sz="1100" b="0" i="0" u="none" strike="noStrike">
              <a:solidFill>
                <a:srgbClr val="E5C07B"/>
              </a:solidFill>
              <a:latin typeface="Source Code Pro"/>
              <a:ea typeface="Source Code Pro"/>
              <a:cs typeface="Source Code Pro"/>
              <a:sym typeface="Source Code Pro"/>
            </a:endParaRPr>
          </a:p>
          <a:p>
            <a:pPr indent="0" algn="l">
              <a:lnSpc>
                <a:spcPct val="117000"/>
              </a:lnSpc>
            </a:pPr>
            <a:r>
              <a:rPr lang="en-US" sz="1100" b="0" i="0" u="none" strike="noStrike">
                <a:solidFill>
                  <a:srgbClr val="9CA3AF"/>
                </a:solidFill>
                <a:latin typeface="Source Code Pro"/>
                <a:ea typeface="Source Code Pro"/>
                <a:cs typeface="Source Code Pro"/>
                <a:sym typeface="Source Code Pro"/>
              </a:rPr>
              <a:t># 2. 加载 AWID3 数据集并分离特征(X)与标签(y)</a:t>
            </a:r>
            <a:endParaRPr lang="en-US" sz="1100" b="0" i="0" u="none" strike="noStrike">
              <a:solidFill>
                <a:srgbClr val="9CA3AF"/>
              </a:solidFill>
              <a:latin typeface="Source Code Pro"/>
              <a:ea typeface="Source Code Pro"/>
              <a:cs typeface="Source Code Pro"/>
              <a:sym typeface="Source Code Pro"/>
            </a:endParaRPr>
          </a:p>
          <a:p>
            <a:pPr indent="0" algn="l">
              <a:lnSpc>
                <a:spcPct val="117000"/>
              </a:lnSpc>
            </a:pPr>
            <a:r>
              <a:rPr lang="en-US" sz="1100" b="0" i="0" u="none" strike="noStrike">
                <a:solidFill>
                  <a:srgbClr val="ABB2BF"/>
                </a:solidFill>
                <a:latin typeface="Source Code Pro"/>
                <a:ea typeface="Source Code Pro"/>
                <a:cs typeface="Source Code Pro"/>
                <a:sym typeface="Source Code Pro"/>
              </a:rPr>
              <a:t>data = pd.read_csv(</a:t>
            </a:r>
            <a:r>
              <a:rPr lang="en-US" sz="1100" b="0" i="0" u="none" strike="noStrike">
                <a:solidFill>
                  <a:srgbClr val="98C379"/>
                </a:solidFill>
                <a:latin typeface="Source Code Pro"/>
                <a:ea typeface="Source Code Pro"/>
                <a:cs typeface="Source Code Pro"/>
                <a:sym typeface="Source Code Pro"/>
              </a:rPr>
              <a:t>'AWID3/training_data.csv'</a:t>
            </a:r>
            <a:r>
              <a:rPr lang="en-US" sz="1100" b="0" i="0" u="none" strike="noStrike">
                <a:solidFill>
                  <a:srgbClr val="ABB2BF"/>
                </a:solidFill>
                <a:latin typeface="Source Code Pro"/>
                <a:ea typeface="Source Code Pro"/>
                <a:cs typeface="Source Code Pro"/>
                <a:sym typeface="Source Code Pro"/>
              </a:rPr>
              <a:t>) X, y = data.drop(</a:t>
            </a:r>
            <a:r>
              <a:rPr lang="en-US" sz="1100" b="0" i="0" u="none" strike="noStrike">
                <a:solidFill>
                  <a:srgbClr val="98C379"/>
                </a:solidFill>
                <a:latin typeface="Source Code Pro"/>
                <a:ea typeface="Source Code Pro"/>
                <a:cs typeface="Source Code Pro"/>
                <a:sym typeface="Source Code Pro"/>
              </a:rPr>
              <a:t>'class'</a:t>
            </a:r>
            <a:r>
              <a:rPr lang="en-US" sz="1100" b="0" i="0" u="none" strike="noStrike">
                <a:solidFill>
                  <a:srgbClr val="ABB2BF"/>
                </a:solidFill>
                <a:latin typeface="Source Code Pro"/>
                <a:ea typeface="Source Code Pro"/>
                <a:cs typeface="Source Code Pro"/>
                <a:sym typeface="Source Code Pro"/>
              </a:rPr>
              <a:t>, axis=1), data[</a:t>
            </a:r>
            <a:r>
              <a:rPr lang="en-US" sz="1100" b="0" i="0" u="none" strike="noStrike">
                <a:solidFill>
                  <a:srgbClr val="98C379"/>
                </a:solidFill>
                <a:latin typeface="Source Code Pro"/>
                <a:ea typeface="Source Code Pro"/>
                <a:cs typeface="Source Code Pro"/>
                <a:sym typeface="Source Code Pro"/>
              </a:rPr>
              <a:t>'class'</a:t>
            </a:r>
            <a:r>
              <a:rPr lang="en-US" sz="1100" b="0" i="0" u="none" strike="noStrike">
                <a:solidFill>
                  <a:srgbClr val="ABB2BF"/>
                </a:solidFill>
                <a:latin typeface="Source Code Pro"/>
                <a:ea typeface="Source Code Pro"/>
                <a:cs typeface="Source Code Pro"/>
                <a:sym typeface="Source Code Pro"/>
              </a:rPr>
              <a:t>]</a:t>
            </a:r>
            <a:endParaRPr lang="en-US" sz="1100" b="0" i="0" u="none" strike="noStrike">
              <a:solidFill>
                <a:srgbClr val="ABB2BF"/>
              </a:solidFill>
              <a:latin typeface="Source Code Pro"/>
              <a:ea typeface="Source Code Pro"/>
              <a:cs typeface="Source Code Pro"/>
              <a:sym typeface="Source Code Pro"/>
            </a:endParaRPr>
          </a:p>
          <a:p>
            <a:pPr indent="0" algn="l">
              <a:lnSpc>
                <a:spcPct val="117000"/>
              </a:lnSpc>
            </a:pPr>
            <a:r>
              <a:rPr lang="en-US" sz="1100" b="0" i="0" u="none" strike="noStrike">
                <a:solidFill>
                  <a:srgbClr val="9CA3AF"/>
                </a:solidFill>
                <a:latin typeface="Source Code Pro"/>
                <a:ea typeface="Source Code Pro"/>
                <a:cs typeface="Source Code Pro"/>
                <a:sym typeface="Source Code Pro"/>
              </a:rPr>
              <a:t># 3. 划分训练集(80%)与测试集(20%)，固定随机种子保证可复现</a:t>
            </a:r>
            <a:endParaRPr lang="en-US" sz="1100" b="0" i="0" u="none" strike="noStrike">
              <a:solidFill>
                <a:srgbClr val="9CA3AF"/>
              </a:solidFill>
              <a:latin typeface="Source Code Pro"/>
              <a:ea typeface="Source Code Pro"/>
              <a:cs typeface="Source Code Pro"/>
              <a:sym typeface="Source Code Pro"/>
            </a:endParaRPr>
          </a:p>
          <a:p>
            <a:pPr indent="0" algn="l">
              <a:lnSpc>
                <a:spcPct val="117000"/>
              </a:lnSpc>
            </a:pPr>
            <a:r>
              <a:rPr lang="en-US" sz="1100" b="0" i="0" u="none" strike="noStrike">
                <a:solidFill>
                  <a:srgbClr val="ABB2BF"/>
                </a:solidFill>
                <a:latin typeface="Source Code Pro"/>
                <a:ea typeface="Source Code Pro"/>
                <a:cs typeface="Source Code Pro"/>
                <a:sym typeface="Source Code Pro"/>
              </a:rPr>
              <a:t>X_train, X_test, y_train, y_test = train_test_split(X, y, test_size=0.2, random_state=42)</a:t>
            </a:r>
            <a:endParaRPr lang="en-US" sz="1100" b="0" i="0" u="none" strike="noStrike">
              <a:solidFill>
                <a:srgbClr val="ABB2BF"/>
              </a:solidFill>
              <a:latin typeface="Source Code Pro"/>
              <a:ea typeface="Source Code Pro"/>
              <a:cs typeface="Source Code Pro"/>
              <a:sym typeface="Source Code Pro"/>
            </a:endParaRPr>
          </a:p>
          <a:p>
            <a:pPr indent="0" algn="l">
              <a:lnSpc>
                <a:spcPct val="117000"/>
              </a:lnSpc>
            </a:pPr>
            <a:r>
              <a:rPr lang="en-US" sz="1100" b="0" i="0" u="none" strike="noStrike">
                <a:solidFill>
                  <a:srgbClr val="9CA3AF"/>
                </a:solidFill>
                <a:latin typeface="Source Code Pro"/>
                <a:ea typeface="Source Code Pro"/>
                <a:cs typeface="Source Code Pro"/>
                <a:sym typeface="Source Code Pro"/>
              </a:rPr>
              <a:t># 4. 初始化模型并训练 | 100棵决策树集成</a:t>
            </a:r>
            <a:endParaRPr lang="en-US" sz="1100" b="0" i="0" u="none" strike="noStrike">
              <a:solidFill>
                <a:srgbClr val="9CA3AF"/>
              </a:solidFill>
              <a:latin typeface="Source Code Pro"/>
              <a:ea typeface="Source Code Pro"/>
              <a:cs typeface="Source Code Pro"/>
              <a:sym typeface="Source Code Pro"/>
            </a:endParaRPr>
          </a:p>
          <a:p>
            <a:pPr indent="0" algn="l">
              <a:lnSpc>
                <a:spcPct val="117000"/>
              </a:lnSpc>
            </a:pPr>
            <a:r>
              <a:rPr lang="en-US" sz="1100" b="0" i="0" u="none" strike="noStrike">
                <a:solidFill>
                  <a:srgbClr val="ABB2BF"/>
                </a:solidFill>
                <a:latin typeface="Source Code Pro"/>
                <a:ea typeface="Source Code Pro"/>
                <a:cs typeface="Source Code Pro"/>
                <a:sym typeface="Source Code Pro"/>
              </a:rPr>
              <a:t>model = RandomForestClassifier(n_estimators=100) model.fit(X_train, y_train)</a:t>
            </a:r>
            <a:endParaRPr lang="en-US" sz="1100" b="0" i="0" u="none" strike="noStrike">
              <a:solidFill>
                <a:srgbClr val="ABB2BF"/>
              </a:solidFill>
              <a:latin typeface="Source Code Pro"/>
              <a:ea typeface="Source Code Pro"/>
              <a:cs typeface="Source Code Pro"/>
              <a:sym typeface="Source Code Pro"/>
            </a:endParaRPr>
          </a:p>
          <a:p>
            <a:pPr indent="0" algn="l">
              <a:lnSpc>
                <a:spcPct val="117000"/>
              </a:lnSpc>
            </a:pPr>
            <a:r>
              <a:rPr lang="en-US" sz="1100" b="0" i="0" u="none" strike="noStrike">
                <a:solidFill>
                  <a:srgbClr val="9CA3AF"/>
                </a:solidFill>
                <a:latin typeface="Source Code Pro"/>
                <a:ea typeface="Source Code Pro"/>
                <a:cs typeface="Source Code Pro"/>
                <a:sym typeface="Source Code Pro"/>
              </a:rPr>
              <a:t># 5. 模型推理与性能评估 (输出精确率、召回率等指标)</a:t>
            </a:r>
            <a:endParaRPr lang="en-US" sz="1100" b="0" i="0" u="none" strike="noStrike">
              <a:solidFill>
                <a:srgbClr val="9CA3AF"/>
              </a:solidFill>
              <a:latin typeface="Source Code Pro"/>
              <a:ea typeface="Source Code Pro"/>
              <a:cs typeface="Source Code Pro"/>
              <a:sym typeface="Source Code Pro"/>
            </a:endParaRPr>
          </a:p>
          <a:p>
            <a:pPr indent="0" algn="l">
              <a:lnSpc>
                <a:spcPct val="117000"/>
              </a:lnSpc>
            </a:pPr>
            <a:r>
              <a:rPr lang="en-US" sz="1100" b="0" i="0" u="none" strike="noStrike">
                <a:solidFill>
                  <a:srgbClr val="ABB2BF"/>
                </a:solidFill>
                <a:latin typeface="Source Code Pro"/>
                <a:ea typeface="Source Code Pro"/>
                <a:cs typeface="Source Code Pro"/>
                <a:sym typeface="Source Code Pro"/>
              </a:rPr>
              <a:t>print(classification_report(y_test, model.predict(X_test)))</a:t>
            </a:r>
            <a:endParaRPr lang="en-US" sz="1100" b="0" i="0" u="none" strike="noStrike">
              <a:solidFill>
                <a:srgbClr val="ABB2BF"/>
              </a:solidFill>
              <a:latin typeface="Source Code Pro"/>
              <a:ea typeface="Source Code Pro"/>
              <a:cs typeface="Source Code Pro"/>
              <a:sym typeface="Source Code Pro"/>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量化成果：模型性能评估指标</a:t>
            </a:r>
            <a:endParaRPr lang="en-US" sz="1100"/>
          </a:p>
        </p:txBody>
      </p:sp>
      <p:sp>
        <p:nvSpPr>
          <p:cNvPr id="3" name="AutoShape 3"/>
          <p:cNvSpPr/>
          <p:nvPr/>
        </p:nvSpPr>
        <p:spPr>
          <a:xfrm>
            <a:off x="762000" y="1524000"/>
            <a:ext cx="5080000" cy="1143000"/>
          </a:xfrm>
          <a:prstGeom prst="roundRect">
            <a:avLst>
              <a:gd name="adj" fmla="val 13333"/>
            </a:avLst>
          </a:prstGeom>
          <a:solidFill>
            <a:srgbClr val="F5F8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1524000"/>
            <a:ext cx="76200" cy="1143000"/>
          </a:xfrm>
          <a:prstGeom prst="roundRect">
            <a:avLst>
              <a:gd name="adj" fmla="val 0"/>
            </a:avLst>
          </a:prstGeom>
          <a:solidFill>
            <a:srgbClr val="0052CC">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79500" y="1778000"/>
            <a:ext cx="635000" cy="635000"/>
          </a:xfrm>
          <a:prstGeom prst="rect">
            <a:avLst/>
          </a:prstGeom>
        </p:spPr>
      </p:pic>
      <p:sp>
        <p:nvSpPr>
          <p:cNvPr id="6" name="AutoShape 6"/>
          <p:cNvSpPr/>
          <p:nvPr/>
        </p:nvSpPr>
        <p:spPr>
          <a:xfrm>
            <a:off x="1905000" y="1651000"/>
            <a:ext cx="368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准确率 (Accuracy)</a:t>
            </a:r>
            <a:endParaRPr lang="en-US" sz="1100"/>
          </a:p>
        </p:txBody>
      </p:sp>
      <p:sp>
        <p:nvSpPr>
          <p:cNvPr id="7" name="AutoShape 7"/>
          <p:cNvSpPr/>
          <p:nvPr/>
        </p:nvSpPr>
        <p:spPr>
          <a:xfrm>
            <a:off x="1905000" y="2095500"/>
            <a:ext cx="3683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模型对所有样本预测结果的正确性，即整体预测正确的样本占总样本的比例。</a:t>
            </a:r>
            <a:endParaRPr lang="en-US" sz="1100"/>
          </a:p>
        </p:txBody>
      </p:sp>
      <p:sp>
        <p:nvSpPr>
          <p:cNvPr id="8" name="AutoShape 8"/>
          <p:cNvSpPr/>
          <p:nvPr/>
        </p:nvSpPr>
        <p:spPr>
          <a:xfrm>
            <a:off x="762000" y="2794000"/>
            <a:ext cx="5080000" cy="1143000"/>
          </a:xfrm>
          <a:prstGeom prst="roundRect">
            <a:avLst>
              <a:gd name="adj" fmla="val 13333"/>
            </a:avLst>
          </a:prstGeom>
          <a:solidFill>
            <a:srgbClr val="F5F8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762000" y="2794000"/>
            <a:ext cx="76200" cy="1143000"/>
          </a:xfrm>
          <a:prstGeom prst="roundRect">
            <a:avLst>
              <a:gd name="adj" fmla="val 0"/>
            </a:avLst>
          </a:prstGeom>
          <a:solidFill>
            <a:srgbClr val="0052CC">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79500" y="3048000"/>
            <a:ext cx="635000" cy="635000"/>
          </a:xfrm>
          <a:prstGeom prst="rect">
            <a:avLst/>
          </a:prstGeom>
        </p:spPr>
      </p:pic>
      <p:sp>
        <p:nvSpPr>
          <p:cNvPr id="11" name="AutoShape 11"/>
          <p:cNvSpPr/>
          <p:nvPr/>
        </p:nvSpPr>
        <p:spPr>
          <a:xfrm>
            <a:off x="1905000" y="2921000"/>
            <a:ext cx="368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精确率 (Precision)</a:t>
            </a:r>
            <a:endParaRPr lang="en-US" sz="1100"/>
          </a:p>
        </p:txBody>
      </p:sp>
      <p:sp>
        <p:nvSpPr>
          <p:cNvPr id="12" name="AutoShape 12"/>
          <p:cNvSpPr/>
          <p:nvPr/>
        </p:nvSpPr>
        <p:spPr>
          <a:xfrm>
            <a:off x="1905000" y="3365500"/>
            <a:ext cx="3683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在所有被模型预测为“攻击”的样本中，真正属于攻击样本的比例，反映预测的精准度。</a:t>
            </a:r>
            <a:endParaRPr lang="en-US" sz="1100"/>
          </a:p>
        </p:txBody>
      </p:sp>
      <p:sp>
        <p:nvSpPr>
          <p:cNvPr id="13" name="AutoShape 13"/>
          <p:cNvSpPr/>
          <p:nvPr/>
        </p:nvSpPr>
        <p:spPr>
          <a:xfrm>
            <a:off x="762000" y="4064000"/>
            <a:ext cx="5080000" cy="1143000"/>
          </a:xfrm>
          <a:prstGeom prst="roundRect">
            <a:avLst>
              <a:gd name="adj" fmla="val 13333"/>
            </a:avLst>
          </a:prstGeom>
          <a:solidFill>
            <a:srgbClr val="F5F8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762000" y="4064000"/>
            <a:ext cx="76200" cy="1143000"/>
          </a:xfrm>
          <a:prstGeom prst="roundRect">
            <a:avLst>
              <a:gd name="adj" fmla="val 0"/>
            </a:avLst>
          </a:prstGeom>
          <a:solidFill>
            <a:srgbClr val="0052CC">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79500" y="4318000"/>
            <a:ext cx="635000" cy="635000"/>
          </a:xfrm>
          <a:prstGeom prst="rect">
            <a:avLst/>
          </a:prstGeom>
        </p:spPr>
      </p:pic>
      <p:sp>
        <p:nvSpPr>
          <p:cNvPr id="16" name="AutoShape 16"/>
          <p:cNvSpPr/>
          <p:nvPr/>
        </p:nvSpPr>
        <p:spPr>
          <a:xfrm>
            <a:off x="1905000" y="4191000"/>
            <a:ext cx="368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召回率 (Recall)</a:t>
            </a:r>
            <a:endParaRPr lang="en-US" sz="1100"/>
          </a:p>
        </p:txBody>
      </p:sp>
      <p:sp>
        <p:nvSpPr>
          <p:cNvPr id="17" name="AutoShape 17"/>
          <p:cNvSpPr/>
          <p:nvPr/>
        </p:nvSpPr>
        <p:spPr>
          <a:xfrm>
            <a:off x="1905000" y="4635500"/>
            <a:ext cx="3683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在数据集中所有真实的攻击样本中，被模型成功检测出来的比例，反映模型的查全能力。</a:t>
            </a:r>
            <a:endParaRPr lang="en-US" sz="1100"/>
          </a:p>
        </p:txBody>
      </p:sp>
      <p:sp>
        <p:nvSpPr>
          <p:cNvPr id="18" name="AutoShape 18"/>
          <p:cNvSpPr/>
          <p:nvPr/>
        </p:nvSpPr>
        <p:spPr>
          <a:xfrm>
            <a:off x="762000" y="5334000"/>
            <a:ext cx="5080000" cy="1143000"/>
          </a:xfrm>
          <a:prstGeom prst="roundRect">
            <a:avLst>
              <a:gd name="adj" fmla="val 13333"/>
            </a:avLst>
          </a:prstGeom>
          <a:solidFill>
            <a:srgbClr val="F5F8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762000" y="5334000"/>
            <a:ext cx="76200" cy="1143000"/>
          </a:xfrm>
          <a:prstGeom prst="roundRect">
            <a:avLst>
              <a:gd name="adj" fmla="val 0"/>
            </a:avLst>
          </a:prstGeom>
          <a:solidFill>
            <a:srgbClr val="0052CC">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79500" y="5588000"/>
            <a:ext cx="635000" cy="635000"/>
          </a:xfrm>
          <a:prstGeom prst="rect">
            <a:avLst/>
          </a:prstGeom>
        </p:spPr>
      </p:pic>
      <p:sp>
        <p:nvSpPr>
          <p:cNvPr id="21" name="AutoShape 21"/>
          <p:cNvSpPr/>
          <p:nvPr/>
        </p:nvSpPr>
        <p:spPr>
          <a:xfrm>
            <a:off x="1905000" y="5461000"/>
            <a:ext cx="368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F1-Score (F1分数)</a:t>
            </a:r>
            <a:endParaRPr lang="en-US" sz="1100"/>
          </a:p>
        </p:txBody>
      </p:sp>
      <p:sp>
        <p:nvSpPr>
          <p:cNvPr id="22" name="AutoShape 22"/>
          <p:cNvSpPr/>
          <p:nvPr/>
        </p:nvSpPr>
        <p:spPr>
          <a:xfrm>
            <a:off x="1905000" y="5905500"/>
            <a:ext cx="3683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精确率和召回率的调和平均值，综合反映模型在精准度和查全率上的整体表现。</a:t>
            </a:r>
            <a:endParaRPr lang="en-US" sz="1100"/>
          </a:p>
        </p:txBody>
      </p:sp>
      <p:sp>
        <p:nvSpPr>
          <p:cNvPr id="23" name="AutoShape 23"/>
          <p:cNvSpPr/>
          <p:nvPr/>
        </p:nvSpPr>
        <p:spPr>
          <a:xfrm>
            <a:off x="6096000" y="1524000"/>
            <a:ext cx="2667000" cy="1397000"/>
          </a:xfrm>
          <a:prstGeom prst="roundRect">
            <a:avLst>
              <a:gd name="adj" fmla="val 10909"/>
            </a:avLst>
          </a:prstGeom>
          <a:solidFill>
            <a:srgbClr val="F0F5FF">
              <a:alpha val="100000"/>
            </a:srgbClr>
          </a:solidFill>
          <a:ln w="12700" cap="flat" cmpd="sng">
            <a:solidFill>
              <a:srgbClr val="DCE6FA">
                <a:alpha val="100000"/>
              </a:srgbClr>
            </a:solidFill>
            <a:prstDash val="solid"/>
            <a:round/>
          </a:ln>
        </p:spPr>
        <p:txBody>
          <a:bodyPr vert="horz" wrap="square" lIns="63500" tIns="63500" rIns="63500" bIns="63500" rtlCol="0" anchor="ctr"/>
          <a:lstStyle/>
          <a:p>
            <a:pPr algn="ctr">
              <a:defRPr/>
            </a:pPr>
          </a:p>
        </p:txBody>
      </p:sp>
      <p:sp>
        <p:nvSpPr>
          <p:cNvPr id="24" name="AutoShape 24"/>
          <p:cNvSpPr/>
          <p:nvPr/>
        </p:nvSpPr>
        <p:spPr>
          <a:xfrm>
            <a:off x="6286500" y="1651000"/>
            <a:ext cx="2286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模型整体准确率</a:t>
            </a:r>
            <a:endParaRPr lang="en-US" sz="1100"/>
          </a:p>
        </p:txBody>
      </p:sp>
      <p:sp>
        <p:nvSpPr>
          <p:cNvPr id="25" name="AutoShape 25"/>
          <p:cNvSpPr/>
          <p:nvPr/>
        </p:nvSpPr>
        <p:spPr>
          <a:xfrm>
            <a:off x="6286500" y="2032000"/>
            <a:ext cx="228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96.2</a:t>
            </a:r>
            <a:r>
              <a:rPr lang="en-US" sz="20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a:p>
        </p:txBody>
      </p:sp>
      <p:sp>
        <p:nvSpPr>
          <p:cNvPr id="26" name="AutoShape 26"/>
          <p:cNvSpPr/>
          <p:nvPr/>
        </p:nvSpPr>
        <p:spPr>
          <a:xfrm>
            <a:off x="9017000" y="1524000"/>
            <a:ext cx="2667000" cy="1397000"/>
          </a:xfrm>
          <a:prstGeom prst="roundRect">
            <a:avLst>
              <a:gd name="adj" fmla="val 10909"/>
            </a:avLst>
          </a:prstGeom>
          <a:solidFill>
            <a:srgbClr val="F0F5FF">
              <a:alpha val="100000"/>
            </a:srgbClr>
          </a:solidFill>
          <a:ln w="12700" cap="flat" cmpd="sng">
            <a:solidFill>
              <a:srgbClr val="DCE6FA">
                <a:alpha val="100000"/>
              </a:srgbClr>
            </a:solidFill>
            <a:prstDash val="solid"/>
            <a:round/>
          </a:ln>
        </p:spPr>
        <p:txBody>
          <a:bodyPr vert="horz" wrap="square" lIns="63500" tIns="63500" rIns="63500" bIns="63500" rtlCol="0" anchor="ctr"/>
          <a:lstStyle/>
          <a:p>
            <a:pPr algn="ctr">
              <a:defRPr/>
            </a:pPr>
          </a:p>
        </p:txBody>
      </p:sp>
      <p:sp>
        <p:nvSpPr>
          <p:cNvPr id="27" name="AutoShape 27"/>
          <p:cNvSpPr/>
          <p:nvPr/>
        </p:nvSpPr>
        <p:spPr>
          <a:xfrm>
            <a:off x="9207500" y="1651000"/>
            <a:ext cx="2286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精确率 (攻击类)</a:t>
            </a:r>
            <a:endParaRPr lang="en-US" sz="1100"/>
          </a:p>
        </p:txBody>
      </p:sp>
      <p:sp>
        <p:nvSpPr>
          <p:cNvPr id="28" name="AutoShape 28"/>
          <p:cNvSpPr/>
          <p:nvPr/>
        </p:nvSpPr>
        <p:spPr>
          <a:xfrm>
            <a:off x="9207500" y="2032000"/>
            <a:ext cx="228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95.5</a:t>
            </a:r>
            <a:r>
              <a:rPr lang="en-US" sz="20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a:p>
        </p:txBody>
      </p:sp>
      <p:sp>
        <p:nvSpPr>
          <p:cNvPr id="29" name="AutoShape 29"/>
          <p:cNvSpPr/>
          <p:nvPr/>
        </p:nvSpPr>
        <p:spPr>
          <a:xfrm>
            <a:off x="6096000" y="3175000"/>
            <a:ext cx="2667000" cy="1397000"/>
          </a:xfrm>
          <a:prstGeom prst="roundRect">
            <a:avLst>
              <a:gd name="adj" fmla="val 10909"/>
            </a:avLst>
          </a:prstGeom>
          <a:solidFill>
            <a:srgbClr val="F0F5FF">
              <a:alpha val="100000"/>
            </a:srgbClr>
          </a:solidFill>
          <a:ln w="12700" cap="flat" cmpd="sng">
            <a:solidFill>
              <a:srgbClr val="DCE6FA">
                <a:alpha val="100000"/>
              </a:srgbClr>
            </a:solidFill>
            <a:prstDash val="solid"/>
            <a:round/>
          </a:ln>
        </p:spPr>
        <p:txBody>
          <a:bodyPr vert="horz" wrap="square" lIns="63500" tIns="63500" rIns="63500" bIns="63500" rtlCol="0" anchor="ctr"/>
          <a:lstStyle/>
          <a:p>
            <a:pPr algn="ctr">
              <a:defRPr/>
            </a:pPr>
          </a:p>
        </p:txBody>
      </p:sp>
      <p:sp>
        <p:nvSpPr>
          <p:cNvPr id="30" name="AutoShape 30"/>
          <p:cNvSpPr/>
          <p:nvPr/>
        </p:nvSpPr>
        <p:spPr>
          <a:xfrm>
            <a:off x="6286500" y="3302000"/>
            <a:ext cx="2286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召回率 (攻击类)</a:t>
            </a:r>
            <a:endParaRPr lang="en-US" sz="1100"/>
          </a:p>
        </p:txBody>
      </p:sp>
      <p:sp>
        <p:nvSpPr>
          <p:cNvPr id="31" name="AutoShape 31"/>
          <p:cNvSpPr/>
          <p:nvPr/>
        </p:nvSpPr>
        <p:spPr>
          <a:xfrm>
            <a:off x="6286500" y="3683000"/>
            <a:ext cx="228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95.8</a:t>
            </a:r>
            <a:r>
              <a:rPr lang="en-US" sz="20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a:p>
        </p:txBody>
      </p:sp>
      <p:sp>
        <p:nvSpPr>
          <p:cNvPr id="32" name="AutoShape 32"/>
          <p:cNvSpPr/>
          <p:nvPr/>
        </p:nvSpPr>
        <p:spPr>
          <a:xfrm>
            <a:off x="9017000" y="3175000"/>
            <a:ext cx="2667000" cy="1397000"/>
          </a:xfrm>
          <a:prstGeom prst="roundRect">
            <a:avLst>
              <a:gd name="adj" fmla="val 10909"/>
            </a:avLst>
          </a:prstGeom>
          <a:solidFill>
            <a:srgbClr val="F0F5FF">
              <a:alpha val="100000"/>
            </a:srgbClr>
          </a:solidFill>
          <a:ln w="12700" cap="flat" cmpd="sng">
            <a:solidFill>
              <a:srgbClr val="DCE6FA">
                <a:alpha val="100000"/>
              </a:srgbClr>
            </a:solidFill>
            <a:prstDash val="solid"/>
            <a:round/>
          </a:ln>
        </p:spPr>
        <p:txBody>
          <a:bodyPr vert="horz" wrap="square" lIns="63500" tIns="63500" rIns="63500" bIns="63500" rtlCol="0" anchor="ctr"/>
          <a:lstStyle/>
          <a:p>
            <a:pPr algn="ctr">
              <a:defRPr/>
            </a:pPr>
          </a:p>
        </p:txBody>
      </p:sp>
      <p:sp>
        <p:nvSpPr>
          <p:cNvPr id="33" name="AutoShape 33"/>
          <p:cNvSpPr/>
          <p:nvPr/>
        </p:nvSpPr>
        <p:spPr>
          <a:xfrm>
            <a:off x="9207500" y="3302000"/>
            <a:ext cx="2286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F1-Score (攻击类)</a:t>
            </a:r>
            <a:endParaRPr lang="en-US" sz="1100"/>
          </a:p>
        </p:txBody>
      </p:sp>
      <p:sp>
        <p:nvSpPr>
          <p:cNvPr id="34" name="AutoShape 34"/>
          <p:cNvSpPr/>
          <p:nvPr/>
        </p:nvSpPr>
        <p:spPr>
          <a:xfrm>
            <a:off x="9207500" y="3683000"/>
            <a:ext cx="228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96.1</a:t>
            </a:r>
            <a:r>
              <a:rPr lang="en-US" sz="20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模型的“思考过程”：哪些特征最关键？</a:t>
            </a:r>
            <a:endParaRPr lang="en-US" sz="1100"/>
          </a:p>
        </p:txBody>
      </p:sp>
      <p:sp>
        <p:nvSpPr>
          <p:cNvPr id="3" name="AutoShape 3"/>
          <p:cNvSpPr/>
          <p:nvPr/>
        </p:nvSpPr>
        <p:spPr>
          <a:xfrm>
            <a:off x="762000" y="1524000"/>
            <a:ext cx="3810000" cy="4572000"/>
          </a:xfrm>
          <a:prstGeom prst="roundRect">
            <a:avLst>
              <a:gd name="adj" fmla="val 4000"/>
            </a:avLst>
          </a:prstGeom>
          <a:solidFill>
            <a:srgbClr val="FFFFFF">
              <a:alpha val="100000"/>
            </a:srgbClr>
          </a:solidFill>
          <a:ln w="25400" cap="flat" cmpd="sng">
            <a:noFill/>
            <a:prstDash val="solid"/>
            <a:round/>
          </a:ln>
          <a:effectLst>
            <a:outerShdw blurRad="2032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4" name="AutoShape 4"/>
          <p:cNvSpPr/>
          <p:nvPr/>
        </p:nvSpPr>
        <p:spPr>
          <a:xfrm>
            <a:off x="1016000" y="1905000"/>
            <a:ext cx="330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分析目的</a:t>
            </a:r>
            <a:endParaRPr lang="en-US" sz="1100"/>
          </a:p>
        </p:txBody>
      </p:sp>
      <p:sp>
        <p:nvSpPr>
          <p:cNvPr id="5" name="AutoShape 5"/>
          <p:cNvSpPr/>
          <p:nvPr/>
        </p:nvSpPr>
        <p:spPr>
          <a:xfrm>
            <a:off x="1016000" y="2476500"/>
            <a:ext cx="635000" cy="50800"/>
          </a:xfrm>
          <a:prstGeom prst="roundRect">
            <a:avLst>
              <a:gd name="adj" fmla="val 0"/>
            </a:avLst>
          </a:prstGeom>
          <a:solidFill>
            <a:srgbClr val="0052CC">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2921000"/>
            <a:ext cx="3302000" cy="1397000"/>
          </a:xfrm>
          <a:prstGeom prst="rect">
            <a:avLst/>
          </a:prstGeom>
          <a:noFill/>
          <a:ln w="12700" cap="flat" cmpd="sng">
            <a:noFill/>
            <a:prstDash val="solid"/>
            <a:round/>
          </a:ln>
        </p:spPr>
        <p:txBody>
          <a:bodyPr vert="horz" wrap="square" lIns="0" tIns="0" rIns="0" bIns="0" rtlCol="0" anchor="t" anchorCtr="0"/>
          <a:lstStyle/>
          <a:p>
            <a:pPr indent="0" algn="l">
              <a:lnSpc>
                <a:spcPct val="133000"/>
              </a:lnSpc>
              <a:defRPr/>
            </a:pPr>
            <a:r>
              <a:rPr lang="en-US" sz="13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深入理解模型的决策逻辑，通过量化特征对最终预测结果的贡献度，来验证模型是否真正学习到了与攻击行为强相关的、有实际物理意义的关键特征。</a:t>
            </a:r>
            <a:endParaRPr lang="en-US" sz="1100"/>
          </a:p>
        </p:txBody>
      </p:sp>
      <p:sp>
        <p:nvSpPr>
          <p:cNvPr id="7" name="AutoShape 7"/>
          <p:cNvSpPr/>
          <p:nvPr/>
        </p:nvSpPr>
        <p:spPr>
          <a:xfrm>
            <a:off x="1016000" y="4699000"/>
            <a:ext cx="3302000" cy="1016000"/>
          </a:xfrm>
          <a:prstGeom prst="roundRect">
            <a:avLst>
              <a:gd name="adj" fmla="val 10000"/>
            </a:avLst>
          </a:prstGeom>
          <a:solidFill>
            <a:srgbClr val="0052CC">
              <a:alpha val="5000"/>
            </a:srgbClr>
          </a:solidFill>
          <a:ln w="25400" cap="flat" cmpd="sng">
            <a:no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06500" y="4902200"/>
            <a:ext cx="609600" cy="609600"/>
          </a:xfrm>
          <a:prstGeom prst="rect">
            <a:avLst/>
          </a:prstGeom>
        </p:spPr>
      </p:pic>
      <p:sp>
        <p:nvSpPr>
          <p:cNvPr id="9" name="AutoShape 9"/>
          <p:cNvSpPr/>
          <p:nvPr/>
        </p:nvSpPr>
        <p:spPr>
          <a:xfrm>
            <a:off x="1968500" y="4953000"/>
            <a:ext cx="2159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核心目标：</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验证模型的可解释性与有效性</a:t>
            </a:r>
            <a:endParaRPr lang="en-US" sz="1100"/>
          </a:p>
        </p:txBody>
      </p:sp>
      <p:sp>
        <p:nvSpPr>
          <p:cNvPr id="10" name="AutoShape 10"/>
          <p:cNvSpPr/>
          <p:nvPr/>
        </p:nvSpPr>
        <p:spPr>
          <a:xfrm>
            <a:off x="4953000" y="1524000"/>
            <a:ext cx="3175000" cy="1270000"/>
          </a:xfrm>
          <a:prstGeom prst="roundRect">
            <a:avLst>
              <a:gd name="adj" fmla="val 8000"/>
            </a:avLst>
          </a:prstGeom>
          <a:solidFill>
            <a:srgbClr val="FFFFFF">
              <a:alpha val="100000"/>
            </a:srgbClr>
          </a:solidFill>
          <a:ln w="25400" cap="flat" cmpd="sng">
            <a:noFill/>
            <a:prstDash val="solid"/>
            <a:round/>
          </a:ln>
          <a:effectLst>
            <a:outerShdw blurRad="127000" dist="25400" dir="5400000" algn="tl" rotWithShape="0">
              <a:srgbClr val="000000">
                <a:alpha val="5000"/>
              </a:srgbClr>
            </a:outerShdw>
          </a:effectLst>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143500" y="1714500"/>
            <a:ext cx="508000" cy="508000"/>
          </a:xfrm>
          <a:prstGeom prst="rect">
            <a:avLst/>
          </a:prstGeom>
        </p:spPr>
      </p:pic>
      <p:sp>
        <p:nvSpPr>
          <p:cNvPr id="12" name="AutoShape 12"/>
          <p:cNvSpPr/>
          <p:nvPr/>
        </p:nvSpPr>
        <p:spPr>
          <a:xfrm>
            <a:off x="5842000" y="1714500"/>
            <a:ext cx="215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wlan.fc.subtype</a:t>
            </a:r>
            <a:endParaRPr lang="en-US" sz="1100"/>
          </a:p>
        </p:txBody>
      </p:sp>
      <p:sp>
        <p:nvSpPr>
          <p:cNvPr id="13" name="AutoShape 13"/>
          <p:cNvSpPr/>
          <p:nvPr/>
        </p:nvSpPr>
        <p:spPr>
          <a:xfrm>
            <a:off x="5842000" y="2095500"/>
            <a:ext cx="2159000" cy="508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100" b="0" i="0" u="none" strike="noStrike">
                <a:solidFill>
                  <a:srgbClr val="757575"/>
                </a:solidFill>
                <a:latin typeface="Noto Sans SC" panose="020B0200000000000000" charset="-122"/>
                <a:ea typeface="Noto Sans SC" panose="020B0200000000000000" charset="-122"/>
                <a:cs typeface="Noto Sans SC" panose="020B0200000000000000" charset="-122"/>
                <a:sym typeface="Noto Sans SC" panose="020B0200000000000000" charset="-122"/>
              </a:rPr>
              <a:t>帧子类型是识别具体攻击行为的最直接、最核心的证据。</a:t>
            </a:r>
            <a:endParaRPr lang="en-US" sz="1100"/>
          </a:p>
        </p:txBody>
      </p:sp>
      <p:sp>
        <p:nvSpPr>
          <p:cNvPr id="14" name="AutoShape 14"/>
          <p:cNvSpPr/>
          <p:nvPr/>
        </p:nvSpPr>
        <p:spPr>
          <a:xfrm>
            <a:off x="8382000" y="1524000"/>
            <a:ext cx="3175000" cy="1270000"/>
          </a:xfrm>
          <a:prstGeom prst="roundRect">
            <a:avLst>
              <a:gd name="adj" fmla="val 8000"/>
            </a:avLst>
          </a:prstGeom>
          <a:solidFill>
            <a:srgbClr val="FFFFFF">
              <a:alpha val="100000"/>
            </a:srgbClr>
          </a:solidFill>
          <a:ln w="25400" cap="flat" cmpd="sng">
            <a:noFill/>
            <a:prstDash val="solid"/>
            <a:round/>
          </a:ln>
          <a:effectLst>
            <a:outerShdw blurRad="127000" dist="25400" dir="5400000" algn="tl" rotWithShape="0">
              <a:srgbClr val="000000">
                <a:alpha val="5000"/>
              </a:srgbClr>
            </a:outerShdw>
          </a:effectLst>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572500" y="1714500"/>
            <a:ext cx="508000" cy="508000"/>
          </a:xfrm>
          <a:prstGeom prst="rect">
            <a:avLst/>
          </a:prstGeom>
        </p:spPr>
      </p:pic>
      <p:sp>
        <p:nvSpPr>
          <p:cNvPr id="16" name="AutoShape 16"/>
          <p:cNvSpPr/>
          <p:nvPr/>
        </p:nvSpPr>
        <p:spPr>
          <a:xfrm>
            <a:off x="9271000" y="1714500"/>
            <a:ext cx="215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frame.len</a:t>
            </a:r>
            <a:endParaRPr lang="en-US" sz="1100"/>
          </a:p>
        </p:txBody>
      </p:sp>
      <p:sp>
        <p:nvSpPr>
          <p:cNvPr id="17" name="AutoShape 17"/>
          <p:cNvSpPr/>
          <p:nvPr/>
        </p:nvSpPr>
        <p:spPr>
          <a:xfrm>
            <a:off x="9271000" y="2095500"/>
            <a:ext cx="2159000" cy="508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100" b="0" i="0" u="none" strike="noStrike">
                <a:solidFill>
                  <a:srgbClr val="757575"/>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数据包长度的异常分布是判断流量是否异常的重要量化依据。</a:t>
            </a:r>
            <a:endParaRPr lang="en-US" sz="1100"/>
          </a:p>
        </p:txBody>
      </p:sp>
      <p:sp>
        <p:nvSpPr>
          <p:cNvPr id="18" name="AutoShape 18"/>
          <p:cNvSpPr/>
          <p:nvPr/>
        </p:nvSpPr>
        <p:spPr>
          <a:xfrm>
            <a:off x="4953000" y="3048000"/>
            <a:ext cx="3175000" cy="1270000"/>
          </a:xfrm>
          <a:prstGeom prst="roundRect">
            <a:avLst>
              <a:gd name="adj" fmla="val 8000"/>
            </a:avLst>
          </a:prstGeom>
          <a:solidFill>
            <a:srgbClr val="FFFFFF">
              <a:alpha val="100000"/>
            </a:srgbClr>
          </a:solidFill>
          <a:ln w="25400" cap="flat" cmpd="sng">
            <a:noFill/>
            <a:prstDash val="solid"/>
            <a:round/>
          </a:ln>
          <a:effectLst>
            <a:outerShdw blurRad="127000" dist="25400" dir="5400000" algn="tl" rotWithShape="0">
              <a:srgbClr val="000000">
                <a:alpha val="5000"/>
              </a:srgbClr>
            </a:outerShdw>
          </a:effectLst>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143500" y="3238500"/>
            <a:ext cx="508000" cy="508000"/>
          </a:xfrm>
          <a:prstGeom prst="rect">
            <a:avLst/>
          </a:prstGeom>
        </p:spPr>
      </p:pic>
      <p:sp>
        <p:nvSpPr>
          <p:cNvPr id="20" name="AutoShape 20"/>
          <p:cNvSpPr/>
          <p:nvPr/>
        </p:nvSpPr>
        <p:spPr>
          <a:xfrm>
            <a:off x="5842000" y="3238500"/>
            <a:ext cx="215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inter_arrival_time</a:t>
            </a:r>
            <a:endParaRPr lang="en-US" sz="1100"/>
          </a:p>
        </p:txBody>
      </p:sp>
      <p:sp>
        <p:nvSpPr>
          <p:cNvPr id="21" name="AutoShape 21"/>
          <p:cNvSpPr/>
          <p:nvPr/>
        </p:nvSpPr>
        <p:spPr>
          <a:xfrm>
            <a:off x="5842000" y="3619500"/>
            <a:ext cx="2159000" cy="508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100" b="0" i="0" u="none" strike="noStrike">
                <a:solidFill>
                  <a:srgbClr val="757575"/>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数据包到达的时间节奏与频率特征对模型分类至关重要。</a:t>
            </a:r>
            <a:endParaRPr lang="en-US" sz="1100"/>
          </a:p>
        </p:txBody>
      </p:sp>
      <p:sp>
        <p:nvSpPr>
          <p:cNvPr id="22" name="AutoShape 22"/>
          <p:cNvSpPr/>
          <p:nvPr/>
        </p:nvSpPr>
        <p:spPr>
          <a:xfrm>
            <a:off x="8382000" y="3048000"/>
            <a:ext cx="3175000" cy="1270000"/>
          </a:xfrm>
          <a:prstGeom prst="roundRect">
            <a:avLst>
              <a:gd name="adj" fmla="val 8000"/>
            </a:avLst>
          </a:prstGeom>
          <a:solidFill>
            <a:srgbClr val="FFFFFF">
              <a:alpha val="100000"/>
            </a:srgbClr>
          </a:solidFill>
          <a:ln w="25400" cap="flat" cmpd="sng">
            <a:noFill/>
            <a:prstDash val="solid"/>
            <a:round/>
          </a:ln>
          <a:effectLst>
            <a:outerShdw blurRad="127000" dist="25400" dir="5400000" algn="tl" rotWithShape="0">
              <a:srgbClr val="000000">
                <a:alpha val="5000"/>
              </a:srgbClr>
            </a:outerShdw>
          </a:effectLst>
        </p:spPr>
        <p:txBody>
          <a:bodyPr vert="horz" wrap="square" lIns="63500" tIns="63500" rIns="63500" bIns="63500" rtlCol="0" anchor="ctr"/>
          <a:lstStyle/>
          <a:p>
            <a:pPr algn="ctr">
              <a:defRPr/>
            </a:pPr>
          </a:p>
        </p:txBody>
      </p:sp>
      <p:pic>
        <p:nvPicPr>
          <p:cNvPr id="23" name="Picture 23"/>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572500" y="3238500"/>
            <a:ext cx="508000" cy="508000"/>
          </a:xfrm>
          <a:prstGeom prst="rect">
            <a:avLst/>
          </a:prstGeom>
        </p:spPr>
      </p:pic>
      <p:sp>
        <p:nvSpPr>
          <p:cNvPr id="24" name="AutoShape 24"/>
          <p:cNvSpPr/>
          <p:nvPr/>
        </p:nvSpPr>
        <p:spPr>
          <a:xfrm>
            <a:off x="9271000" y="3238500"/>
            <a:ext cx="215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wlan.sa</a:t>
            </a:r>
            <a:endParaRPr lang="en-US" sz="1100"/>
          </a:p>
        </p:txBody>
      </p:sp>
      <p:sp>
        <p:nvSpPr>
          <p:cNvPr id="25" name="AutoShape 25"/>
          <p:cNvSpPr/>
          <p:nvPr/>
        </p:nvSpPr>
        <p:spPr>
          <a:xfrm>
            <a:off x="9271000" y="3619500"/>
            <a:ext cx="2159000" cy="508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100" b="0" i="0" u="none" strike="noStrike">
                <a:solidFill>
                  <a:srgbClr val="757575"/>
                </a:solidFill>
                <a:latin typeface="Noto Sans SC" panose="020B0200000000000000" charset="-122"/>
                <a:ea typeface="Noto Sans SC" panose="020B0200000000000000" charset="-122"/>
                <a:cs typeface="Noto Sans SC" panose="020B0200000000000000" charset="-122"/>
                <a:sym typeface="Noto Sans SC" panose="020B0200000000000000" charset="-122"/>
              </a:rPr>
              <a:t>特定源MAC地址的异常连接行为模式是重要的判别指标。</a:t>
            </a:r>
            <a:endParaRPr lang="en-US" sz="1100"/>
          </a:p>
        </p:txBody>
      </p:sp>
      <p:sp>
        <p:nvSpPr>
          <p:cNvPr id="26" name="AutoShape 26"/>
          <p:cNvSpPr/>
          <p:nvPr/>
        </p:nvSpPr>
        <p:spPr>
          <a:xfrm>
            <a:off x="4953000" y="4572000"/>
            <a:ext cx="6604000" cy="1524000"/>
          </a:xfrm>
          <a:prstGeom prst="roundRect">
            <a:avLst>
              <a:gd name="adj" fmla="val 6666"/>
            </a:avLst>
          </a:prstGeom>
          <a:solidFill>
            <a:srgbClr val="FFFFFF">
              <a:alpha val="100000"/>
            </a:srgbClr>
          </a:solidFill>
          <a:ln w="25400" cap="flat" cmpd="sng">
            <a:noFill/>
            <a:prstDash val="solid"/>
            <a:round/>
          </a:ln>
          <a:effectLst>
            <a:outerShdw blurRad="127000" dist="25400" dir="5400000" algn="tl" rotWithShape="0">
              <a:srgbClr val="000000">
                <a:alpha val="5000"/>
              </a:srgbClr>
            </a:outerShdw>
          </a:effectLst>
        </p:spPr>
        <p:txBody>
          <a:bodyPr vert="horz" wrap="square" lIns="63500" tIns="63500" rIns="63500" bIns="63500" rtlCol="0" anchor="ctr"/>
          <a:lstStyle/>
          <a:p>
            <a:pPr algn="ctr">
              <a:defRPr/>
            </a:pPr>
          </a:p>
        </p:txBody>
      </p:sp>
      <p:sp>
        <p:nvSpPr>
          <p:cNvPr id="27" name="AutoShape 27"/>
          <p:cNvSpPr/>
          <p:nvPr/>
        </p:nvSpPr>
        <p:spPr>
          <a:xfrm>
            <a:off x="5207000" y="4699000"/>
            <a:ext cx="6096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▍特征重要性得分排名 (Top 5)</a:t>
            </a:r>
            <a:endParaRPr lang="en-US" sz="1100"/>
          </a:p>
        </p:txBody>
      </p:sp>
      <p:sp>
        <p:nvSpPr>
          <p:cNvPr id="28" name="AutoShape 28"/>
          <p:cNvSpPr/>
          <p:nvPr/>
        </p:nvSpPr>
        <p:spPr>
          <a:xfrm>
            <a:off x="5207000" y="5080000"/>
            <a:ext cx="1270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Subtype</a:t>
            </a:r>
            <a:endParaRPr lang="en-US" sz="1100"/>
          </a:p>
        </p:txBody>
      </p:sp>
      <p:sp>
        <p:nvSpPr>
          <p:cNvPr id="29" name="AutoShape 29"/>
          <p:cNvSpPr/>
          <p:nvPr/>
        </p:nvSpPr>
        <p:spPr>
          <a:xfrm>
            <a:off x="6477000" y="5105400"/>
            <a:ext cx="3556000" cy="203200"/>
          </a:xfrm>
          <a:prstGeom prst="roundRect">
            <a:avLst>
              <a:gd name="adj" fmla="val 312500"/>
            </a:avLst>
          </a:prstGeom>
          <a:solidFill>
            <a:srgbClr val="0052CC">
              <a:alpha val="90000"/>
            </a:srgbClr>
          </a:solidFill>
          <a:ln w="25400" cap="flat" cmpd="sng">
            <a:noFill/>
            <a:prstDash val="solid"/>
            <a:round/>
          </a:ln>
        </p:spPr>
        <p:txBody>
          <a:bodyPr vert="horz" wrap="square" lIns="63500" tIns="63500" rIns="63500" bIns="63500" rtlCol="0" anchor="ctr"/>
          <a:lstStyle/>
          <a:p>
            <a:pPr algn="ctr">
              <a:defRPr/>
            </a:pPr>
          </a:p>
        </p:txBody>
      </p:sp>
      <p:sp>
        <p:nvSpPr>
          <p:cNvPr id="30" name="AutoShape 30"/>
          <p:cNvSpPr/>
          <p:nvPr/>
        </p:nvSpPr>
        <p:spPr>
          <a:xfrm>
            <a:off x="10160000" y="5080000"/>
            <a:ext cx="1016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92.4%</a:t>
            </a:r>
            <a:endParaRPr lang="en-US" sz="1100"/>
          </a:p>
        </p:txBody>
      </p:sp>
      <p:sp>
        <p:nvSpPr>
          <p:cNvPr id="31" name="AutoShape 31"/>
          <p:cNvSpPr/>
          <p:nvPr/>
        </p:nvSpPr>
        <p:spPr>
          <a:xfrm>
            <a:off x="5207000" y="5461000"/>
            <a:ext cx="1270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Frame Len</a:t>
            </a:r>
            <a:endParaRPr lang="en-US" sz="1100"/>
          </a:p>
        </p:txBody>
      </p:sp>
      <p:sp>
        <p:nvSpPr>
          <p:cNvPr id="32" name="AutoShape 32"/>
          <p:cNvSpPr/>
          <p:nvPr/>
        </p:nvSpPr>
        <p:spPr>
          <a:xfrm>
            <a:off x="6477000" y="5486400"/>
            <a:ext cx="3048000" cy="203200"/>
          </a:xfrm>
          <a:prstGeom prst="roundRect">
            <a:avLst>
              <a:gd name="adj" fmla="val 312500"/>
            </a:avLst>
          </a:prstGeom>
          <a:solidFill>
            <a:srgbClr val="0052CC">
              <a:alpha val="70000"/>
            </a:srgbClr>
          </a:solidFill>
          <a:ln w="25400" cap="flat" cmpd="sng">
            <a:noFill/>
            <a:prstDash val="solid"/>
            <a:round/>
          </a:ln>
        </p:spPr>
        <p:txBody>
          <a:bodyPr vert="horz" wrap="square" lIns="63500" tIns="63500" rIns="63500" bIns="63500" rtlCol="0" anchor="ctr"/>
          <a:lstStyle/>
          <a:p>
            <a:pPr algn="ctr">
              <a:defRPr/>
            </a:pPr>
          </a:p>
        </p:txBody>
      </p:sp>
      <p:sp>
        <p:nvSpPr>
          <p:cNvPr id="33" name="AutoShape 33"/>
          <p:cNvSpPr/>
          <p:nvPr/>
        </p:nvSpPr>
        <p:spPr>
          <a:xfrm>
            <a:off x="9652000" y="5461000"/>
            <a:ext cx="1016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85.7%</a:t>
            </a:r>
            <a:endParaRPr lang="en-US" sz="11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持续进化：当前实验的不足与未来方向</a:t>
            </a:r>
            <a:endParaRPr lang="en-US" sz="1100"/>
          </a:p>
        </p:txBody>
      </p:sp>
      <p:sp>
        <p:nvSpPr>
          <p:cNvPr id="3" name="AutoShape 3"/>
          <p:cNvSpPr/>
          <p:nvPr/>
        </p:nvSpPr>
        <p:spPr>
          <a:xfrm>
            <a:off x="762000" y="1397000"/>
            <a:ext cx="5207000" cy="4953000"/>
          </a:xfrm>
          <a:prstGeom prst="roundRect">
            <a:avLst>
              <a:gd name="adj" fmla="val 3076"/>
            </a:avLst>
          </a:prstGeom>
          <a:solidFill>
            <a:srgbClr val="FFF1F0">
              <a:alpha val="100000"/>
            </a:srgbClr>
          </a:solidFill>
          <a:ln w="25400" cap="flat" cmpd="sng">
            <a:noFill/>
            <a:prstDash val="solid"/>
            <a:round/>
          </a:ln>
          <a:effectLst>
            <a:outerShdw blurRad="190500" dist="63500" dir="5400000" algn="tl" rotWithShape="0">
              <a:srgbClr val="FF5733">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651000"/>
            <a:ext cx="406400" cy="406400"/>
          </a:xfrm>
          <a:prstGeom prst="rect">
            <a:avLst/>
          </a:prstGeom>
        </p:spPr>
      </p:pic>
      <p:sp>
        <p:nvSpPr>
          <p:cNvPr id="5" name="AutoShape 5"/>
          <p:cNvSpPr/>
          <p:nvPr/>
        </p:nvSpPr>
        <p:spPr>
          <a:xfrm>
            <a:off x="1524000" y="1651000"/>
            <a:ext cx="4191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5733"/>
                </a:solidFill>
                <a:latin typeface="Noto Sans SC" panose="020B0200000000000000" charset="-122"/>
                <a:ea typeface="Noto Sans SC" panose="020B0200000000000000" charset="-122"/>
                <a:cs typeface="Noto Sans SC" panose="020B0200000000000000" charset="-122"/>
                <a:sym typeface="Noto Sans SC" panose="020B0200000000000000" charset="-122"/>
              </a:rPr>
              <a:t>当前实验的局限性</a:t>
            </a:r>
            <a:endParaRPr lang="en-US" sz="1100"/>
          </a:p>
        </p:txBody>
      </p:sp>
      <p:sp>
        <p:nvSpPr>
          <p:cNvPr id="6" name="AutoShape 6"/>
          <p:cNvSpPr/>
          <p:nvPr/>
        </p:nvSpPr>
        <p:spPr>
          <a:xfrm>
            <a:off x="1016000" y="2413000"/>
            <a:ext cx="4699000" cy="952500"/>
          </a:xfrm>
          <a:prstGeom prst="roundRect">
            <a:avLst>
              <a:gd name="adj" fmla="val 10666"/>
            </a:avLst>
          </a:prstGeom>
          <a:solidFill>
            <a:srgbClr val="FFFFFF">
              <a:alpha val="100000"/>
            </a:srgbClr>
          </a:solidFill>
          <a:ln w="25400" cap="flat" cmpd="sng">
            <a:noFill/>
            <a:prstDash val="solid"/>
            <a:round/>
          </a:ln>
          <a:effectLst>
            <a:outerShdw blurRad="101600" dist="25400" dir="5400000" algn="tl" rotWithShape="0">
              <a:srgbClr val="000000">
                <a:alpha val="6000"/>
              </a:srgbClr>
            </a:outerShdw>
          </a:effectLst>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06500" y="2641600"/>
            <a:ext cx="457200" cy="457200"/>
          </a:xfrm>
          <a:prstGeom prst="rect">
            <a:avLst/>
          </a:prstGeom>
        </p:spPr>
      </p:pic>
      <p:sp>
        <p:nvSpPr>
          <p:cNvPr id="8" name="AutoShape 8"/>
          <p:cNvSpPr/>
          <p:nvPr/>
        </p:nvSpPr>
        <p:spPr>
          <a:xfrm>
            <a:off x="1841500" y="2565400"/>
            <a:ext cx="37465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过拟合风险</a:t>
            </a:r>
            <a:endParaRPr lang="en-US" sz="1100"/>
          </a:p>
          <a:p>
            <a:pPr indent="0" algn="l">
              <a:lnSpc>
                <a:spcPct val="125000"/>
              </a:lnSpc>
            </a:pPr>
            <a:r>
              <a:rPr lang="en-US" sz="12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模型在真实复杂网络环境中的泛化表现，可能显著弱于训练集。</a:t>
            </a:r>
            <a:endParaRPr lang="en-US" sz="12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1016000" y="3556000"/>
            <a:ext cx="4699000" cy="952500"/>
          </a:xfrm>
          <a:prstGeom prst="roundRect">
            <a:avLst>
              <a:gd name="adj" fmla="val 10666"/>
            </a:avLst>
          </a:prstGeom>
          <a:solidFill>
            <a:srgbClr val="FFFFFF">
              <a:alpha val="100000"/>
            </a:srgbClr>
          </a:solidFill>
          <a:ln w="25400" cap="flat" cmpd="sng">
            <a:noFill/>
            <a:prstDash val="solid"/>
            <a:round/>
          </a:ln>
          <a:effectLst>
            <a:outerShdw blurRad="101600" dist="25400" dir="5400000" algn="tl" rotWithShape="0">
              <a:srgbClr val="000000">
                <a:alpha val="6000"/>
              </a:srgbClr>
            </a:outerShdw>
          </a:effectLst>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206500" y="3784600"/>
            <a:ext cx="457200" cy="457200"/>
          </a:xfrm>
          <a:prstGeom prst="rect">
            <a:avLst/>
          </a:prstGeom>
        </p:spPr>
      </p:pic>
      <p:sp>
        <p:nvSpPr>
          <p:cNvPr id="11" name="AutoShape 11"/>
          <p:cNvSpPr/>
          <p:nvPr/>
        </p:nvSpPr>
        <p:spPr>
          <a:xfrm>
            <a:off x="1841500" y="3708400"/>
            <a:ext cx="37465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小样本攻击识别困难</a:t>
            </a:r>
            <a:endParaRPr lang="en-US" sz="1100"/>
          </a:p>
          <a:p>
            <a:pPr indent="0" algn="l">
              <a:lnSpc>
                <a:spcPct val="125000"/>
              </a:lnSpc>
            </a:pPr>
            <a:r>
              <a:rPr lang="en-US" sz="12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对样本数量稀缺的长尾攻击类型，模型缺乏足够特征进行有效识别。</a:t>
            </a:r>
            <a:endParaRPr lang="en-US" sz="12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nvSpPr>
        <p:spPr>
          <a:xfrm>
            <a:off x="1016000" y="4699000"/>
            <a:ext cx="4699000" cy="952500"/>
          </a:xfrm>
          <a:prstGeom prst="roundRect">
            <a:avLst>
              <a:gd name="adj" fmla="val 10666"/>
            </a:avLst>
          </a:prstGeom>
          <a:solidFill>
            <a:srgbClr val="FFFFFF">
              <a:alpha val="100000"/>
            </a:srgbClr>
          </a:solidFill>
          <a:ln w="25400" cap="flat" cmpd="sng">
            <a:noFill/>
            <a:prstDash val="solid"/>
            <a:round/>
          </a:ln>
          <a:effectLst>
            <a:outerShdw blurRad="101600" dist="25400" dir="5400000" algn="tl" rotWithShape="0">
              <a:srgbClr val="000000">
                <a:alpha val="6000"/>
              </a:srgbClr>
            </a:outerShdw>
          </a:effectLst>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206500" y="4927600"/>
            <a:ext cx="457200" cy="457200"/>
          </a:xfrm>
          <a:prstGeom prst="rect">
            <a:avLst/>
          </a:prstGeom>
        </p:spPr>
      </p:pic>
      <p:sp>
        <p:nvSpPr>
          <p:cNvPr id="14" name="AutoShape 14"/>
          <p:cNvSpPr/>
          <p:nvPr/>
        </p:nvSpPr>
        <p:spPr>
          <a:xfrm>
            <a:off x="1841500" y="4851400"/>
            <a:ext cx="37465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静态环境假设局限</a:t>
            </a:r>
            <a:endParaRPr lang="en-US" sz="1100"/>
          </a:p>
          <a:p>
            <a:pPr indent="0" algn="l">
              <a:lnSpc>
                <a:spcPct val="125000"/>
              </a:lnSpc>
            </a:pPr>
            <a:r>
              <a:rPr lang="en-US" sz="12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当前模型架构无法自适应动态变化的网络流量特征与攻击模式。</a:t>
            </a:r>
            <a:endParaRPr lang="en-US" sz="12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15"/>
          <p:cNvSpPr/>
          <p:nvPr/>
        </p:nvSpPr>
        <p:spPr>
          <a:xfrm>
            <a:off x="6223000" y="1397000"/>
            <a:ext cx="5207000" cy="4953000"/>
          </a:xfrm>
          <a:prstGeom prst="roundRect">
            <a:avLst>
              <a:gd name="adj" fmla="val 3076"/>
            </a:avLst>
          </a:prstGeom>
          <a:solidFill>
            <a:srgbClr val="EEF4FF">
              <a:alpha val="100000"/>
            </a:srgbClr>
          </a:solidFill>
          <a:ln w="25400" cap="flat" cmpd="sng">
            <a:noFill/>
            <a:prstDash val="solid"/>
            <a:round/>
          </a:ln>
          <a:effectLst>
            <a:outerShdw blurRad="190500" dist="63500" dir="5400000" algn="tl" rotWithShape="0">
              <a:srgbClr val="0052CC">
                <a:alpha val="15000"/>
              </a:srgbClr>
            </a:outerShdw>
          </a:effectLst>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477000" y="1651000"/>
            <a:ext cx="406400" cy="406400"/>
          </a:xfrm>
          <a:prstGeom prst="rect">
            <a:avLst/>
          </a:prstGeom>
        </p:spPr>
      </p:pic>
      <p:sp>
        <p:nvSpPr>
          <p:cNvPr id="17" name="AutoShape 17"/>
          <p:cNvSpPr/>
          <p:nvPr/>
        </p:nvSpPr>
        <p:spPr>
          <a:xfrm>
            <a:off x="6985000" y="1651000"/>
            <a:ext cx="4191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未来改进方向</a:t>
            </a:r>
            <a:endParaRPr lang="en-US" sz="1100"/>
          </a:p>
        </p:txBody>
      </p:sp>
      <p:sp>
        <p:nvSpPr>
          <p:cNvPr id="18" name="AutoShape 18"/>
          <p:cNvSpPr/>
          <p:nvPr/>
        </p:nvSpPr>
        <p:spPr>
          <a:xfrm>
            <a:off x="6477000" y="2413000"/>
            <a:ext cx="4699000" cy="1143000"/>
          </a:xfrm>
          <a:prstGeom prst="roundRect">
            <a:avLst>
              <a:gd name="adj" fmla="val 8888"/>
            </a:avLst>
          </a:prstGeom>
          <a:solidFill>
            <a:srgbClr val="FFFFFF">
              <a:alpha val="100000"/>
            </a:srgbClr>
          </a:solidFill>
          <a:ln w="25400" cap="flat" cmpd="sng">
            <a:noFill/>
            <a:prstDash val="solid"/>
            <a:round/>
          </a:ln>
          <a:effectLst>
            <a:outerShdw blurRad="101600" dist="25400" dir="5400000" algn="tl" rotWithShape="0">
              <a:srgbClr val="000000">
                <a:alpha val="6000"/>
              </a:srgbClr>
            </a:outerShdw>
          </a:effectLst>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667500" y="2730500"/>
            <a:ext cx="508000" cy="508000"/>
          </a:xfrm>
          <a:prstGeom prst="rect">
            <a:avLst/>
          </a:prstGeom>
        </p:spPr>
      </p:pic>
      <p:sp>
        <p:nvSpPr>
          <p:cNvPr id="20" name="AutoShape 20"/>
          <p:cNvSpPr/>
          <p:nvPr/>
        </p:nvSpPr>
        <p:spPr>
          <a:xfrm>
            <a:off x="7366000" y="2603500"/>
            <a:ext cx="3683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深度模型优化与调优</a:t>
            </a:r>
            <a:endParaRPr lang="en-US" sz="1100"/>
          </a:p>
          <a:p>
            <a:pPr indent="0" algn="l">
              <a:lnSpc>
                <a:spcPct val="125000"/>
              </a:lnSpc>
            </a:pPr>
            <a:r>
              <a:rPr lang="en-US" sz="12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开展超参数网格搜索，引入XGBoost、LightGBM等梯度提升树模型进行性能对比。</a:t>
            </a:r>
            <a:endParaRPr lang="en-US" sz="12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1" name="AutoShape 21"/>
          <p:cNvSpPr/>
          <p:nvPr/>
        </p:nvSpPr>
        <p:spPr>
          <a:xfrm>
            <a:off x="6477000" y="3810000"/>
            <a:ext cx="4699000" cy="1143000"/>
          </a:xfrm>
          <a:prstGeom prst="roundRect">
            <a:avLst>
              <a:gd name="adj" fmla="val 8888"/>
            </a:avLst>
          </a:prstGeom>
          <a:solidFill>
            <a:srgbClr val="FFFFFF">
              <a:alpha val="100000"/>
            </a:srgbClr>
          </a:solidFill>
          <a:ln w="25400" cap="flat" cmpd="sng">
            <a:noFill/>
            <a:prstDash val="solid"/>
            <a:round/>
          </a:ln>
          <a:effectLst>
            <a:outerShdw blurRad="101600" dist="25400" dir="5400000" algn="tl" rotWithShape="0">
              <a:srgbClr val="000000">
                <a:alpha val="6000"/>
              </a:srgbClr>
            </a:outerShdw>
          </a:effectLst>
        </p:spPr>
        <p:txBody>
          <a:bodyPr vert="horz" wrap="square" lIns="63500" tIns="63500" rIns="63500" bIns="63500" rtlCol="0" anchor="ctr"/>
          <a:lstStyle/>
          <a:p>
            <a:pPr algn="ctr">
              <a:defRPr/>
            </a:pPr>
          </a:p>
        </p:txBody>
      </p:sp>
      <p:pic>
        <p:nvPicPr>
          <p:cNvPr id="22" name="Picture 22"/>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667500" y="4127500"/>
            <a:ext cx="508000" cy="508000"/>
          </a:xfrm>
          <a:prstGeom prst="rect">
            <a:avLst/>
          </a:prstGeom>
        </p:spPr>
      </p:pic>
      <p:sp>
        <p:nvSpPr>
          <p:cNvPr id="23" name="AutoShape 23"/>
          <p:cNvSpPr/>
          <p:nvPr/>
        </p:nvSpPr>
        <p:spPr>
          <a:xfrm>
            <a:off x="7366000" y="4000500"/>
            <a:ext cx="3683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数据增强与平衡策略</a:t>
            </a:r>
            <a:endParaRPr lang="en-US" sz="1100"/>
          </a:p>
          <a:p>
            <a:pPr indent="0" algn="l">
              <a:lnSpc>
                <a:spcPct val="125000"/>
              </a:lnSpc>
            </a:pPr>
            <a:r>
              <a:rPr lang="en-US" sz="12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利用SMOTE等过采样算法，解决数据集中正负样本及攻击类别分布不平衡的问题。</a:t>
            </a:r>
            <a:endParaRPr lang="en-US" sz="12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4" name="AutoShape 24"/>
          <p:cNvSpPr/>
          <p:nvPr/>
        </p:nvSpPr>
        <p:spPr>
          <a:xfrm>
            <a:off x="6477000" y="5207000"/>
            <a:ext cx="4699000" cy="1016000"/>
          </a:xfrm>
          <a:prstGeom prst="roundRect">
            <a:avLst>
              <a:gd name="adj" fmla="val 10000"/>
            </a:avLst>
          </a:prstGeom>
          <a:solidFill>
            <a:srgbClr val="FFFFFF">
              <a:alpha val="100000"/>
            </a:srgbClr>
          </a:solidFill>
          <a:ln w="25400" cap="flat" cmpd="sng">
            <a:noFill/>
            <a:prstDash val="solid"/>
            <a:round/>
          </a:ln>
          <a:effectLst>
            <a:outerShdw blurRad="101600" dist="25400" dir="5400000" algn="tl" rotWithShape="0">
              <a:srgbClr val="000000">
                <a:alpha val="6000"/>
              </a:srgbClr>
            </a:outerShdw>
          </a:effectLst>
        </p:spPr>
        <p:txBody>
          <a:bodyPr vert="horz" wrap="square" lIns="63500" tIns="63500" rIns="63500" bIns="63500" rtlCol="0" anchor="ctr"/>
          <a:lstStyle/>
          <a:p>
            <a:pPr algn="ctr">
              <a:defRPr/>
            </a:pPr>
          </a:p>
        </p:txBody>
      </p:sp>
      <p:pic>
        <p:nvPicPr>
          <p:cNvPr id="25" name="Picture 25"/>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6667500" y="5461000"/>
            <a:ext cx="508000" cy="508000"/>
          </a:xfrm>
          <a:prstGeom prst="rect">
            <a:avLst/>
          </a:prstGeom>
        </p:spPr>
      </p:pic>
      <p:sp>
        <p:nvSpPr>
          <p:cNvPr id="26" name="AutoShape 26"/>
          <p:cNvSpPr/>
          <p:nvPr/>
        </p:nvSpPr>
        <p:spPr>
          <a:xfrm>
            <a:off x="7366000" y="5359400"/>
            <a:ext cx="3683000" cy="825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算法架构多分类升级</a:t>
            </a:r>
            <a:endParaRPr lang="en-US" sz="1100"/>
          </a:p>
          <a:p>
            <a:pPr indent="0" algn="l">
              <a:lnSpc>
                <a:spcPct val="125000"/>
              </a:lnSpc>
            </a:pPr>
            <a:r>
              <a:rPr lang="en-US" sz="12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从简单的二分类演进到细粒度多分类，引入CNN/RNN等深度学习架构。</a:t>
            </a:r>
            <a:endParaRPr lang="en-US" sz="12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1651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0" i="0" u="none" strike="noStrike" spc="400">
                <a:solidFill>
                  <a:srgbClr val="909399"/>
                </a:solidFill>
                <a:latin typeface="Noto Sans SC" panose="020B0200000000000000" charset="-122"/>
                <a:ea typeface="Noto Sans SC" panose="020B0200000000000000" charset="-122"/>
                <a:cs typeface="Noto Sans SC" panose="020B0200000000000000" charset="-122"/>
                <a:sym typeface="Noto Sans SC" panose="020B0200000000000000" charset="-122"/>
              </a:rPr>
              <a:t>PART</a:t>
            </a:r>
            <a:endParaRPr lang="en-US" sz="1100"/>
          </a:p>
        </p:txBody>
      </p:sp>
      <p:sp>
        <p:nvSpPr>
          <p:cNvPr id="3" name="AutoShape 3"/>
          <p:cNvSpPr/>
          <p:nvPr/>
        </p:nvSpPr>
        <p:spPr>
          <a:xfrm>
            <a:off x="0" y="2286000"/>
            <a:ext cx="12192000" cy="177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05</a:t>
            </a:r>
            <a:endParaRPr lang="en-US" sz="1100"/>
          </a:p>
        </p:txBody>
      </p:sp>
      <p:sp>
        <p:nvSpPr>
          <p:cNvPr id="4" name="AutoShape 4"/>
          <p:cNvSpPr/>
          <p:nvPr/>
        </p:nvSpPr>
        <p:spPr>
          <a:xfrm>
            <a:off x="0" y="4318000"/>
            <a:ext cx="12192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spc="20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总结与展望</a:t>
            </a:r>
            <a:endParaRPr lang="en-US" sz="1100"/>
          </a:p>
        </p:txBody>
      </p:sp>
      <p:sp>
        <p:nvSpPr>
          <p:cNvPr id="5" name="AutoShape 5"/>
          <p:cNvSpPr/>
          <p:nvPr/>
        </p:nvSpPr>
        <p:spPr>
          <a:xfrm>
            <a:off x="5588000" y="5207000"/>
            <a:ext cx="1016000" cy="50800"/>
          </a:xfrm>
          <a:prstGeom prst="roundRect">
            <a:avLst>
              <a:gd name="adj" fmla="val 0"/>
            </a:avLst>
          </a:prstGeom>
          <a:solidFill>
            <a:srgbClr val="0052CC">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0" y="5588000"/>
            <a:ext cx="1219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spc="300">
                <a:solidFill>
                  <a:srgbClr val="A6A9AD"/>
                </a:solidFill>
                <a:latin typeface="Noto Sans SC" panose="020B0200000000000000" charset="-122"/>
                <a:ea typeface="Noto Sans SC" panose="020B0200000000000000" charset="-122"/>
                <a:cs typeface="Noto Sans SC" panose="020B0200000000000000" charset="-122"/>
                <a:sym typeface="Noto Sans SC" panose="020B0200000000000000" charset="-122"/>
              </a:rPr>
              <a:t>SUMMARY AND OUTLOOK</a:t>
            </a:r>
            <a:endParaRPr lang="en-US" sz="11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迈向智能、自适应的无线安全新纪元</a:t>
            </a:r>
            <a:endParaRPr lang="en-US" sz="1100"/>
          </a:p>
        </p:txBody>
      </p:sp>
      <p:sp>
        <p:nvSpPr>
          <p:cNvPr id="3" name="AutoShape 3"/>
          <p:cNvSpPr/>
          <p:nvPr/>
        </p:nvSpPr>
        <p:spPr>
          <a:xfrm>
            <a:off x="762000" y="1524000"/>
            <a:ext cx="5207000" cy="4699000"/>
          </a:xfrm>
          <a:prstGeom prst="roundRect">
            <a:avLst>
              <a:gd name="adj" fmla="val 4324"/>
            </a:avLst>
          </a:prstGeom>
          <a:solidFill>
            <a:srgbClr val="F0F5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1016000" y="1778000"/>
            <a:ext cx="469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核心总结 · Summary</a:t>
            </a:r>
            <a:endParaRPr lang="en-US" sz="1100"/>
          </a:p>
        </p:txBody>
      </p:sp>
      <p:sp>
        <p:nvSpPr>
          <p:cNvPr id="5" name="AutoShape 5"/>
          <p:cNvSpPr/>
          <p:nvPr/>
        </p:nvSpPr>
        <p:spPr>
          <a:xfrm>
            <a:off x="1016000" y="2413000"/>
            <a:ext cx="4699000" cy="1143000"/>
          </a:xfrm>
          <a:prstGeom prst="roundRect">
            <a:avLst>
              <a:gd name="adj" fmla="val 8888"/>
            </a:avLst>
          </a:prstGeom>
          <a:solidFill>
            <a:srgbClr val="FFFFFF">
              <a:alpha val="100000"/>
            </a:srgbClr>
          </a:solidFill>
          <a:ln w="25400" cap="flat" cmpd="sng">
            <a:noFill/>
            <a:prstDash val="solid"/>
            <a:round/>
          </a:ln>
          <a:effectLst>
            <a:outerShdw blurRad="152400" dist="50800" dir="2700000" algn="tl" rotWithShape="0">
              <a:srgbClr val="000000">
                <a:alpha val="6000"/>
              </a:srgbClr>
            </a:outerShdw>
          </a:effectLst>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00" y="2667000"/>
            <a:ext cx="508000" cy="508000"/>
          </a:xfrm>
          <a:prstGeom prst="rect">
            <a:avLst/>
          </a:prstGeom>
        </p:spPr>
      </p:pic>
      <p:sp>
        <p:nvSpPr>
          <p:cNvPr id="7" name="AutoShape 7"/>
          <p:cNvSpPr/>
          <p:nvPr/>
        </p:nvSpPr>
        <p:spPr>
          <a:xfrm>
            <a:off x="2032000" y="2603500"/>
            <a:ext cx="342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传统防御手段失效</a:t>
            </a:r>
            <a:endParaRPr lang="en-US" sz="1100"/>
          </a:p>
        </p:txBody>
      </p:sp>
      <p:sp>
        <p:nvSpPr>
          <p:cNvPr id="8" name="AutoShape 8"/>
          <p:cNvSpPr/>
          <p:nvPr/>
        </p:nvSpPr>
        <p:spPr>
          <a:xfrm>
            <a:off x="2032000" y="2984500"/>
            <a:ext cx="3429000" cy="50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无线网络的高速普及带来了复杂多样的安全挑战，静态的传统防御策略已难以应对日益增长的未知威胁。</a:t>
            </a:r>
            <a:endParaRPr lang="en-US" sz="1100"/>
          </a:p>
        </p:txBody>
      </p:sp>
      <p:sp>
        <p:nvSpPr>
          <p:cNvPr id="9" name="AutoShape 9"/>
          <p:cNvSpPr/>
          <p:nvPr/>
        </p:nvSpPr>
        <p:spPr>
          <a:xfrm>
            <a:off x="1016000" y="3746500"/>
            <a:ext cx="4699000" cy="1143000"/>
          </a:xfrm>
          <a:prstGeom prst="roundRect">
            <a:avLst>
              <a:gd name="adj" fmla="val 8888"/>
            </a:avLst>
          </a:prstGeom>
          <a:solidFill>
            <a:srgbClr val="FFFFFF">
              <a:alpha val="100000"/>
            </a:srgbClr>
          </a:solidFill>
          <a:ln w="25400" cap="flat" cmpd="sng">
            <a:noFill/>
            <a:prstDash val="solid"/>
            <a:round/>
          </a:ln>
          <a:effectLst>
            <a:outerShdw blurRad="152400" dist="50800" dir="2700000" algn="tl" rotWithShape="0">
              <a:srgbClr val="000000">
                <a:alpha val="6000"/>
              </a:srgbClr>
            </a:outerShdw>
          </a:effectLst>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0000" y="4000500"/>
            <a:ext cx="508000" cy="508000"/>
          </a:xfrm>
          <a:prstGeom prst="rect">
            <a:avLst/>
          </a:prstGeom>
        </p:spPr>
      </p:pic>
      <p:sp>
        <p:nvSpPr>
          <p:cNvPr id="11" name="AutoShape 11"/>
          <p:cNvSpPr/>
          <p:nvPr/>
        </p:nvSpPr>
        <p:spPr>
          <a:xfrm>
            <a:off x="2032000" y="3937000"/>
            <a:ext cx="342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AI 赋能异常检测</a:t>
            </a:r>
            <a:endParaRPr lang="en-US" sz="1100"/>
          </a:p>
        </p:txBody>
      </p:sp>
      <p:sp>
        <p:nvSpPr>
          <p:cNvPr id="12" name="AutoShape 12"/>
          <p:cNvSpPr/>
          <p:nvPr/>
        </p:nvSpPr>
        <p:spPr>
          <a:xfrm>
            <a:off x="2032000" y="4318000"/>
            <a:ext cx="3429000" cy="50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基于人工智能的异常检测方法，能够有效挖掘数据特征，为识别和防御未知的零日攻击提供了强有力的技术支撑。</a:t>
            </a:r>
            <a:endParaRPr lang="en-US" sz="1100"/>
          </a:p>
        </p:txBody>
      </p:sp>
      <p:sp>
        <p:nvSpPr>
          <p:cNvPr id="13" name="AutoShape 13"/>
          <p:cNvSpPr/>
          <p:nvPr/>
        </p:nvSpPr>
        <p:spPr>
          <a:xfrm>
            <a:off x="1016000" y="5080000"/>
            <a:ext cx="4699000" cy="1016000"/>
          </a:xfrm>
          <a:prstGeom prst="roundRect">
            <a:avLst>
              <a:gd name="adj" fmla="val 10000"/>
            </a:avLst>
          </a:prstGeom>
          <a:solidFill>
            <a:srgbClr val="FFFFFF">
              <a:alpha val="100000"/>
            </a:srgbClr>
          </a:solidFill>
          <a:ln w="25400" cap="flat" cmpd="sng">
            <a:noFill/>
            <a:prstDash val="solid"/>
            <a:round/>
          </a:ln>
          <a:effectLst>
            <a:outerShdw blurRad="152400" dist="50800" dir="2700000" algn="tl" rotWithShape="0">
              <a:srgbClr val="000000">
                <a:alpha val="6000"/>
              </a:srgbClr>
            </a:outerShdw>
          </a:effectLst>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270000" y="5334000"/>
            <a:ext cx="508000" cy="508000"/>
          </a:xfrm>
          <a:prstGeom prst="rect">
            <a:avLst/>
          </a:prstGeom>
        </p:spPr>
      </p:pic>
      <p:sp>
        <p:nvSpPr>
          <p:cNvPr id="15" name="AutoShape 15"/>
          <p:cNvSpPr/>
          <p:nvPr/>
        </p:nvSpPr>
        <p:spPr>
          <a:xfrm>
            <a:off x="2032000" y="5270500"/>
            <a:ext cx="342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机器学习模型成效显著</a:t>
            </a:r>
            <a:endParaRPr lang="en-US" sz="1100"/>
          </a:p>
        </p:txBody>
      </p:sp>
      <p:sp>
        <p:nvSpPr>
          <p:cNvPr id="16" name="AutoShape 16"/>
          <p:cNvSpPr/>
          <p:nvPr/>
        </p:nvSpPr>
        <p:spPr>
          <a:xfrm>
            <a:off x="2032000" y="5613400"/>
            <a:ext cx="3429000" cy="381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随机森林等模型在恶意流量检测中表现出高准确率与优秀的可解释性。</a:t>
            </a:r>
            <a:endParaRPr lang="en-US" sz="1100"/>
          </a:p>
        </p:txBody>
      </p:sp>
      <p:sp>
        <p:nvSpPr>
          <p:cNvPr id="17" name="AutoShape 17"/>
          <p:cNvSpPr/>
          <p:nvPr/>
        </p:nvSpPr>
        <p:spPr>
          <a:xfrm>
            <a:off x="6223000" y="1524000"/>
            <a:ext cx="5207000" cy="4699000"/>
          </a:xfrm>
          <a:prstGeom prst="roundRect">
            <a:avLst>
              <a:gd name="adj" fmla="val 4324"/>
            </a:avLst>
          </a:prstGeom>
          <a:solidFill>
            <a:srgbClr val="F0F5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6477000" y="1778000"/>
            <a:ext cx="469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52CC"/>
                </a:solidFill>
                <a:latin typeface="Noto Sans SC" panose="020B0200000000000000" charset="-122"/>
                <a:ea typeface="Noto Sans SC" panose="020B0200000000000000" charset="-122"/>
                <a:cs typeface="Noto Sans SC" panose="020B0200000000000000" charset="-122"/>
                <a:sym typeface="Noto Sans SC" panose="020B0200000000000000" charset="-122"/>
              </a:rPr>
              <a:t>未来演进趋势 · Future Trends</a:t>
            </a:r>
            <a:endParaRPr lang="en-US" sz="1100"/>
          </a:p>
        </p:txBody>
      </p:sp>
      <p:sp>
        <p:nvSpPr>
          <p:cNvPr id="19" name="AutoShape 19"/>
          <p:cNvSpPr/>
          <p:nvPr/>
        </p:nvSpPr>
        <p:spPr>
          <a:xfrm>
            <a:off x="6477000" y="2413000"/>
            <a:ext cx="2349500" cy="1524000"/>
          </a:xfrm>
          <a:prstGeom prst="roundRect">
            <a:avLst>
              <a:gd name="adj" fmla="val 6666"/>
            </a:avLst>
          </a:prstGeom>
          <a:solidFill>
            <a:srgbClr val="FFFFFF">
              <a:alpha val="100000"/>
            </a:srgbClr>
          </a:solidFill>
          <a:ln w="25400" cap="flat" cmpd="sng">
            <a:noFill/>
            <a:prstDash val="solid"/>
            <a:round/>
          </a:ln>
          <a:effectLst>
            <a:outerShdw blurRad="127000" dist="38100" dir="2700000" algn="tl" rotWithShape="0">
              <a:srgbClr val="000000">
                <a:alpha val="6000"/>
              </a:srgbClr>
            </a:outerShdw>
          </a:effectLst>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667500" y="2603500"/>
            <a:ext cx="406400" cy="406400"/>
          </a:xfrm>
          <a:prstGeom prst="rect">
            <a:avLst/>
          </a:prstGeom>
        </p:spPr>
      </p:pic>
      <p:sp>
        <p:nvSpPr>
          <p:cNvPr id="21" name="AutoShape 21"/>
          <p:cNvSpPr/>
          <p:nvPr/>
        </p:nvSpPr>
        <p:spPr>
          <a:xfrm>
            <a:off x="7239000" y="2603500"/>
            <a:ext cx="14605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精准溯源与多分类</a:t>
            </a:r>
            <a:endParaRPr lang="en-US" sz="1100"/>
          </a:p>
        </p:txBody>
      </p:sp>
      <p:sp>
        <p:nvSpPr>
          <p:cNvPr id="22" name="AutoShape 22"/>
          <p:cNvSpPr/>
          <p:nvPr/>
        </p:nvSpPr>
        <p:spPr>
          <a:xfrm>
            <a:off x="6667500" y="3175000"/>
            <a:ext cx="2032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不仅识别攻击，更精准分析攻击类型、来源与潜在意图。</a:t>
            </a:r>
            <a:endParaRPr lang="en-US" sz="1100"/>
          </a:p>
        </p:txBody>
      </p:sp>
      <p:sp>
        <p:nvSpPr>
          <p:cNvPr id="23" name="AutoShape 23"/>
          <p:cNvSpPr/>
          <p:nvPr/>
        </p:nvSpPr>
        <p:spPr>
          <a:xfrm>
            <a:off x="8953500" y="2413000"/>
            <a:ext cx="2349500" cy="1524000"/>
          </a:xfrm>
          <a:prstGeom prst="roundRect">
            <a:avLst>
              <a:gd name="adj" fmla="val 6666"/>
            </a:avLst>
          </a:prstGeom>
          <a:solidFill>
            <a:srgbClr val="FFFFFF">
              <a:alpha val="100000"/>
            </a:srgbClr>
          </a:solidFill>
          <a:ln w="25400" cap="flat" cmpd="sng">
            <a:noFill/>
            <a:prstDash val="solid"/>
            <a:round/>
          </a:ln>
          <a:effectLst>
            <a:outerShdw blurRad="127000" dist="38100" dir="2700000" algn="tl" rotWithShape="0">
              <a:srgbClr val="000000">
                <a:alpha val="6000"/>
              </a:srgbClr>
            </a:outerShdw>
          </a:effectLst>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144000" y="2603500"/>
            <a:ext cx="406400" cy="406400"/>
          </a:xfrm>
          <a:prstGeom prst="rect">
            <a:avLst/>
          </a:prstGeom>
        </p:spPr>
      </p:pic>
      <p:sp>
        <p:nvSpPr>
          <p:cNvPr id="25" name="AutoShape 25"/>
          <p:cNvSpPr/>
          <p:nvPr/>
        </p:nvSpPr>
        <p:spPr>
          <a:xfrm>
            <a:off x="9715500" y="2603500"/>
            <a:ext cx="14605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边缘侧轻量化部署</a:t>
            </a:r>
            <a:endParaRPr lang="en-US" sz="1100"/>
          </a:p>
        </p:txBody>
      </p:sp>
      <p:sp>
        <p:nvSpPr>
          <p:cNvPr id="26" name="AutoShape 26"/>
          <p:cNvSpPr/>
          <p:nvPr/>
        </p:nvSpPr>
        <p:spPr>
          <a:xfrm>
            <a:off x="9144000" y="3175000"/>
            <a:ext cx="2032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优化模型大小，在路由器等边缘设备上实现低延迟实时检测。</a:t>
            </a:r>
            <a:endParaRPr lang="en-US" sz="1100"/>
          </a:p>
        </p:txBody>
      </p:sp>
      <p:sp>
        <p:nvSpPr>
          <p:cNvPr id="27" name="AutoShape 27"/>
          <p:cNvSpPr/>
          <p:nvPr/>
        </p:nvSpPr>
        <p:spPr>
          <a:xfrm>
            <a:off x="6477000" y="4064000"/>
            <a:ext cx="2349500" cy="1524000"/>
          </a:xfrm>
          <a:prstGeom prst="roundRect">
            <a:avLst>
              <a:gd name="adj" fmla="val 6666"/>
            </a:avLst>
          </a:prstGeom>
          <a:solidFill>
            <a:srgbClr val="FFFFFF">
              <a:alpha val="100000"/>
            </a:srgbClr>
          </a:solidFill>
          <a:ln w="25400" cap="flat" cmpd="sng">
            <a:noFill/>
            <a:prstDash val="solid"/>
            <a:round/>
          </a:ln>
          <a:effectLst>
            <a:outerShdw blurRad="127000" dist="38100" dir="2700000" algn="tl" rotWithShape="0">
              <a:srgbClr val="000000">
                <a:alpha val="6000"/>
              </a:srgbClr>
            </a:outerShdw>
          </a:effectLst>
        </p:spPr>
        <p:txBody>
          <a:bodyPr vert="horz" wrap="square" lIns="63500" tIns="63500" rIns="63500" bIns="63500" rtlCol="0" anchor="ctr"/>
          <a:lstStyle/>
          <a:p>
            <a:pPr algn="ctr">
              <a:defRPr/>
            </a:pPr>
          </a:p>
        </p:txBody>
      </p:sp>
      <p:pic>
        <p:nvPicPr>
          <p:cNvPr id="28" name="Picture 28"/>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667500" y="4254500"/>
            <a:ext cx="406400" cy="406400"/>
          </a:xfrm>
          <a:prstGeom prst="rect">
            <a:avLst/>
          </a:prstGeom>
        </p:spPr>
      </p:pic>
      <p:sp>
        <p:nvSpPr>
          <p:cNvPr id="29" name="AutoShape 29"/>
          <p:cNvSpPr/>
          <p:nvPr/>
        </p:nvSpPr>
        <p:spPr>
          <a:xfrm>
            <a:off x="7239000" y="4254500"/>
            <a:ext cx="14605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联邦学习隐私计算</a:t>
            </a:r>
            <a:endParaRPr lang="en-US" sz="1100"/>
          </a:p>
        </p:txBody>
      </p:sp>
      <p:sp>
        <p:nvSpPr>
          <p:cNvPr id="30" name="AutoShape 30"/>
          <p:cNvSpPr/>
          <p:nvPr/>
        </p:nvSpPr>
        <p:spPr>
          <a:xfrm>
            <a:off x="6667500" y="4826000"/>
            <a:ext cx="2032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数据“可用不可见”，多方协同训练全局模型，兼顾性能与隐私。</a:t>
            </a:r>
            <a:endParaRPr lang="en-US" sz="1100"/>
          </a:p>
        </p:txBody>
      </p:sp>
      <p:sp>
        <p:nvSpPr>
          <p:cNvPr id="31" name="AutoShape 31"/>
          <p:cNvSpPr/>
          <p:nvPr/>
        </p:nvSpPr>
        <p:spPr>
          <a:xfrm>
            <a:off x="8953500" y="4064000"/>
            <a:ext cx="2349500" cy="1524000"/>
          </a:xfrm>
          <a:prstGeom prst="roundRect">
            <a:avLst>
              <a:gd name="adj" fmla="val 6666"/>
            </a:avLst>
          </a:prstGeom>
          <a:solidFill>
            <a:srgbClr val="FFFFFF">
              <a:alpha val="100000"/>
            </a:srgbClr>
          </a:solidFill>
          <a:ln w="25400" cap="flat" cmpd="sng">
            <a:noFill/>
            <a:prstDash val="solid"/>
            <a:round/>
          </a:ln>
          <a:effectLst>
            <a:outerShdw blurRad="127000" dist="38100" dir="2700000" algn="tl" rotWithShape="0">
              <a:srgbClr val="000000">
                <a:alpha val="6000"/>
              </a:srgbClr>
            </a:outerShdw>
          </a:effectLst>
        </p:spPr>
        <p:txBody>
          <a:bodyPr vert="horz" wrap="square" lIns="63500" tIns="63500" rIns="63500" bIns="63500" rtlCol="0" anchor="ctr"/>
          <a:lstStyle/>
          <a:p>
            <a:pPr algn="ctr">
              <a:defRPr/>
            </a:pPr>
          </a:p>
        </p:txBody>
      </p:sp>
      <p:pic>
        <p:nvPicPr>
          <p:cNvPr id="32" name="Picture 32"/>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9144000" y="4254500"/>
            <a:ext cx="406400" cy="406400"/>
          </a:xfrm>
          <a:prstGeom prst="rect">
            <a:avLst/>
          </a:prstGeom>
        </p:spPr>
      </p:pic>
      <p:sp>
        <p:nvSpPr>
          <p:cNvPr id="33" name="AutoShape 33"/>
          <p:cNvSpPr/>
          <p:nvPr/>
        </p:nvSpPr>
        <p:spPr>
          <a:xfrm>
            <a:off x="9715500" y="4254500"/>
            <a:ext cx="14605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202124"/>
                </a:solidFill>
                <a:latin typeface="Noto Sans SC" panose="020B0200000000000000" charset="-122"/>
                <a:ea typeface="Noto Sans SC" panose="020B0200000000000000" charset="-122"/>
                <a:cs typeface="Noto Sans SC" panose="020B0200000000000000" charset="-122"/>
                <a:sym typeface="Noto Sans SC" panose="020B0200000000000000" charset="-122"/>
              </a:rPr>
              <a:t>威胁情报图谱融合</a:t>
            </a:r>
            <a:endParaRPr lang="en-US" sz="1100"/>
          </a:p>
        </p:txBody>
      </p:sp>
      <p:sp>
        <p:nvSpPr>
          <p:cNvPr id="34" name="AutoShape 34"/>
          <p:cNvSpPr/>
          <p:nvPr/>
        </p:nvSpPr>
        <p:spPr>
          <a:xfrm>
            <a:off x="9144000" y="4826000"/>
            <a:ext cx="2032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5F6368"/>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构建攻击知识库，对攻击路径进行深度关联分析与事前预测。</a:t>
            </a:r>
            <a:endParaRPr lang="en-US" sz="11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905000"/>
            <a:ext cx="12192000" cy="177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Q&amp;A</a:t>
            </a:r>
            <a:endParaRPr lang="en-US" sz="1100"/>
          </a:p>
        </p:txBody>
      </p:sp>
      <p:sp>
        <p:nvSpPr>
          <p:cNvPr id="3" name="AutoShape 3"/>
          <p:cNvSpPr/>
          <p:nvPr/>
        </p:nvSpPr>
        <p:spPr>
          <a:xfrm>
            <a:off x="0" y="3937000"/>
            <a:ext cx="1219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0" i="0" u="none" strike="noStrike" spc="400">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感谢聆听</a:t>
            </a:r>
            <a:endParaRPr lang="en-US" sz="1100"/>
          </a:p>
        </p:txBody>
      </p:sp>
      <p:sp>
        <p:nvSpPr>
          <p:cNvPr id="4" name="AutoShape 4"/>
          <p:cNvSpPr/>
          <p:nvPr/>
        </p:nvSpPr>
        <p:spPr>
          <a:xfrm>
            <a:off x="0" y="4953000"/>
            <a:ext cx="1219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spc="600">
                <a:solidFill>
                  <a:srgbClr val="94A3B8"/>
                </a:solidFill>
                <a:latin typeface="Noto Sans SC" panose="020B0200000000000000" charset="-122"/>
                <a:ea typeface="Noto Sans SC" panose="020B0200000000000000" charset="-122"/>
                <a:cs typeface="Noto Sans SC" panose="020B0200000000000000" charset="-122"/>
                <a:sym typeface="Noto Sans SC" panose="020B0200000000000000" charset="-122"/>
              </a:rPr>
              <a:t>THANKS FOR LISTENING</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7750</Words>
  <Application>WPS 演示</Application>
  <PresentationFormat/>
  <Paragraphs>760</Paragraphs>
  <Slides>30</Slides>
  <Notes>0</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30</vt:i4>
      </vt:variant>
    </vt:vector>
  </HeadingPairs>
  <TitlesOfParts>
    <vt:vector size="41" baseType="lpstr">
      <vt:lpstr>Arial</vt:lpstr>
      <vt:lpstr>宋体</vt:lpstr>
      <vt:lpstr>Wingdings</vt:lpstr>
      <vt:lpstr>Arial</vt:lpstr>
      <vt:lpstr>Noto Sans SC</vt:lpstr>
      <vt:lpstr>微软雅黑</vt:lpstr>
      <vt:lpstr>Arial Unicode MS</vt:lpstr>
      <vt:lpstr>Source Code Pro</vt:lpstr>
      <vt:lpstr>Segoe Print</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韩俊杰</cp:lastModifiedBy>
  <cp:revision>2</cp:revision>
  <dcterms:created xsi:type="dcterms:W3CDTF">2026-04-23T08:28:00Z</dcterms:created>
  <dcterms:modified xsi:type="dcterms:W3CDTF">2026-04-23T08:49:25Z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2052-12.1.0.25865</vt:lpwstr>
  </property>
  <property fmtid="{D5CDD505-2E9C-101B-9397-08002B2CF9AE}" pid="3" name="ICV">
    <vt:lpwstr>D6BAABC71D674E4F8C044C7131A5395A_13</vt:lpwstr>
  </property>
</Properties>
</file>