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15" r:id="rId3"/>
    <p:sldId id="735" r:id="rId5"/>
    <p:sldId id="760" r:id="rId6"/>
    <p:sldId id="766" r:id="rId7"/>
    <p:sldId id="767" r:id="rId8"/>
    <p:sldId id="769" r:id="rId9"/>
    <p:sldId id="770" r:id="rId10"/>
    <p:sldId id="771" r:id="rId11"/>
    <p:sldId id="772" r:id="rId12"/>
    <p:sldId id="774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A80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26" autoAdjust="0"/>
  </p:normalViewPr>
  <p:slideViewPr>
    <p:cSldViewPr showGuides="1">
      <p:cViewPr varScale="1">
        <p:scale>
          <a:sx n="124" d="100"/>
          <a:sy n="124" d="100"/>
        </p:scale>
        <p:origin x="1260" y="10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829E3-13F2-4E19-9273-EABF141580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672A4-34F0-401E-AF30-F01FC17B1A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672A4-34F0-401E-AF30-F01FC17B1A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/>
          <p:cNvSpPr>
            <a:spLocks noChangeArrowheads="1"/>
          </p:cNvSpPr>
          <p:nvPr/>
        </p:nvSpPr>
        <p:spPr bwMode="hidden">
          <a:xfrm>
            <a:off x="0" y="2214563"/>
            <a:ext cx="4724400" cy="157162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hidden">
          <a:xfrm>
            <a:off x="3962400" y="2214563"/>
            <a:ext cx="4724400" cy="1571625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lang="zh-CN" altLang="en-US" sz="4800" b="1" kern="120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800" b="1" kern="1200" noProof="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2017/8/25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5" name="图片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57313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3BD7D-2766-4CF9-B6A4-72FF97A2B5F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1AC4-0053-4D26-A511-F8E9CA22E22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1F7C-4665-4307-905B-D54A7BD5D43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7E09-A18B-4277-84A2-BEAF905A688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B31E7-49EF-4A3E-8979-643003BA5DA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482B-6CB4-426B-9DF7-B080685843E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D3AEB-D8AA-4032-A777-7012004137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EA6E-EE4A-4AC3-9664-E770B55A195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1A87B-FAB3-43B6-8C87-65C92FC281D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57290" y="274638"/>
            <a:ext cx="7329510" cy="93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</a:t>
            </a:r>
            <a:r>
              <a:rPr lang="en-US" altLang="zh-CN" dirty="0"/>
              <a:t>int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4748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6D096-8954-4DD9-8A11-9FB1686D640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0" y="0"/>
            <a:ext cx="1357313" cy="143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85875" y="128586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/>
          </a:p>
        </p:txBody>
      </p:sp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华文楷体" panose="02010600040101010101" pitchFamily="2" charset="-122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u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p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6583" y="2236787"/>
            <a:ext cx="8892480" cy="1470025"/>
          </a:xfrm>
        </p:spPr>
        <p:txBody>
          <a:bodyPr>
            <a:noAutofit/>
          </a:bodyPr>
          <a:lstStyle/>
          <a:p>
            <a:r>
              <a:rPr sz="3200">
                <a:solidFill>
                  <a:srgbClr val="1F497D"/>
                </a:solidFill>
                <a:latin typeface="微软雅黑" panose="020B0503020204020204" charset="-122"/>
                <a:sym typeface="+mn-ea"/>
              </a:rPr>
              <a:t>现代模糊测试技术的演进与挑战</a:t>
            </a:r>
            <a:endParaRPr sz="32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67430" y="3933190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汇报人</a:t>
            </a:r>
            <a:r>
              <a:rPr lang="en-US" altLang="zh-CN"/>
              <a:t>: </a:t>
            </a:r>
            <a:r>
              <a:rPr lang="zh-CN" altLang="en-US"/>
              <a:t>陆星玮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6995" y="274955"/>
            <a:ext cx="6536690" cy="939800"/>
          </a:xfrm>
        </p:spPr>
        <p:txBody>
          <a:bodyPr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Box 4"/>
          <p:cNvSpPr txBox="1"/>
          <p:nvPr/>
        </p:nvSpPr>
        <p:spPr>
          <a:xfrm>
            <a:off x="36576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01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868680" y="1371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研究背景与核心挑战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7"/>
          <p:cNvSpPr txBox="1"/>
          <p:nvPr/>
        </p:nvSpPr>
        <p:spPr>
          <a:xfrm>
            <a:off x="365760" y="2011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868680" y="2011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三条技术路线概览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36576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03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868680" y="2651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现有方法存在的问题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365760" y="32918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04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8" name="TextBox 14"/>
          <p:cNvSpPr txBox="1"/>
          <p:nvPr/>
        </p:nvSpPr>
        <p:spPr>
          <a:xfrm>
            <a:off x="868680" y="32918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创新方向一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9" name="TextBox 16"/>
          <p:cNvSpPr txBox="1"/>
          <p:nvPr/>
        </p:nvSpPr>
        <p:spPr>
          <a:xfrm>
            <a:off x="365760" y="3931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05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17"/>
          <p:cNvSpPr txBox="1"/>
          <p:nvPr/>
        </p:nvSpPr>
        <p:spPr>
          <a:xfrm>
            <a:off x="868680" y="3931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创新方向二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65760" y="4572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06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32" name="TextBox 20"/>
          <p:cNvSpPr txBox="1"/>
          <p:nvPr/>
        </p:nvSpPr>
        <p:spPr>
          <a:xfrm>
            <a:off x="868680" y="4572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实施路线图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3" name="TextBox 22"/>
          <p:cNvSpPr txBox="1"/>
          <p:nvPr/>
        </p:nvSpPr>
        <p:spPr>
          <a:xfrm>
            <a:off x="365760" y="521207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07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34" name="TextBox 23"/>
          <p:cNvSpPr txBox="1"/>
          <p:nvPr/>
        </p:nvSpPr>
        <p:spPr>
          <a:xfrm>
            <a:off x="868680" y="52120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微软雅黑" panose="020B0503020204020204" charset="-122"/>
              </a:rPr>
              <a:t>总结与展望</a:t>
            </a:r>
            <a:endParaRPr sz="16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5" name="TextBox 6"/>
          <p:cNvSpPr txBox="1"/>
          <p:nvPr/>
        </p:nvSpPr>
        <p:spPr>
          <a:xfrm>
            <a:off x="868680" y="16916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技术维度 / 应用维度 / 资源维度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6" name="TextBox 9"/>
          <p:cNvSpPr txBox="1"/>
          <p:nvPr/>
        </p:nvSpPr>
        <p:spPr>
          <a:xfrm>
            <a:off x="868680" y="23317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覆盖引导 / 符号执行混合 / 学习·LLM 引导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7" name="TextBox 12"/>
          <p:cNvSpPr txBox="1"/>
          <p:nvPr/>
        </p:nvSpPr>
        <p:spPr>
          <a:xfrm>
            <a:off x="868680" y="297180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方法论假设 / 实验评估 / 技术泛化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868680" y="361187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分层自适应混合模糊测试框架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39" name="TextBox 18"/>
          <p:cNvSpPr txBox="1"/>
          <p:nvPr/>
        </p:nvSpPr>
        <p:spPr>
          <a:xfrm>
            <a:off x="868680" y="425195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漏洞模式预测引导测试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0" name="TextBox 21"/>
          <p:cNvSpPr txBox="1"/>
          <p:nvPr/>
        </p:nvSpPr>
        <p:spPr>
          <a:xfrm>
            <a:off x="868680" y="48920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短期 / 中期 / 长期三阶段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41" name="TextBox 24"/>
          <p:cNvSpPr txBox="1"/>
          <p:nvPr/>
        </p:nvSpPr>
        <p:spPr>
          <a:xfrm>
            <a:off x="868680" y="5532119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 panose="020B0503020204020204" charset="-122"/>
              </a:rPr>
              <a:t>核心结论 / 未来方向</a:t>
            </a:r>
            <a:endParaRPr sz="11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研究问题</a:t>
            </a:r>
            <a:r>
              <a:rPr lang="zh-CN" altLang="en-US" dirty="0">
                <a:sym typeface="+mn-ea"/>
              </a:rPr>
              <a:t>与核心挑战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4"/>
          <p:cNvSpPr txBox="1"/>
          <p:nvPr/>
        </p:nvSpPr>
        <p:spPr>
          <a:xfrm>
            <a:off x="438785" y="4076827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 panose="020B0503020204020204" charset="-122"/>
              </a:rPr>
              <a:t>模糊测试（Fuzzing）通过向目标程序输入大量随机或半随机数据并监控异常行为，已成为软件安全测试领域的核心漏洞发现技术。</a:t>
            </a:r>
            <a:endParaRPr sz="13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365760" y="1737360"/>
            <a:ext cx="26974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6"/>
          <p:cNvSpPr txBox="1"/>
          <p:nvPr/>
        </p:nvSpPr>
        <p:spPr>
          <a:xfrm>
            <a:off x="365760" y="17373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技术维度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438912" y="2267712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路径爆炸：分支数量随输入复杂度指数增长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输入有效性验证：无效输入浪费资源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状态探索复杂性：有状态程序状态依赖复杂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变异策略：激进→失效 / 保守→低效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8"/>
          <p:cNvSpPr/>
          <p:nvPr/>
        </p:nvSpPr>
        <p:spPr>
          <a:xfrm>
            <a:off x="3264408" y="1737360"/>
            <a:ext cx="2697480" cy="438912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9"/>
          <p:cNvSpPr txBox="1"/>
          <p:nvPr/>
        </p:nvSpPr>
        <p:spPr>
          <a:xfrm>
            <a:off x="3264408" y="17373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应用维度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3410585" y="2267712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跨语言适配：多语言特性要求跨工具链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领域差异：嵌入式/Web/移动场景各异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语义鸿沟：复杂API接口约束条件难建模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1"/>
          <p:cNvSpPr/>
          <p:nvPr/>
        </p:nvSpPr>
        <p:spPr>
          <a:xfrm>
            <a:off x="6163056" y="1737360"/>
            <a:ext cx="2697480" cy="438912"/>
          </a:xfrm>
          <a:prstGeom prst="rect">
            <a:avLst/>
          </a:prstGeom>
          <a:solidFill>
            <a:srgbClr val="2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2"/>
          <p:cNvSpPr txBox="1"/>
          <p:nvPr/>
        </p:nvSpPr>
        <p:spPr>
          <a:xfrm>
            <a:off x="6163056" y="17373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资源维度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6236208" y="2267712"/>
            <a:ext cx="255117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计算资源约束下最大化漏洞发现效率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ML模型内存消耗显著（↑3倍）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边缘/移动设备能效要求高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365760" y="553212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497D"/>
                </a:solidFill>
                <a:latin typeface="微软雅黑" panose="020B0503020204020204" charset="-122"/>
              </a:rPr>
              <a:t>核心目标：在有限资源下最大化漏洞发现效率</a:t>
            </a:r>
            <a:endParaRPr sz="13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主要方法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4"/>
          <p:cNvSpPr/>
          <p:nvPr/>
        </p:nvSpPr>
        <p:spPr>
          <a:xfrm>
            <a:off x="365760" y="1600200"/>
            <a:ext cx="146304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5"/>
          <p:cNvSpPr txBox="1"/>
          <p:nvPr/>
        </p:nvSpPr>
        <p:spPr>
          <a:xfrm>
            <a:off x="640080" y="16002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 panose="020B0503020204020204" charset="-122"/>
              </a:rPr>
              <a:t>① 覆盖引导</a:t>
            </a:r>
            <a:endParaRPr sz="15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640080" y="1984247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AFL++ 为代表，轻量级插桩监控代码覆盖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365760" y="251460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微软雅黑" panose="020B0503020204020204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sz="900" b="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365760" y="2651760"/>
            <a:ext cx="146304" cy="86868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9"/>
          <p:cNvSpPr txBox="1"/>
          <p:nvPr/>
        </p:nvSpPr>
        <p:spPr>
          <a:xfrm>
            <a:off x="640080" y="26517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6A10"/>
                </a:solidFill>
                <a:latin typeface="微软雅黑" panose="020B0503020204020204" charset="-122"/>
              </a:rPr>
              <a:t>② 符号执行混合</a:t>
            </a:r>
            <a:endParaRPr sz="1500" b="1">
              <a:solidFill>
                <a:srgbClr val="E86A1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640080" y="303580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SymCC / QSYM，具体执行 + 符号执行相结合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365760" y="356616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微软雅黑" panose="020B0503020204020204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sz="900" b="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2"/>
          <p:cNvSpPr/>
          <p:nvPr/>
        </p:nvSpPr>
        <p:spPr>
          <a:xfrm>
            <a:off x="365760" y="3703320"/>
            <a:ext cx="146304" cy="868680"/>
          </a:xfrm>
          <a:prstGeom prst="rect">
            <a:avLst/>
          </a:prstGeom>
          <a:solidFill>
            <a:srgbClr val="2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3"/>
          <p:cNvSpPr txBox="1"/>
          <p:nvPr/>
        </p:nvSpPr>
        <p:spPr>
          <a:xfrm>
            <a:off x="640080" y="3703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B4C"/>
                </a:solidFill>
                <a:latin typeface="微软雅黑" panose="020B0503020204020204" charset="-122"/>
              </a:rPr>
              <a:t>③ 学习·LLM引导</a:t>
            </a:r>
            <a:endParaRPr sz="1500" b="1">
              <a:solidFill>
                <a:srgbClr val="2E8B4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640080" y="4087368"/>
            <a:ext cx="80467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66666"/>
                </a:solidFill>
                <a:latin typeface="微软雅黑" panose="020B0503020204020204" charset="-122"/>
                <a:sym typeface="+mn-ea"/>
              </a:rPr>
              <a:t>Once4All</a:t>
            </a:r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 / Learn&amp;Fuzz，LLM 生成语义有效输入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微软雅黑" panose="020B0503020204020204" charset="-122"/>
              </a:rPr>
              <a:t>方法选择取决于目标程序特征与测试场景：</a:t>
            </a:r>
            <a:endParaRPr sz="12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457200" y="5074920"/>
            <a:ext cx="8321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AFL++  适用大规模回归测试，资源受限但覆盖优先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SymCC/QSYM  适用复杂约束的深层路径探索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LLM引导  适用 API 测试等多语言语义丰富场景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F497D"/>
                </a:solidFill>
                <a:latin typeface="微软雅黑" panose="020B0503020204020204" charset="-122"/>
                <a:sym typeface="+mn-ea"/>
              </a:rPr>
              <a:t>覆盖引导 &amp; 符号执行融合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3215" y="6195695"/>
            <a:ext cx="2133600" cy="365125"/>
          </a:xfrm>
        </p:spPr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60065" y="6247130"/>
            <a:ext cx="2895600" cy="365125"/>
          </a:xfrm>
        </p:spPr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10655" y="6247130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97940" y="1748155"/>
            <a:ext cx="6938645" cy="2456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365760" y="141287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AFL++ — 覆盖引导代表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457200" y="1824355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模块化集成框架，AFL 的增强版本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输入调度优化 + 变异策略扩展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插件架构支持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评估指标：代码覆盖率 / 独特崩溃数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局限：深层漏洞、复杂约束探索能力有限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754880" y="141287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10"/>
                </a:solidFill>
                <a:latin typeface="微软雅黑" panose="020B0503020204020204" charset="-122"/>
              </a:rPr>
              <a:t>SymCC &amp; QSYM — 符号执行混合</a:t>
            </a:r>
            <a:endParaRPr sz="1400" b="1">
              <a:solidFill>
                <a:srgbClr val="E86A1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4846320" y="1824355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SymCC：编译器深度集成，LLVM IR 级符号执行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QSYM：选择性符号执行，仅复杂约束时启用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优势：处理复杂条件分支的深层路径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局限：路径爆炸 / 求解开销高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非线性约束、浮点运算时效率骤降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2" name="TextBox 8"/>
          <p:cNvSpPr txBox="1"/>
          <p:nvPr/>
        </p:nvSpPr>
        <p:spPr>
          <a:xfrm>
            <a:off x="323215" y="3256915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  <a:latin typeface="微软雅黑" panose="020B0503020204020204" charset="-122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sz="900" b="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323215" y="3531235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微软雅黑" panose="020B0503020204020204" charset="-122"/>
              </a:rPr>
              <a:t>对比矩阵</a:t>
            </a:r>
            <a:endParaRPr sz="13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323215" y="389699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微软雅黑" panose="020B0503020204020204" charset="-122"/>
              </a:rPr>
              <a:t>方法</a:t>
            </a:r>
            <a:endParaRPr sz="11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694815" y="38969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微软雅黑" panose="020B0503020204020204" charset="-122"/>
              </a:rPr>
              <a:t>技术路线</a:t>
            </a:r>
            <a:endParaRPr sz="11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2"/>
          <p:cNvSpPr txBox="1"/>
          <p:nvPr/>
        </p:nvSpPr>
        <p:spPr>
          <a:xfrm>
            <a:off x="3523615" y="389699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微软雅黑" panose="020B0503020204020204" charset="-122"/>
              </a:rPr>
              <a:t>核心创新</a:t>
            </a:r>
            <a:endParaRPr sz="11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5809615" y="389699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497D"/>
                </a:solidFill>
                <a:latin typeface="微软雅黑" panose="020B0503020204020204" charset="-122"/>
              </a:rPr>
              <a:t>主要局限</a:t>
            </a:r>
            <a:endParaRPr sz="11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323215" y="421703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 panose="020B0503020204020204" charset="-122"/>
              </a:rPr>
              <a:t>AFL++</a:t>
            </a:r>
            <a:endParaRPr sz="11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1694815" y="421703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覆盖引导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1" name="TextBox 16"/>
          <p:cNvSpPr txBox="1"/>
          <p:nvPr/>
        </p:nvSpPr>
        <p:spPr>
          <a:xfrm>
            <a:off x="3523615" y="42170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模块化集成框架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17"/>
          <p:cNvSpPr txBox="1"/>
          <p:nvPr/>
        </p:nvSpPr>
        <p:spPr>
          <a:xfrm>
            <a:off x="5809615" y="4217035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0000"/>
                </a:solidFill>
                <a:latin typeface="微软雅黑" panose="020B0503020204020204" charset="-122"/>
              </a:rPr>
              <a:t>复杂约束探索有限</a:t>
            </a:r>
            <a:endParaRPr sz="1000" b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18"/>
          <p:cNvSpPr txBox="1"/>
          <p:nvPr/>
        </p:nvSpPr>
        <p:spPr>
          <a:xfrm>
            <a:off x="323215" y="467423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 panose="020B0503020204020204" charset="-122"/>
              </a:rPr>
              <a:t>SymCC</a:t>
            </a:r>
            <a:endParaRPr sz="11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1694815" y="467423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符号执行混合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0"/>
          <p:cNvSpPr txBox="1"/>
          <p:nvPr/>
        </p:nvSpPr>
        <p:spPr>
          <a:xfrm>
            <a:off x="3523615" y="46742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编译器深度集成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1"/>
          <p:cNvSpPr txBox="1"/>
          <p:nvPr/>
        </p:nvSpPr>
        <p:spPr>
          <a:xfrm>
            <a:off x="5809615" y="4674235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0000"/>
                </a:solidFill>
                <a:latin typeface="微软雅黑" panose="020B0503020204020204" charset="-122"/>
              </a:rPr>
              <a:t>路径爆炸/求解开销高</a:t>
            </a:r>
            <a:endParaRPr sz="1000" b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2"/>
          <p:cNvSpPr txBox="1"/>
          <p:nvPr/>
        </p:nvSpPr>
        <p:spPr>
          <a:xfrm>
            <a:off x="323215" y="513143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  <a:latin typeface="微软雅黑" panose="020B0503020204020204" charset="-122"/>
              </a:rPr>
              <a:t>QSYM</a:t>
            </a:r>
            <a:endParaRPr sz="1100" b="1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3"/>
          <p:cNvSpPr txBox="1"/>
          <p:nvPr/>
        </p:nvSpPr>
        <p:spPr>
          <a:xfrm>
            <a:off x="1694815" y="513143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符号执行混合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4"/>
          <p:cNvSpPr txBox="1"/>
          <p:nvPr/>
        </p:nvSpPr>
        <p:spPr>
          <a:xfrm>
            <a:off x="3523615" y="5131435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 panose="020B0503020204020204" charset="-122"/>
              </a:rPr>
              <a:t>选择性符号执行降开销</a:t>
            </a:r>
            <a:endParaRPr sz="10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5"/>
          <p:cNvSpPr txBox="1"/>
          <p:nvPr/>
        </p:nvSpPr>
        <p:spPr>
          <a:xfrm>
            <a:off x="5809615" y="5131435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0000"/>
                </a:solidFill>
                <a:latin typeface="微软雅黑" panose="020B0503020204020204" charset="-122"/>
              </a:rPr>
              <a:t>非线性/浮点效率低</a:t>
            </a:r>
            <a:endParaRPr sz="1000" b="0">
              <a:solidFill>
                <a:srgbClr val="C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F497D"/>
                </a:solidFill>
                <a:latin typeface="微软雅黑" panose="020B0503020204020204" charset="-122"/>
                <a:sym typeface="+mn-ea"/>
              </a:rPr>
              <a:t>学习 · LLM 引导方法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785" y="1909445"/>
            <a:ext cx="4966335" cy="444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TextBox 4"/>
          <p:cNvSpPr txBox="1"/>
          <p:nvPr/>
        </p:nvSpPr>
        <p:spPr>
          <a:xfrm>
            <a:off x="395605" y="155638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 panose="020B0503020204020204" charset="-122"/>
              </a:rPr>
              <a:t>Once4All (ASPLOS 2026) — LLM 合成生成器范式</a:t>
            </a:r>
            <a:endParaRPr sz="1400" b="1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457200" y="1988820"/>
            <a:ext cx="8229600" cy="127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首次提出利用 LLM 合成测试生成器的思路（骨架引导）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三组件：骨架提取 / LLM生成器合成 / 执行监控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针对 SMT 求解器（Z3、CVC5、Bitwuzla）进行系统评估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相比 baseline 平均多发现 Bug，复杂约束场景效果突出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局限：生成器质量依赖骨架质量；跨求解器迁移需重新提取骨架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365760" y="3573145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C"/>
                </a:solidFill>
                <a:latin typeface="微软雅黑" panose="020B0503020204020204" charset="-122"/>
              </a:rPr>
              <a:t>Learn&amp;Fuzz — 神经网络语法学习</a:t>
            </a:r>
            <a:endParaRPr sz="1400" b="1">
              <a:solidFill>
                <a:srgbClr val="2E8B4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457200" y="4220845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Seq2Seq 神经网络学习输入语法结构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专注结构化输入（XML / JSON）生成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局限：需大量训练数据和计算资源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8"/>
          <p:cNvSpPr/>
          <p:nvPr/>
        </p:nvSpPr>
        <p:spPr>
          <a:xfrm>
            <a:off x="457200" y="5445125"/>
            <a:ext cx="8412480" cy="41148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9"/>
          <p:cNvSpPr txBox="1"/>
          <p:nvPr/>
        </p:nvSpPr>
        <p:spPr>
          <a:xfrm>
            <a:off x="467995" y="55168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5B6"/>
                </a:solidFill>
                <a:latin typeface="微软雅黑" panose="020B0503020204020204" charset="-122"/>
              </a:rPr>
              <a:t>▶ 范式转变：模糊测试从「变异现有输入」→「LLM 生成全新测试生成器」</a:t>
            </a:r>
            <a:endParaRPr sz="12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研究问题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4"/>
          <p:cNvSpPr txBox="1"/>
          <p:nvPr/>
        </p:nvSpPr>
        <p:spPr>
          <a:xfrm>
            <a:off x="3657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 panose="020B0503020204020204" charset="-122"/>
              </a:rPr>
              <a:t>① 方法论假设缺陷</a:t>
            </a:r>
            <a:endParaRPr sz="1400" b="1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365760" y="2057400"/>
            <a:ext cx="2743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程序行为完全可观测假设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逻辑漏洞、权限提升等无异常行为的漏洞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无法检测，需专门的检测机制或人工审查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输入独立性与可重复性假设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有状态程序的状态依赖被忽略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累积效应掩盖重要漏洞触发条件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3310128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 panose="020B0503020204020204" charset="-122"/>
              </a:rPr>
              <a:t>② 实验评估局限</a:t>
            </a:r>
            <a:endParaRPr sz="1400" b="1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7"/>
          <p:cNvSpPr txBox="1"/>
          <p:nvPr/>
        </p:nvSpPr>
        <p:spPr>
          <a:xfrm>
            <a:off x="3310128" y="2057400"/>
            <a:ext cx="2743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基准集规模/复杂性与工业真实软件存在显著差距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评估指标单一化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过度依赖代码覆盖率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忽略语义覆盖、安全属性、漏洞严重性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优化方向偏离实际需求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6254496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微软雅黑" panose="020B0503020204020204" charset="-122"/>
              </a:rPr>
              <a:t>③ 技术泛化挑战</a:t>
            </a:r>
            <a:endParaRPr sz="1400" b="1">
              <a:solidFill>
                <a:srgbClr val="C0000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6254496" y="2057400"/>
            <a:ext cx="2743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特定领域/语言优化，迁移效果显著下降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C/C++ 工具难以迁移到 JS/Python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CI/CD 集成复杂度高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高误报率导致警报疲劳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微软雅黑" panose="020B0503020204020204" charset="-122"/>
              </a:rPr>
              <a:t>  → 降低开发人员对测试结果的信任</a:t>
            </a:r>
            <a:endParaRPr sz="11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6205"/>
            <a:ext cx="7988935" cy="939800"/>
          </a:xfrm>
        </p:spPr>
        <p:txBody>
          <a:bodyPr/>
          <a:lstStyle/>
          <a:p>
            <a:r>
              <a:rPr lang="zh-CN" altLang="en-US" sz="2800" dirty="0"/>
              <a:t>创新方法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sz="28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分层自适应混合框架</a:t>
            </a: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TextBox 4"/>
          <p:cNvSpPr txBox="1"/>
          <p:nvPr/>
        </p:nvSpPr>
        <p:spPr>
          <a:xfrm>
            <a:off x="1475740" y="90881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核心思想：根据测试进展和目标特征动态调整技术组合，实现测试效率显著提升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365760" y="1645920"/>
            <a:ext cx="4572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365760" y="16459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914400" y="16916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分析层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914400" y="2011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目标程序特征提取与复杂度评估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502920" y="22128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5B6"/>
                </a:solidFill>
                <a:latin typeface="微软雅黑" panose="020B0503020204020204" charset="-122"/>
              </a:rPr>
              <a:t>▼</a:t>
            </a:r>
            <a:endParaRPr sz="1200" b="0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365760" y="2340864"/>
            <a:ext cx="457200" cy="64008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1"/>
          <p:cNvSpPr txBox="1"/>
          <p:nvPr/>
        </p:nvSpPr>
        <p:spPr>
          <a:xfrm>
            <a:off x="365760" y="2340864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914400" y="23865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6A10"/>
                </a:solidFill>
                <a:latin typeface="微软雅黑" panose="020B0503020204020204" charset="-122"/>
              </a:rPr>
              <a:t>决策层</a:t>
            </a:r>
            <a:endParaRPr sz="1400" b="1">
              <a:solidFill>
                <a:srgbClr val="E86A1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914400" y="27066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基于多臂赌博机动态选择技术组合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502920" y="290779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6A10"/>
                </a:solidFill>
                <a:latin typeface="微软雅黑" panose="020B0503020204020204" charset="-122"/>
              </a:rPr>
              <a:t>▼</a:t>
            </a:r>
            <a:endParaRPr sz="1200" b="0">
              <a:solidFill>
                <a:srgbClr val="E86A1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5"/>
          <p:cNvSpPr/>
          <p:nvPr/>
        </p:nvSpPr>
        <p:spPr>
          <a:xfrm>
            <a:off x="365760" y="3035808"/>
            <a:ext cx="457200" cy="640080"/>
          </a:xfrm>
          <a:prstGeom prst="rect">
            <a:avLst/>
          </a:prstGeom>
          <a:solidFill>
            <a:srgbClr val="2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6"/>
          <p:cNvSpPr txBox="1"/>
          <p:nvPr/>
        </p:nvSpPr>
        <p:spPr>
          <a:xfrm>
            <a:off x="365760" y="303580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914400" y="30815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4C"/>
                </a:solidFill>
                <a:latin typeface="微软雅黑" panose="020B0503020204020204" charset="-122"/>
              </a:rPr>
              <a:t>执行层</a:t>
            </a:r>
            <a:endParaRPr sz="1400" b="1">
              <a:solidFill>
                <a:srgbClr val="2E8B4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18"/>
          <p:cNvSpPr txBox="1"/>
          <p:nvPr/>
        </p:nvSpPr>
        <p:spPr>
          <a:xfrm>
            <a:off x="914400" y="34015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覆盖引导 + 符号辅助 + 学习引导三子层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502920" y="36027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8B4C"/>
                </a:solidFill>
                <a:latin typeface="微软雅黑" panose="020B0503020204020204" charset="-122"/>
              </a:rPr>
              <a:t>▼</a:t>
            </a:r>
            <a:endParaRPr sz="1200" b="0">
              <a:solidFill>
                <a:srgbClr val="2E8B4C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365760" y="3730752"/>
            <a:ext cx="45720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1"/>
          <p:cNvSpPr txBox="1"/>
          <p:nvPr/>
        </p:nvSpPr>
        <p:spPr>
          <a:xfrm>
            <a:off x="365760" y="373075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914400" y="3776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E44AD"/>
                </a:solidFill>
                <a:latin typeface="微软雅黑" panose="020B0503020204020204" charset="-122"/>
              </a:rPr>
              <a:t>反馈层</a:t>
            </a:r>
            <a:endParaRPr sz="1400" b="1">
              <a:solidFill>
                <a:srgbClr val="8E44AD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914400" y="40965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收集测试效果，动态优化策略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4"/>
          <p:cNvSpPr txBox="1"/>
          <p:nvPr/>
        </p:nvSpPr>
        <p:spPr>
          <a:xfrm>
            <a:off x="502920" y="42976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E44AD"/>
                </a:solidFill>
                <a:latin typeface="微软雅黑" panose="020B0503020204020204" charset="-122"/>
              </a:rPr>
              <a:t>▼</a:t>
            </a:r>
            <a:endParaRPr sz="1200" b="0">
              <a:solidFill>
                <a:srgbClr val="8E44AD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5"/>
          <p:cNvSpPr/>
          <p:nvPr/>
        </p:nvSpPr>
        <p:spPr>
          <a:xfrm>
            <a:off x="365760" y="4425696"/>
            <a:ext cx="457200" cy="640080"/>
          </a:xfrm>
          <a:prstGeom prst="rect">
            <a:avLst/>
          </a:prstGeom>
          <a:solidFill>
            <a:srgbClr val="176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6"/>
          <p:cNvSpPr txBox="1"/>
          <p:nvPr/>
        </p:nvSpPr>
        <p:spPr>
          <a:xfrm>
            <a:off x="365760" y="4425696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914400" y="44714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653D"/>
                </a:solidFill>
                <a:latin typeface="微软雅黑" panose="020B0503020204020204" charset="-122"/>
              </a:rPr>
              <a:t>资源层</a:t>
            </a:r>
            <a:endParaRPr sz="1400" b="1">
              <a:solidFill>
                <a:srgbClr val="17653D"/>
              </a:solidFill>
              <a:latin typeface="微软雅黑" panose="020B0503020204020204" charset="-122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914400" y="47914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管理计算 / 内存 / 时间资源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32" name="TextBox 29"/>
          <p:cNvSpPr txBox="1"/>
          <p:nvPr/>
        </p:nvSpPr>
        <p:spPr>
          <a:xfrm>
            <a:off x="365760" y="537667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微软雅黑" panose="020B0503020204020204" charset="-122"/>
              </a:rPr>
              <a:t>▶ 核心创新：自适应调度机制——根据实时测试反馈动态调整各层资源分配和技术选择</a:t>
            </a:r>
            <a:endParaRPr sz="12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0"/>
          <p:cNvSpPr txBox="1"/>
          <p:nvPr/>
        </p:nvSpPr>
        <p:spPr>
          <a:xfrm>
            <a:off x="365760" y="5742432"/>
            <a:ext cx="8412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2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7200" y="1412875"/>
            <a:ext cx="7816215" cy="286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914400" y="116205"/>
            <a:ext cx="7988935" cy="939800"/>
          </a:xfrm>
        </p:spPr>
        <p:txBody>
          <a:bodyPr/>
          <a:lstStyle/>
          <a:p>
            <a:r>
              <a:rPr lang="zh-CN" altLang="en-US" sz="2800" dirty="0"/>
              <a:t>创新方法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sz="2800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漏洞模式预测引导测试</a:t>
            </a: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1475740" y="90881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微软雅黑" panose="020B0503020204020204" charset="-122"/>
              </a:rPr>
              <a:t>核心思想：通过漏洞模式预测优先测试高危代码区域，大幅提高测试资源聚焦度</a:t>
            </a:r>
            <a:endParaRPr sz="1200" b="0">
              <a:solidFill>
                <a:srgbClr val="66666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5"/>
          <p:cNvSpPr/>
          <p:nvPr/>
        </p:nvSpPr>
        <p:spPr>
          <a:xfrm>
            <a:off x="295275" y="1686433"/>
            <a:ext cx="841248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6"/>
          <p:cNvSpPr txBox="1"/>
          <p:nvPr/>
        </p:nvSpPr>
        <p:spPr>
          <a:xfrm>
            <a:off x="386715" y="172300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离线学习阶段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386715" y="2235073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① 从 CVE/NVD 历史漏洞库提取代码模式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② 训练预测模型识别易漏洞特征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③ 多粒度特征：函数 / 基本块 / 语句多层次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4364355" y="2829433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75B6"/>
                </a:solidFill>
                <a:latin typeface="微软雅黑" panose="020B0503020204020204" charset="-122"/>
              </a:rPr>
              <a:t>▼</a:t>
            </a:r>
            <a:endParaRPr sz="1600" b="0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9"/>
          <p:cNvSpPr/>
          <p:nvPr/>
        </p:nvSpPr>
        <p:spPr>
          <a:xfrm>
            <a:off x="295275" y="3039745"/>
            <a:ext cx="8412480" cy="438912"/>
          </a:xfrm>
          <a:prstGeom prst="rect">
            <a:avLst/>
          </a:prstGeom>
          <a:solidFill>
            <a:srgbClr val="2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0"/>
          <p:cNvSpPr txBox="1"/>
          <p:nvPr/>
        </p:nvSpPr>
        <p:spPr>
          <a:xfrm>
            <a:off x="386715" y="307632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在线预测阶段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1"/>
          <p:cNvSpPr txBox="1"/>
          <p:nvPr/>
        </p:nvSpPr>
        <p:spPr>
          <a:xfrm>
            <a:off x="457200" y="3573145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④ 对目标程序静态分析：控制流 / 数据依赖 / API使用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⑤ 预测各代码区域漏洞风险评分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⑥ 基于评分分配测试资源，优先高危区域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2"/>
          <p:cNvSpPr txBox="1"/>
          <p:nvPr/>
        </p:nvSpPr>
        <p:spPr>
          <a:xfrm>
            <a:off x="323215" y="433387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  <a:latin typeface="微软雅黑" panose="020B0503020204020204" charset="-122"/>
              </a:rPr>
              <a:t>关键技术创新</a:t>
            </a:r>
            <a:endParaRPr sz="13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13"/>
          <p:cNvSpPr/>
          <p:nvPr/>
        </p:nvSpPr>
        <p:spPr>
          <a:xfrm>
            <a:off x="295275" y="4685665"/>
            <a:ext cx="1965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4"/>
          <p:cNvSpPr txBox="1"/>
          <p:nvPr/>
        </p:nvSpPr>
        <p:spPr>
          <a:xfrm>
            <a:off x="251460" y="458152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多粒度特征提取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15"/>
          <p:cNvSpPr/>
          <p:nvPr/>
        </p:nvSpPr>
        <p:spPr>
          <a:xfrm>
            <a:off x="2398394" y="4685665"/>
            <a:ext cx="1965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16"/>
          <p:cNvSpPr txBox="1"/>
          <p:nvPr/>
        </p:nvSpPr>
        <p:spPr>
          <a:xfrm>
            <a:off x="2398394" y="468566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图神经网络建模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17"/>
          <p:cNvSpPr/>
          <p:nvPr/>
        </p:nvSpPr>
        <p:spPr>
          <a:xfrm>
            <a:off x="4501515" y="4685665"/>
            <a:ext cx="1965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18"/>
          <p:cNvSpPr txBox="1"/>
          <p:nvPr/>
        </p:nvSpPr>
        <p:spPr>
          <a:xfrm>
            <a:off x="4501515" y="468566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在线持续学习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19"/>
          <p:cNvSpPr/>
          <p:nvPr/>
        </p:nvSpPr>
        <p:spPr>
          <a:xfrm>
            <a:off x="6604635" y="4685665"/>
            <a:ext cx="1965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0"/>
          <p:cNvSpPr txBox="1"/>
          <p:nvPr/>
        </p:nvSpPr>
        <p:spPr>
          <a:xfrm>
            <a:off x="6604635" y="4685665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跨项目模式泛化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1"/>
          <p:cNvSpPr txBox="1"/>
          <p:nvPr/>
        </p:nvSpPr>
        <p:spPr>
          <a:xfrm>
            <a:off x="295275" y="5188585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微软雅黑" panose="020B0503020204020204" charset="-122"/>
              </a:rPr>
              <a:t>▶ 预期效果：高危漏洞发现时间减少 50%+  |  测试资源聚焦度提升 60%</a:t>
            </a:r>
            <a:endParaRPr sz="12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2"/>
          <p:cNvSpPr txBox="1"/>
          <p:nvPr/>
        </p:nvSpPr>
        <p:spPr>
          <a:xfrm>
            <a:off x="295275" y="5536057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 panose="020B0503020204020204" charset="-122"/>
              </a:rPr>
              <a:t>▶ 实施建议：从 C/C++ 程序起步，逐步扩展多语言支持，并与 AFL++、LibFuzzer 等主流框架集成</a:t>
            </a:r>
            <a:endParaRPr sz="1100" b="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F497D"/>
                </a:solidFill>
                <a:latin typeface="微软雅黑" panose="020B0503020204020204" charset="-122"/>
                <a:sym typeface="+mn-ea"/>
              </a:rPr>
              <a:t>总结与展望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2336-5E7F-43E9-BCC0-428FE735E9A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南京邮电大学计算机学院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4"/>
          <p:cNvSpPr txBox="1"/>
          <p:nvPr/>
        </p:nvSpPr>
        <p:spPr>
          <a:xfrm>
            <a:off x="399415" y="1916557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微软雅黑" panose="020B0503020204020204" charset="-122"/>
              </a:rPr>
              <a:t>核心结论</a:t>
            </a:r>
            <a:endParaRPr sz="15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399415" y="2346325"/>
            <a:ext cx="4023360" cy="17284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模糊测试正从单一机制向混合智能快速演进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覆盖引导 + 符号执行 + LLM 引导融合成为主流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技术标准化评估框架和工业级工具链仍是短板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自适应性和智能化代表未来核心发展方向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与程序分析、形式化方法的深度结合是趋势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4788535" y="1916557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微软雅黑" panose="020B0503020204020204" charset="-122"/>
              </a:rPr>
              <a:t>未来方向</a:t>
            </a:r>
            <a:endParaRPr sz="1500" b="1">
              <a:solidFill>
                <a:srgbClr val="1F497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4788535" y="2346325"/>
            <a:ext cx="4023360" cy="1761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LLM + 模糊测试深度融合（轻量化、实时性改进）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领域专用模糊测试（嵌入式、Web、移动）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标准化评估框架建设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自动化漏洞修复建议生成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微软雅黑" panose="020B0503020204020204" charset="-122"/>
              </a:rPr>
              <a:t>• 智能化端到端模糊测试平台</a:t>
            </a:r>
            <a:endParaRPr sz="1200">
              <a:solidFill>
                <a:srgbClr val="3333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顶峰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0</TotalTime>
  <Words>2809</Words>
  <Application>WPS 演示</Application>
  <PresentationFormat>全屏显示(4:3)</PresentationFormat>
  <Paragraphs>353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华文楷体</vt:lpstr>
      <vt:lpstr>Times New Roman</vt:lpstr>
      <vt:lpstr>微软雅黑</vt:lpstr>
      <vt:lpstr>Calibri</vt:lpstr>
      <vt:lpstr>Arial Unicode MS</vt:lpstr>
      <vt:lpstr>模板</vt:lpstr>
      <vt:lpstr>现代模糊测试技术的演进与挑战</vt:lpstr>
      <vt:lpstr>目录</vt:lpstr>
      <vt:lpstr>研究问题与核心挑战</vt:lpstr>
      <vt:lpstr>主要方法</vt:lpstr>
      <vt:lpstr>覆盖引导 &amp; 符号执行融合</vt:lpstr>
      <vt:lpstr>学习 · LLM 引导方法</vt:lpstr>
      <vt:lpstr>研究问题</vt:lpstr>
      <vt:lpstr>创新方法1：分层自适应混合框架</vt:lpstr>
      <vt:lpstr>创新方法2：漏洞模式预测引导测试</vt:lpstr>
      <vt:lpstr>总结与展望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基于核方法的强化学习 算法研究</dc:title>
  <dc:creator>Singoal</dc:creator>
  <cp:lastModifiedBy>路上的阳光</cp:lastModifiedBy>
  <cp:revision>788</cp:revision>
  <dcterms:created xsi:type="dcterms:W3CDTF">2025-03-17T11:09:00Z</dcterms:created>
  <dcterms:modified xsi:type="dcterms:W3CDTF">2026-05-10T15:25:46Z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904312679CC341EB893340CB268E4B2C_13</vt:lpwstr>
  </property>
  <property fmtid="{D5CDD505-2E9C-101B-9397-08002B2CF9AE}" pid="3" name="KSOProductBuildVer">
    <vt:lpwstr>2052-12.1.0.25865</vt:lpwstr>
  </property>
</Properties>
</file>