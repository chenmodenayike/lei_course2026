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D6BDB738-8FCD-4566-BDFA-1EE53CDF5E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1745D8-A4AF-44E8-871B-9E72F567E3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2940D5-29BB-4B02-B454-D75596E8C0D8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5A09E-7046-4F44-942A-24323B81E08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6191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视听内容如何干预情感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A08980-E715-4D6B-9DE6-0200EBAF439B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6572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把声音、图像</a:t>
            </a:r>
            <a:r>
              <a:rPr lang="zh-CN" altLang="en-US" sz="15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和</a:t>
            </a:r>
            <a:r>
              <a:rPr sz="15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视频转译成可测的情绪状态变量，再连接医学。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2E09D7-8F1B-42D4-B3B3-4627006D37AA}"/>
              </a:ext>
            </a:extLst>
          </p:cNvPr>
          <p:cNvSpPr>
            <a:spLocks noGrp="1"/>
          </p:cNvSpPr>
          <p:nvPr/>
        </p:nvSpPr>
        <p:spPr>
          <a:xfrm>
            <a:off x="533400" y="2457450"/>
            <a:ext cx="6343650" cy="14287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3163A4-5F96-4EFB-90B4-6992F41278F5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核心桥梁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89C24F-0C74-46D8-8095-C0CAA93CF8AA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542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Valence</a:t>
            </a:r>
            <a:r>
              <a:rPr lang="en-US"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 </a:t>
            </a: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效价  /  Arousal</a:t>
            </a:r>
            <a:r>
              <a:rPr lang="en-US"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 </a:t>
            </a: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唤醒  /  Dominance 控制感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FA5D22-3EF4-4248-9AB2-A0BF4FA87E16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533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9E4D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E9E4DA"/>
                </a:solidFill>
                <a:latin typeface="Microsoft YaHei UI"/>
                <a:ea typeface="Microsoft YaHei UI"/>
                <a:cs typeface="Microsoft YaHei UI"/>
              </a:rPr>
              <a:t>任何听觉或视觉材料都先被标定为“让人更愉悦吗、更紧张吗、更有控制感吗”。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2DCDEB-03DB-4659-8943-8071BF06A5D6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7A6249-6536-431C-942E-173AFC135BCA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情绪维度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18527A-3C41-4465-A9B8-8CC55CEF5E61}"/>
              </a:ext>
            </a:extLst>
          </p:cNvPr>
          <p:cNvSpPr>
            <a:spLocks noGrp="1"/>
          </p:cNvSpPr>
          <p:nvPr/>
        </p:nvSpPr>
        <p:spPr>
          <a:xfrm>
            <a:off x="2095500" y="411480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16864F-3649-46DF-A91F-C39B275B2894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指标层级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06663E-554A-4B0C-B272-8C10BD31DAC1}"/>
              </a:ext>
            </a:extLst>
          </p:cNvPr>
          <p:cNvSpPr>
            <a:spLocks noGrp="1"/>
          </p:cNvSpPr>
          <p:nvPr/>
        </p:nvSpPr>
        <p:spPr>
          <a:xfrm>
            <a:off x="3581400" y="41148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12+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EBC61B-B1A4-46BC-BB35-1007E9E04E02}"/>
              </a:ext>
            </a:extLst>
          </p:cNvPr>
          <p:cNvSpPr>
            <a:spLocks noGrp="1"/>
          </p:cNvSpPr>
          <p:nvPr/>
        </p:nvSpPr>
        <p:spPr>
          <a:xfrm>
            <a:off x="3581400" y="44767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常用数据集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C22A7D-409A-4E21-B5EE-CFC32A3C082A}"/>
              </a:ext>
            </a:extLst>
          </p:cNvPr>
          <p:cNvSpPr>
            <a:spLocks noGrp="1"/>
          </p:cNvSpPr>
          <p:nvPr/>
        </p:nvSpPr>
        <p:spPr>
          <a:xfrm>
            <a:off x="5257800" y="41148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FE18A6-2F07-4633-A8C8-4783A577C0FB}"/>
              </a:ext>
            </a:extLst>
          </p:cNvPr>
          <p:cNvSpPr>
            <a:spLocks noGrp="1"/>
          </p:cNvSpPr>
          <p:nvPr/>
        </p:nvSpPr>
        <p:spPr>
          <a:xfrm>
            <a:off x="5257800" y="44767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研究设计页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2438AA-4A52-496E-B73A-22D576D12F17}"/>
              </a:ext>
            </a:extLst>
          </p:cNvPr>
          <p:cNvSpPr>
            <a:spLocks noGrp="1"/>
          </p:cNvSpPr>
          <p:nvPr/>
        </p:nvSpPr>
        <p:spPr>
          <a:xfrm>
            <a:off x="7524750" y="723900"/>
            <a:ext cx="3867150" cy="49530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pic>
        <p:nvPicPr>
          <p:cNvPr id="19" name="图形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48600" y="914400"/>
            <a:ext cx="342900" cy="342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5EAC71E-C89F-4033-8984-1DEB4B023C12}"/>
              </a:ext>
            </a:extLst>
          </p:cNvPr>
          <p:cNvSpPr>
            <a:spLocks noGrp="1"/>
          </p:cNvSpPr>
          <p:nvPr/>
        </p:nvSpPr>
        <p:spPr>
          <a:xfrm>
            <a:off x="8305800" y="9525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干预链条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66F537-81BF-4BBE-A820-B6A3B22746D4}"/>
              </a:ext>
            </a:extLst>
          </p:cNvPr>
          <p:cNvSpPr>
            <a:spLocks noGrp="1"/>
          </p:cNvSpPr>
          <p:nvPr/>
        </p:nvSpPr>
        <p:spPr>
          <a:xfrm>
            <a:off x="7848600" y="1524000"/>
            <a:ext cx="438150" cy="4381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4F7F40B-316D-4A54-B2BA-33821CCDBD7C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FB4D0A-6AB1-47DE-8826-C17F04B7B74C}"/>
              </a:ext>
            </a:extLst>
          </p:cNvPr>
          <p:cNvSpPr>
            <a:spLocks noGrp="1"/>
          </p:cNvSpPr>
          <p:nvPr/>
        </p:nvSpPr>
        <p:spPr>
          <a:xfrm>
            <a:off x="8496300" y="15049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内容参数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67EB70-C01E-4B74-998C-165EBE7428B5}"/>
              </a:ext>
            </a:extLst>
          </p:cNvPr>
          <p:cNvSpPr>
            <a:spLocks noGrp="1"/>
          </p:cNvSpPr>
          <p:nvPr/>
        </p:nvSpPr>
        <p:spPr>
          <a:xfrm>
            <a:off x="8496300" y="176212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声压、BPM、色彩、运动、场景语义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AB71A1-717D-48FC-BBAB-A76C6D301AF5}"/>
              </a:ext>
            </a:extLst>
          </p:cNvPr>
          <p:cNvSpPr>
            <a:spLocks noGrp="1"/>
          </p:cNvSpPr>
          <p:nvPr/>
        </p:nvSpPr>
        <p:spPr>
          <a:xfrm>
            <a:off x="8058150" y="2000250"/>
            <a:ext cx="19050" cy="228600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5295AF-9E09-4284-A0E5-2EEEF371E041}"/>
              </a:ext>
            </a:extLst>
          </p:cNvPr>
          <p:cNvSpPr>
            <a:spLocks noGrp="1"/>
          </p:cNvSpPr>
          <p:nvPr/>
        </p:nvSpPr>
        <p:spPr>
          <a:xfrm>
            <a:off x="7848600" y="2266950"/>
            <a:ext cx="438150" cy="4381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4EC9AF-F80B-49FA-ACFA-409B6885502E}"/>
              </a:ext>
            </a:extLst>
          </p:cNvPr>
          <p:cNvSpPr>
            <a:spLocks noGrp="1"/>
          </p:cNvSpPr>
          <p:nvPr/>
        </p:nvSpPr>
        <p:spPr>
          <a:xfrm>
            <a:off x="7848600" y="23812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BFCD61-32BC-4FAB-8888-C93058BA499E}"/>
              </a:ext>
            </a:extLst>
          </p:cNvPr>
          <p:cNvSpPr>
            <a:spLocks noGrp="1"/>
          </p:cNvSpPr>
          <p:nvPr/>
        </p:nvSpPr>
        <p:spPr>
          <a:xfrm>
            <a:off x="8496300" y="22479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感知与注意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CDB7CCE-59B8-4110-A96B-32BD93D9B0F5}"/>
              </a:ext>
            </a:extLst>
          </p:cNvPr>
          <p:cNvSpPr>
            <a:spLocks noGrp="1"/>
          </p:cNvSpPr>
          <p:nvPr/>
        </p:nvSpPr>
        <p:spPr>
          <a:xfrm>
            <a:off x="8496300" y="250507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威胁/安全评价、沉浸、注意转移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2154E9-61E2-4F52-8147-2F214305F9B1}"/>
              </a:ext>
            </a:extLst>
          </p:cNvPr>
          <p:cNvSpPr>
            <a:spLocks noGrp="1"/>
          </p:cNvSpPr>
          <p:nvPr/>
        </p:nvSpPr>
        <p:spPr>
          <a:xfrm>
            <a:off x="8058150" y="2743200"/>
            <a:ext cx="19050" cy="228600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5B190E3-A2EA-4E13-BB2E-BC39454A240F}"/>
              </a:ext>
            </a:extLst>
          </p:cNvPr>
          <p:cNvSpPr>
            <a:spLocks noGrp="1"/>
          </p:cNvSpPr>
          <p:nvPr/>
        </p:nvSpPr>
        <p:spPr>
          <a:xfrm>
            <a:off x="7848600" y="3009900"/>
            <a:ext cx="438150" cy="43815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5BFCA7-C923-4D10-90EB-9384F2651210}"/>
              </a:ext>
            </a:extLst>
          </p:cNvPr>
          <p:cNvSpPr>
            <a:spLocks noGrp="1"/>
          </p:cNvSpPr>
          <p:nvPr/>
        </p:nvSpPr>
        <p:spPr>
          <a:xfrm>
            <a:off x="7848600" y="3124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32235B-CA2B-4153-8639-9D73DD536320}"/>
              </a:ext>
            </a:extLst>
          </p:cNvPr>
          <p:cNvSpPr>
            <a:spLocks noGrp="1"/>
          </p:cNvSpPr>
          <p:nvPr/>
        </p:nvSpPr>
        <p:spPr>
          <a:xfrm>
            <a:off x="8496300" y="29908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情绪状态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4894F7-68FB-4901-93BE-9180D1FBA9D0}"/>
              </a:ext>
            </a:extLst>
          </p:cNvPr>
          <p:cNvSpPr>
            <a:spLocks noGrp="1"/>
          </p:cNvSpPr>
          <p:nvPr/>
        </p:nvSpPr>
        <p:spPr>
          <a:xfrm>
            <a:off x="8496300" y="324802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VAD / PAD 标定与即时评分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67297C-EAAF-4F0C-8C9C-0A4E676B1BE2}"/>
              </a:ext>
            </a:extLst>
          </p:cNvPr>
          <p:cNvSpPr>
            <a:spLocks noGrp="1"/>
          </p:cNvSpPr>
          <p:nvPr/>
        </p:nvSpPr>
        <p:spPr>
          <a:xfrm>
            <a:off x="8058150" y="3486150"/>
            <a:ext cx="19050" cy="228600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52463DC-FE85-4FC2-8AC4-3CD940EB1A74}"/>
              </a:ext>
            </a:extLst>
          </p:cNvPr>
          <p:cNvSpPr>
            <a:spLocks noGrp="1"/>
          </p:cNvSpPr>
          <p:nvPr/>
        </p:nvSpPr>
        <p:spPr>
          <a:xfrm>
            <a:off x="7848600" y="3752850"/>
            <a:ext cx="438150" cy="4381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F03E075-F95D-46F5-865A-5E95A473FA20}"/>
              </a:ext>
            </a:extLst>
          </p:cNvPr>
          <p:cNvSpPr>
            <a:spLocks noGrp="1"/>
          </p:cNvSpPr>
          <p:nvPr/>
        </p:nvSpPr>
        <p:spPr>
          <a:xfrm>
            <a:off x="7848600" y="38671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E1EC822-A145-4A8E-B1B3-AE36D1B579C3}"/>
              </a:ext>
            </a:extLst>
          </p:cNvPr>
          <p:cNvSpPr>
            <a:spLocks noGrp="1"/>
          </p:cNvSpPr>
          <p:nvPr/>
        </p:nvSpPr>
        <p:spPr>
          <a:xfrm>
            <a:off x="8496300" y="37338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身体反应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C529A0-EF6D-4BFF-8CCD-735C82663F05}"/>
              </a:ext>
            </a:extLst>
          </p:cNvPr>
          <p:cNvSpPr>
            <a:spLocks noGrp="1"/>
          </p:cNvSpPr>
          <p:nvPr/>
        </p:nvSpPr>
        <p:spPr>
          <a:xfrm>
            <a:off x="8496300" y="399097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HRV、EDA、呼吸、EEG、行为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FC6DF23-8CE8-48AD-8382-4717E3872CA1}"/>
              </a:ext>
            </a:extLst>
          </p:cNvPr>
          <p:cNvSpPr>
            <a:spLocks noGrp="1"/>
          </p:cNvSpPr>
          <p:nvPr/>
        </p:nvSpPr>
        <p:spPr>
          <a:xfrm>
            <a:off x="8058150" y="4229100"/>
            <a:ext cx="19050" cy="228600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EDF2CCB-00CF-4C03-8845-F6E8295EE67A}"/>
              </a:ext>
            </a:extLst>
          </p:cNvPr>
          <p:cNvSpPr>
            <a:spLocks noGrp="1"/>
          </p:cNvSpPr>
          <p:nvPr/>
        </p:nvSpPr>
        <p:spPr>
          <a:xfrm>
            <a:off x="7848600" y="4495800"/>
            <a:ext cx="438150" cy="4381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D254D82-617D-432D-83B6-AB22AEC77466}"/>
              </a:ext>
            </a:extLst>
          </p:cNvPr>
          <p:cNvSpPr>
            <a:spLocks noGrp="1"/>
          </p:cNvSpPr>
          <p:nvPr/>
        </p:nvSpPr>
        <p:spPr>
          <a:xfrm>
            <a:off x="7848600" y="46101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0C3A545-8520-43F3-A04D-6F34759B59BD}"/>
              </a:ext>
            </a:extLst>
          </p:cNvPr>
          <p:cNvSpPr>
            <a:spLocks noGrp="1"/>
          </p:cNvSpPr>
          <p:nvPr/>
        </p:nvSpPr>
        <p:spPr>
          <a:xfrm>
            <a:off x="8496300" y="4476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临床结局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7B6C5C3-B33B-4ED2-AFBF-1F81EE061C97}"/>
              </a:ext>
            </a:extLst>
          </p:cNvPr>
          <p:cNvSpPr>
            <a:spLocks noGrp="1"/>
          </p:cNvSpPr>
          <p:nvPr/>
        </p:nvSpPr>
        <p:spPr>
          <a:xfrm>
            <a:off x="8496300" y="473392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焦虑、抑郁、疼痛、睡眠、生活质量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7D0766-B691-4C6F-9707-5655CEA5D3BF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框架来源：Russell circumplex affect；SAM；TIDieR；DEAP / OASIS / WESAD / DAIC-WOZ 等数据集文档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6AFF606-5CDC-43FC-AC24-4BF0FBE7DC9F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E1050CA-C284-A809-0807-2DFF61AB0DE3}"/>
              </a:ext>
            </a:extLst>
          </p:cNvPr>
          <p:cNvSpPr>
            <a:spLocks noGrp="1"/>
          </p:cNvSpPr>
          <p:nvPr/>
        </p:nvSpPr>
        <p:spPr>
          <a:xfrm>
            <a:off x="640452" y="5362989"/>
            <a:ext cx="6129545" cy="77111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9E4D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25" b="0">
                <a:solidFill>
                  <a:schemeClr val="tx2"/>
                </a:solidFill>
                <a:latin typeface="Microsoft YaHei UI"/>
                <a:ea typeface="Microsoft YaHei UI"/>
                <a:cs typeface="Microsoft YaHei UI"/>
              </a:rPr>
              <a:t>在医学情感干预中，视听内容本身不是治疗终点，而是可控刺激。它通过改变个体的效价、唤醒、控制感、安全感、注意分配和生理节律，进一步影响焦虑、抑郁、疼痛、睡眠等临床结局。</a:t>
            </a:r>
            <a:endParaRPr sz="1125" b="0">
              <a:solidFill>
                <a:schemeClr val="tx2"/>
              </a:solidFill>
              <a:latin typeface="Microsoft YaHei UI"/>
              <a:ea typeface="Microsoft YaHei UI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184300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171E6681-F1B0-4040-BBAC-E994E7F3ED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6646F7-2771-435E-9EB7-403D605B7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909DF3-98B6-4ABA-A47D-EB28FF3B61A1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13E49CA8-B893-4B1A-8ADB-C1884F0F9AAE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C89F041F-92B6-43E1-B932-988F2B9AA76B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MECHANISM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A7E12E-539F-4C35-B6F9-1F0D760EE2DB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视听内容不是直接“治疗情感”，而是改变可测的情绪状态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EC139B-4CD0-457A-B756-6F69B38F0AD8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研究上应把内容刺激、情绪维度、身体反应和临床结局拆开测量。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27F915-F404-49EA-A1B6-696FBD3F4A09}"/>
              </a:ext>
            </a:extLst>
          </p:cNvPr>
          <p:cNvSpPr>
            <a:spLocks noGrp="1"/>
          </p:cNvSpPr>
          <p:nvPr/>
        </p:nvSpPr>
        <p:spPr>
          <a:xfrm>
            <a:off x="514350" y="2171700"/>
            <a:ext cx="2438400" cy="27241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BCA61D-CD9E-491B-9004-5D4E45FD0B1F}"/>
              </a:ext>
            </a:extLst>
          </p:cNvPr>
          <p:cNvSpPr>
            <a:spLocks noGrp="1"/>
          </p:cNvSpPr>
          <p:nvPr/>
        </p:nvSpPr>
        <p:spPr>
          <a:xfrm>
            <a:off x="514350" y="2171700"/>
            <a:ext cx="2438400" cy="7620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819FEB-2085-4157-ABE9-0CC26A17A69A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内容参数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445D76-809F-47EB-BD58-218299160619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19240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声音：响度、频谱、节律、音色、空间感</a:t>
            </a:r>
          </a:p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视觉：亮度、饱和度、对比、运动、语义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E31B46-7E64-471C-991E-4F9793842705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981200" cy="323850"/>
          </a:xfrm>
          <a:prstGeom prst="rect">
            <a:avLst/>
          </a:prstGeom>
          <a:solidFill>
            <a:srgbClr val="D95D39">
              <a:alpha val="9412"/>
            </a:srgbClr>
          </a:solidFill>
          <a:ln w="9525">
            <a:solidFill>
              <a:srgbClr val="D95D39">
                <a:alpha val="53333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8E8C1D-0213-48D1-B881-33371DC1F3C3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可控输入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F6F238-0BD4-4DFB-9C1D-EE3AB97173C4}"/>
              </a:ext>
            </a:extLst>
          </p:cNvPr>
          <p:cNvSpPr>
            <a:spLocks noGrp="1"/>
          </p:cNvSpPr>
          <p:nvPr/>
        </p:nvSpPr>
        <p:spPr>
          <a:xfrm>
            <a:off x="3371850" y="2171700"/>
            <a:ext cx="2438400" cy="27241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9DE23E-E61A-42BD-AC7A-60943407D3B0}"/>
              </a:ext>
            </a:extLst>
          </p:cNvPr>
          <p:cNvSpPr>
            <a:spLocks noGrp="1"/>
          </p:cNvSpPr>
          <p:nvPr/>
        </p:nvSpPr>
        <p:spPr>
          <a:xfrm>
            <a:off x="3371850" y="2171700"/>
            <a:ext cx="2438400" cy="762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DA6CE1-F94A-4A85-9012-60630CB17C4B}"/>
              </a:ext>
            </a:extLst>
          </p:cNvPr>
          <p:cNvSpPr>
            <a:spLocks noGrp="1"/>
          </p:cNvSpPr>
          <p:nvPr/>
        </p:nvSpPr>
        <p:spPr>
          <a:xfrm>
            <a:off x="3619500" y="24003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感知 / 注意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B73302-4194-402A-8F30-2EB449FA927A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19240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安全或威胁评价</a:t>
            </a:r>
          </a:p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注意转移与沉浸</a:t>
            </a:r>
          </a:p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记忆、偏好、文化联想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D93DC9-7699-47F4-8B7E-91117AAEB6A3}"/>
              </a:ext>
            </a:extLst>
          </p:cNvPr>
          <p:cNvSpPr>
            <a:spLocks noGrp="1"/>
          </p:cNvSpPr>
          <p:nvPr/>
        </p:nvSpPr>
        <p:spPr>
          <a:xfrm>
            <a:off x="3600450" y="4343400"/>
            <a:ext cx="1981200" cy="323850"/>
          </a:xfrm>
          <a:prstGeom prst="rect">
            <a:avLst/>
          </a:prstGeom>
          <a:solidFill>
            <a:srgbClr val="2A9D8F">
              <a:alpha val="9412"/>
            </a:srgbClr>
          </a:solidFill>
          <a:ln w="9525">
            <a:solidFill>
              <a:srgbClr val="2A9D8F">
                <a:alpha val="53333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77597B-1CF6-446D-95C7-5BBD7CF1BE50}"/>
              </a:ext>
            </a:extLst>
          </p:cNvPr>
          <p:cNvSpPr>
            <a:spLocks noGrp="1"/>
          </p:cNvSpPr>
          <p:nvPr/>
        </p:nvSpPr>
        <p:spPr>
          <a:xfrm>
            <a:off x="3600450" y="44196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心理中介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718316-95B8-4768-B4E9-04B0BD0CA235}"/>
              </a:ext>
            </a:extLst>
          </p:cNvPr>
          <p:cNvSpPr>
            <a:spLocks noGrp="1"/>
          </p:cNvSpPr>
          <p:nvPr/>
        </p:nvSpPr>
        <p:spPr>
          <a:xfrm>
            <a:off x="6229350" y="2171700"/>
            <a:ext cx="2438400" cy="27241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965956-E3C6-4131-A869-A59C0875BDD8}"/>
              </a:ext>
            </a:extLst>
          </p:cNvPr>
          <p:cNvSpPr>
            <a:spLocks noGrp="1"/>
          </p:cNvSpPr>
          <p:nvPr/>
        </p:nvSpPr>
        <p:spPr>
          <a:xfrm>
            <a:off x="6229350" y="2171700"/>
            <a:ext cx="2438400" cy="7620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3C6F0C-3D4E-4FB6-9549-DA3BB6F5F170}"/>
              </a:ext>
            </a:extLst>
          </p:cNvPr>
          <p:cNvSpPr>
            <a:spLocks noGrp="1"/>
          </p:cNvSpPr>
          <p:nvPr/>
        </p:nvSpPr>
        <p:spPr>
          <a:xfrm>
            <a:off x="6477000" y="24003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情绪变量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8DD428-F5FC-496D-9E37-9FD99A2E9FB7}"/>
              </a:ext>
            </a:extLst>
          </p:cNvPr>
          <p:cNvSpPr>
            <a:spLocks noGrp="1"/>
          </p:cNvSpPr>
          <p:nvPr/>
        </p:nvSpPr>
        <p:spPr>
          <a:xfrm>
            <a:off x="6477000" y="2914650"/>
            <a:ext cx="19240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Valence：愉悦/不愉悦</a:t>
            </a:r>
          </a:p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Arousal：平静/紧张</a:t>
            </a:r>
          </a:p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Dominance：无助/可控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038B5D-258F-4D79-B288-44B7EABA88BC}"/>
              </a:ext>
            </a:extLst>
          </p:cNvPr>
          <p:cNvSpPr>
            <a:spLocks noGrp="1"/>
          </p:cNvSpPr>
          <p:nvPr/>
        </p:nvSpPr>
        <p:spPr>
          <a:xfrm>
            <a:off x="6457950" y="4343400"/>
            <a:ext cx="1981200" cy="323850"/>
          </a:xfrm>
          <a:prstGeom prst="rect">
            <a:avLst/>
          </a:prstGeom>
          <a:solidFill>
            <a:srgbClr val="E9C46A">
              <a:alpha val="9412"/>
            </a:srgbClr>
          </a:solidFill>
          <a:ln w="9525">
            <a:solidFill>
              <a:srgbClr val="E9C46A">
                <a:alpha val="53333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F42F80-64C5-4397-A0CE-AC4B49E5035C}"/>
              </a:ext>
            </a:extLst>
          </p:cNvPr>
          <p:cNvSpPr>
            <a:spLocks noGrp="1"/>
          </p:cNvSpPr>
          <p:nvPr/>
        </p:nvSpPr>
        <p:spPr>
          <a:xfrm>
            <a:off x="6457950" y="44196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共同语言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9539C6-8BBB-4A97-9F38-9D8FB7A01541}"/>
              </a:ext>
            </a:extLst>
          </p:cNvPr>
          <p:cNvSpPr>
            <a:spLocks noGrp="1"/>
          </p:cNvSpPr>
          <p:nvPr/>
        </p:nvSpPr>
        <p:spPr>
          <a:xfrm>
            <a:off x="9086850" y="2171700"/>
            <a:ext cx="2438400" cy="27241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17DEB2-24AB-4EF6-A63B-30BAEC92AE69}"/>
              </a:ext>
            </a:extLst>
          </p:cNvPr>
          <p:cNvSpPr>
            <a:spLocks noGrp="1"/>
          </p:cNvSpPr>
          <p:nvPr/>
        </p:nvSpPr>
        <p:spPr>
          <a:xfrm>
            <a:off x="9086850" y="2171700"/>
            <a:ext cx="2438400" cy="762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21AE45-769E-42FC-846E-F6B7BFBA5DC9}"/>
              </a:ext>
            </a:extLst>
          </p:cNvPr>
          <p:cNvSpPr>
            <a:spLocks noGrp="1"/>
          </p:cNvSpPr>
          <p:nvPr/>
        </p:nvSpPr>
        <p:spPr>
          <a:xfrm>
            <a:off x="9334500" y="24003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反应与结局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A2BDA0-40A4-4405-8DE4-124B62708987}"/>
              </a:ext>
            </a:extLst>
          </p:cNvPr>
          <p:cNvSpPr>
            <a:spLocks noGrp="1"/>
          </p:cNvSpPr>
          <p:nvPr/>
        </p:nvSpPr>
        <p:spPr>
          <a:xfrm>
            <a:off x="9334500" y="2914650"/>
            <a:ext cx="19240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主观评分、HRV、EDA、呼吸、EEG</a:t>
            </a:r>
            <a:r>
              <a:rPr lang="zh-CN" altLang="en-US"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、</a:t>
            </a:r>
            <a:r>
              <a:rPr sz="11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焦虑、抑郁、疼痛、睡眠、生活质量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69B5B30-D2D6-45B5-9D50-EB9637B03A79}"/>
              </a:ext>
            </a:extLst>
          </p:cNvPr>
          <p:cNvSpPr>
            <a:spLocks noGrp="1"/>
          </p:cNvSpPr>
          <p:nvPr/>
        </p:nvSpPr>
        <p:spPr>
          <a:xfrm>
            <a:off x="9315450" y="4343400"/>
            <a:ext cx="1981200" cy="323850"/>
          </a:xfrm>
          <a:prstGeom prst="rect">
            <a:avLst/>
          </a:prstGeom>
          <a:solidFill>
            <a:srgbClr val="3D5A80">
              <a:alpha val="9412"/>
            </a:srgbClr>
          </a:solidFill>
          <a:ln w="9525">
            <a:solidFill>
              <a:srgbClr val="3D5A80">
                <a:alpha val="53333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DEA011-75E6-48C2-933F-42EEBB5760E4}"/>
              </a:ext>
            </a:extLst>
          </p:cNvPr>
          <p:cNvSpPr>
            <a:spLocks noGrp="1"/>
          </p:cNvSpPr>
          <p:nvPr/>
        </p:nvSpPr>
        <p:spPr>
          <a:xfrm>
            <a:off x="9315450" y="44196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评价端点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5CDA6AC-F811-4EF9-95FC-3E86C876954A}"/>
              </a:ext>
            </a:extLst>
          </p:cNvPr>
          <p:cNvSpPr>
            <a:spLocks noGrp="1"/>
          </p:cNvSpPr>
          <p:nvPr/>
        </p:nvSpPr>
        <p:spPr>
          <a:xfrm>
            <a:off x="3000375" y="3457575"/>
            <a:ext cx="342900" cy="28575"/>
          </a:xfrm>
          <a:prstGeom prst="rect">
            <a:avLst/>
          </a:prstGeom>
          <a:solidFill>
            <a:srgbClr val="455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01DE2B8-F7BB-4487-B96B-68B75569E0E1}"/>
              </a:ext>
            </a:extLst>
          </p:cNvPr>
          <p:cNvSpPr>
            <a:spLocks noGrp="1"/>
          </p:cNvSpPr>
          <p:nvPr/>
        </p:nvSpPr>
        <p:spPr>
          <a:xfrm>
            <a:off x="3333750" y="3400425"/>
            <a:ext cx="133350" cy="133350"/>
          </a:xfrm>
          <a:prstGeom prst="ellipse">
            <a:avLst/>
          </a:prstGeom>
          <a:solidFill>
            <a:srgbClr val="455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EA3165-4418-4DC5-9E71-F286BA2525EB}"/>
              </a:ext>
            </a:extLst>
          </p:cNvPr>
          <p:cNvSpPr>
            <a:spLocks noGrp="1"/>
          </p:cNvSpPr>
          <p:nvPr/>
        </p:nvSpPr>
        <p:spPr>
          <a:xfrm>
            <a:off x="5857875" y="3457575"/>
            <a:ext cx="342900" cy="28575"/>
          </a:xfrm>
          <a:prstGeom prst="rect">
            <a:avLst/>
          </a:prstGeom>
          <a:solidFill>
            <a:srgbClr val="455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F32D30E-E59E-4B44-84A3-05C8822DBAA7}"/>
              </a:ext>
            </a:extLst>
          </p:cNvPr>
          <p:cNvSpPr>
            <a:spLocks noGrp="1"/>
          </p:cNvSpPr>
          <p:nvPr/>
        </p:nvSpPr>
        <p:spPr>
          <a:xfrm>
            <a:off x="6191250" y="3400425"/>
            <a:ext cx="133350" cy="133350"/>
          </a:xfrm>
          <a:prstGeom prst="ellipse">
            <a:avLst/>
          </a:prstGeom>
          <a:solidFill>
            <a:srgbClr val="455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D82845-E63E-4F50-A47A-F0EBD1DECCCF}"/>
              </a:ext>
            </a:extLst>
          </p:cNvPr>
          <p:cNvSpPr>
            <a:spLocks noGrp="1"/>
          </p:cNvSpPr>
          <p:nvPr/>
        </p:nvSpPr>
        <p:spPr>
          <a:xfrm>
            <a:off x="8715375" y="3457575"/>
            <a:ext cx="342900" cy="28575"/>
          </a:xfrm>
          <a:prstGeom prst="rect">
            <a:avLst/>
          </a:prstGeom>
          <a:solidFill>
            <a:srgbClr val="455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345B499-1CDC-412C-B118-3D468CE52E8A}"/>
              </a:ext>
            </a:extLst>
          </p:cNvPr>
          <p:cNvSpPr>
            <a:spLocks noGrp="1"/>
          </p:cNvSpPr>
          <p:nvPr/>
        </p:nvSpPr>
        <p:spPr>
          <a:xfrm>
            <a:off x="9048750" y="3400425"/>
            <a:ext cx="133350" cy="133350"/>
          </a:xfrm>
          <a:prstGeom prst="ellipse">
            <a:avLst/>
          </a:prstGeom>
          <a:solidFill>
            <a:srgbClr val="455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8" name="图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42950" y="5295900"/>
            <a:ext cx="304800" cy="304800"/>
          </a:xfrm>
          <a:prstGeom prst="rect">
            <a:avLst/>
          </a:prstGeom>
        </p:spPr>
      </p:pic>
      <p:pic>
        <p:nvPicPr>
          <p:cNvPr id="39" name="图形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43000" y="5295900"/>
            <a:ext cx="304800" cy="30480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7C80658A-8B3B-49F2-9C48-7F84BC6F5731}"/>
              </a:ext>
            </a:extLst>
          </p:cNvPr>
          <p:cNvSpPr>
            <a:spLocks noGrp="1"/>
          </p:cNvSpPr>
          <p:nvPr/>
        </p:nvSpPr>
        <p:spPr>
          <a:xfrm>
            <a:off x="1647825" y="5324475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落地原则：同一段声音或图像不能假定对所有患者同效；必须在目标人群中做本地情绪标定。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BF4F615-812A-42DD-A7D6-63F28D138926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机制桥梁：dimensional emotion model / SAM；非药物干预报告建议参考 TIDieR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CD1D93C-8E88-4E5C-8604-AA05501190C7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8555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89C998FC-0CC8-4EE8-B0E3-05C36AA74A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AA26DB-E0C2-4347-BAEF-4D18CEEC60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CA9221-7AC2-4A88-A4B3-4AF5F07A92A5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AB3CBFC-3680-44F2-B3BE-12F4693B328E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EE6687EE-D56C-4ED1-A699-79A14AB03668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AUDITORY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8F2652-F588-4EC3-908D-8C910051C935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听觉干预主要抓住唤醒、节律、情绪感染和个人联想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60110C-61C5-45EE-93B7-CE557E617940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音乐、自然声、语音引导和声景可以通过不同参数组合形成不同情绪目标。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听觉干预的关键利用响度、节奏、音色、语义和个人记忆来调节唤醒水平、效价和控制感。</a:t>
            </a:r>
            <a:endParaRPr sz="1350" b="0">
              <a:solidFill>
                <a:srgbClr val="45515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52450" y="1962150"/>
            <a:ext cx="400050" cy="4000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048DFEB-4F71-427F-BD9C-41FCFD23316D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可控内容参数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CC9DDC-A296-4E99-8876-39DCA93FE308}"/>
              </a:ext>
            </a:extLst>
          </p:cNvPr>
          <p:cNvSpPr>
            <a:spLocks noGrp="1"/>
          </p:cNvSpPr>
          <p:nvPr/>
        </p:nvSpPr>
        <p:spPr>
          <a:xfrm>
            <a:off x="571500" y="2514600"/>
            <a:ext cx="3162300" cy="381000"/>
          </a:xfrm>
          <a:prstGeom prst="rect">
            <a:avLst/>
          </a:prstGeom>
          <a:solidFill>
            <a:srgbClr val="D95D39">
              <a:alpha val="8627"/>
            </a:srgbClr>
          </a:solidFill>
          <a:ln w="9525">
            <a:solidFill>
              <a:srgbClr val="D95D39">
                <a:alpha val="53333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AE4CCE-C657-426B-BF8B-03ADAB6D3583}"/>
              </a:ext>
            </a:extLst>
          </p:cNvPr>
          <p:cNvSpPr>
            <a:spLocks noGrp="1"/>
          </p:cNvSpPr>
          <p:nvPr/>
        </p:nvSpPr>
        <p:spPr>
          <a:xfrm>
            <a:off x="742950" y="26003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声学强度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B2F70B-8C06-4879-AE35-6EA5BEAC9798}"/>
              </a:ext>
            </a:extLst>
          </p:cNvPr>
          <p:cNvSpPr>
            <a:spLocks noGrp="1"/>
          </p:cNvSpPr>
          <p:nvPr/>
        </p:nvSpPr>
        <p:spPr>
          <a:xfrm>
            <a:off x="1676400" y="2600325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dB、响度、动态范围、突发性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2C8906-2791-46BB-AFE1-B6B03C090344}"/>
              </a:ext>
            </a:extLst>
          </p:cNvPr>
          <p:cNvSpPr>
            <a:spLocks noGrp="1"/>
          </p:cNvSpPr>
          <p:nvPr/>
        </p:nvSpPr>
        <p:spPr>
          <a:xfrm>
            <a:off x="571500" y="3028950"/>
            <a:ext cx="3162300" cy="381000"/>
          </a:xfrm>
          <a:prstGeom prst="rect">
            <a:avLst/>
          </a:prstGeom>
          <a:solidFill>
            <a:srgbClr val="D95D39">
              <a:alpha val="8627"/>
            </a:srgbClr>
          </a:solidFill>
          <a:ln w="9525">
            <a:solidFill>
              <a:srgbClr val="D95D39">
                <a:alpha val="53333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FC0442-BC52-4ABC-B21A-E48C1EAD9869}"/>
              </a:ext>
            </a:extLst>
          </p:cNvPr>
          <p:cNvSpPr>
            <a:spLocks noGrp="1"/>
          </p:cNvSpPr>
          <p:nvPr/>
        </p:nvSpPr>
        <p:spPr>
          <a:xfrm>
            <a:off x="742950" y="3114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频谱质地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D30A06-520A-4464-85F8-00A883DE98B2}"/>
              </a:ext>
            </a:extLst>
          </p:cNvPr>
          <p:cNvSpPr>
            <a:spLocks noGrp="1"/>
          </p:cNvSpPr>
          <p:nvPr/>
        </p:nvSpPr>
        <p:spPr>
          <a:xfrm>
            <a:off x="1676400" y="3114675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高频、尖锐度、粗糙度、音色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EBC49B-4DF3-493A-BE67-0297AA895639}"/>
              </a:ext>
            </a:extLst>
          </p:cNvPr>
          <p:cNvSpPr>
            <a:spLocks noGrp="1"/>
          </p:cNvSpPr>
          <p:nvPr/>
        </p:nvSpPr>
        <p:spPr>
          <a:xfrm>
            <a:off x="571500" y="3543300"/>
            <a:ext cx="3162300" cy="381000"/>
          </a:xfrm>
          <a:prstGeom prst="rect">
            <a:avLst/>
          </a:prstGeom>
          <a:solidFill>
            <a:srgbClr val="E9C46A">
              <a:alpha val="8627"/>
            </a:srgbClr>
          </a:solidFill>
          <a:ln w="9525">
            <a:solidFill>
              <a:srgbClr val="E9C46A">
                <a:alpha val="53333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8A7D56-0464-4BE3-8A3E-CE2F1182E505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节律结构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99C5EF-D022-426B-BA26-7F3C3169D7EE}"/>
              </a:ext>
            </a:extLst>
          </p:cNvPr>
          <p:cNvSpPr>
            <a:spLocks noGrp="1"/>
          </p:cNvSpPr>
          <p:nvPr/>
        </p:nvSpPr>
        <p:spPr>
          <a:xfrm>
            <a:off x="1676400" y="3629025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BPM、重拍、节奏稳定性、呼吸引导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A5DA84-8317-418E-A39E-10632D3764CD}"/>
              </a:ext>
            </a:extLst>
          </p:cNvPr>
          <p:cNvSpPr>
            <a:spLocks noGrp="1"/>
          </p:cNvSpPr>
          <p:nvPr/>
        </p:nvSpPr>
        <p:spPr>
          <a:xfrm>
            <a:off x="571500" y="4057650"/>
            <a:ext cx="3162300" cy="381000"/>
          </a:xfrm>
          <a:prstGeom prst="rect">
            <a:avLst/>
          </a:prstGeom>
          <a:solidFill>
            <a:srgbClr val="3D5A80">
              <a:alpha val="8627"/>
            </a:srgbClr>
          </a:solidFill>
          <a:ln w="9525">
            <a:solidFill>
              <a:srgbClr val="3D5A80">
                <a:alpha val="53333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D6EEAD-A8F2-4FC2-B5F1-082D0804404F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音乐语义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D89760-5CC1-42FE-B94B-3038C8D2A3BB}"/>
              </a:ext>
            </a:extLst>
          </p:cNvPr>
          <p:cNvSpPr>
            <a:spLocks noGrp="1"/>
          </p:cNvSpPr>
          <p:nvPr/>
        </p:nvSpPr>
        <p:spPr>
          <a:xfrm>
            <a:off x="1676400" y="4143375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调式、和声、旋律走向、歌词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418C20-7AD3-45CA-A7C5-35BCD47B0894}"/>
              </a:ext>
            </a:extLst>
          </p:cNvPr>
          <p:cNvSpPr>
            <a:spLocks noGrp="1"/>
          </p:cNvSpPr>
          <p:nvPr/>
        </p:nvSpPr>
        <p:spPr>
          <a:xfrm>
            <a:off x="571500" y="4572000"/>
            <a:ext cx="3162300" cy="381000"/>
          </a:xfrm>
          <a:prstGeom prst="rect">
            <a:avLst/>
          </a:prstGeom>
          <a:solidFill>
            <a:srgbClr val="7CB342">
              <a:alpha val="8627"/>
            </a:srgbClr>
          </a:solidFill>
          <a:ln w="9525">
            <a:solidFill>
              <a:srgbClr val="7CB342">
                <a:alpha val="53333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B7E958-260E-4ABE-8243-1D6AC99810F2}"/>
              </a:ext>
            </a:extLst>
          </p:cNvPr>
          <p:cNvSpPr>
            <a:spLocks noGrp="1"/>
          </p:cNvSpPr>
          <p:nvPr/>
        </p:nvSpPr>
        <p:spPr>
          <a:xfrm>
            <a:off x="742950" y="46577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个人上下文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85D096-B0CE-4896-92DE-DD7EF74C9DDE}"/>
              </a:ext>
            </a:extLst>
          </p:cNvPr>
          <p:cNvSpPr>
            <a:spLocks noGrp="1"/>
          </p:cNvSpPr>
          <p:nvPr/>
        </p:nvSpPr>
        <p:spPr>
          <a:xfrm>
            <a:off x="1676400" y="4657725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熟悉度、偏好、记忆、文化含义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E83BD3-1A7A-4857-8864-7FE16D1A8EA0}"/>
              </a:ext>
            </a:extLst>
          </p:cNvPr>
          <p:cNvSpPr>
            <a:spLocks noGrp="1"/>
          </p:cNvSpPr>
          <p:nvPr/>
        </p:nvSpPr>
        <p:spPr>
          <a:xfrm>
            <a:off x="4267200" y="2019300"/>
            <a:ext cx="3143250" cy="1104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5795FD-6779-4E14-A416-AFD91150B02E}"/>
              </a:ext>
            </a:extLst>
          </p:cNvPr>
          <p:cNvSpPr>
            <a:spLocks noGrp="1"/>
          </p:cNvSpPr>
          <p:nvPr/>
        </p:nvSpPr>
        <p:spPr>
          <a:xfrm>
            <a:off x="4267200" y="2019300"/>
            <a:ext cx="57150" cy="110490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E9165C-7851-43BA-A36B-651564CBBBC0}"/>
              </a:ext>
            </a:extLst>
          </p:cNvPr>
          <p:cNvSpPr>
            <a:spLocks noGrp="1"/>
          </p:cNvSpPr>
          <p:nvPr/>
        </p:nvSpPr>
        <p:spPr>
          <a:xfrm>
            <a:off x="4438650" y="21526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生理唤醒调节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ED4275-33EE-443C-8AC9-E9AB84D62FD1}"/>
              </a:ext>
            </a:extLst>
          </p:cNvPr>
          <p:cNvSpPr>
            <a:spLocks noGrp="1"/>
          </p:cNvSpPr>
          <p:nvPr/>
        </p:nvSpPr>
        <p:spPr>
          <a:xfrm>
            <a:off x="4438650" y="2476500"/>
            <a:ext cx="2800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突然、尖锐、高强度声音通常提高警觉；稳定、低强度、低突发性声音更容易降低紧张。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B1AF47-0B89-4FA6-AF01-AE1073C749D6}"/>
              </a:ext>
            </a:extLst>
          </p:cNvPr>
          <p:cNvSpPr>
            <a:spLocks noGrp="1"/>
          </p:cNvSpPr>
          <p:nvPr/>
        </p:nvSpPr>
        <p:spPr>
          <a:xfrm>
            <a:off x="4267200" y="3352800"/>
            <a:ext cx="3143250" cy="1104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A81002-6EBE-4EE1-984D-3AE0077D8204}"/>
              </a:ext>
            </a:extLst>
          </p:cNvPr>
          <p:cNvSpPr>
            <a:spLocks noGrp="1"/>
          </p:cNvSpPr>
          <p:nvPr/>
        </p:nvSpPr>
        <p:spPr>
          <a:xfrm>
            <a:off x="4267200" y="3352800"/>
            <a:ext cx="57150" cy="110490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BF7EF48-91FE-438B-AA48-4600AF897B28}"/>
              </a:ext>
            </a:extLst>
          </p:cNvPr>
          <p:cNvSpPr>
            <a:spLocks noGrp="1"/>
          </p:cNvSpPr>
          <p:nvPr/>
        </p:nvSpPr>
        <p:spPr>
          <a:xfrm>
            <a:off x="4438650" y="34861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节律同步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3FD898-A338-45C3-BF9C-AC00F115B9C8}"/>
              </a:ext>
            </a:extLst>
          </p:cNvPr>
          <p:cNvSpPr>
            <a:spLocks noGrp="1"/>
          </p:cNvSpPr>
          <p:nvPr/>
        </p:nvSpPr>
        <p:spPr>
          <a:xfrm>
            <a:off x="4438650" y="3810000"/>
            <a:ext cx="2800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节拍、呼吸引导和重复结构可影响呼吸、步态、心率节律，是音乐/声音干预的重要通路。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1B3128-1777-4B61-BD1A-DA3902195F28}"/>
              </a:ext>
            </a:extLst>
          </p:cNvPr>
          <p:cNvSpPr>
            <a:spLocks noGrp="1"/>
          </p:cNvSpPr>
          <p:nvPr/>
        </p:nvSpPr>
        <p:spPr>
          <a:xfrm>
            <a:off x="4267200" y="4686300"/>
            <a:ext cx="3143250" cy="1104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843448C-4E21-4618-BF7A-F5568AFC1141}"/>
              </a:ext>
            </a:extLst>
          </p:cNvPr>
          <p:cNvSpPr>
            <a:spLocks noGrp="1"/>
          </p:cNvSpPr>
          <p:nvPr/>
        </p:nvSpPr>
        <p:spPr>
          <a:xfrm>
            <a:off x="4267200" y="4686300"/>
            <a:ext cx="57150" cy="110490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4E87E06-E507-4E53-BEBC-541EF61FBAC4}"/>
              </a:ext>
            </a:extLst>
          </p:cNvPr>
          <p:cNvSpPr>
            <a:spLocks noGrp="1"/>
          </p:cNvSpPr>
          <p:nvPr/>
        </p:nvSpPr>
        <p:spPr>
          <a:xfrm>
            <a:off x="4438650" y="48196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情绪感染与记忆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736DE3A-3C0B-411B-BD7D-8AFB78F9F996}"/>
              </a:ext>
            </a:extLst>
          </p:cNvPr>
          <p:cNvSpPr>
            <a:spLocks noGrp="1"/>
          </p:cNvSpPr>
          <p:nvPr/>
        </p:nvSpPr>
        <p:spPr>
          <a:xfrm>
            <a:off x="4438650" y="5143500"/>
            <a:ext cx="2800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人声、旋律、调式和熟悉音乐可以传递情绪，也可能唤起个人经历；这也是个体差异来源。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7ADA9EA-88EF-4DCD-B1C2-93F833F1BA84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对应测量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E01CCFB-9BBD-431F-9D54-9299D439B4AF}"/>
              </a:ext>
            </a:extLst>
          </p:cNvPr>
          <p:cNvSpPr>
            <a:spLocks noGrp="1"/>
          </p:cNvSpPr>
          <p:nvPr/>
        </p:nvSpPr>
        <p:spPr>
          <a:xfrm>
            <a:off x="8058150" y="2514600"/>
            <a:ext cx="3143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9D4DAA6-6DD7-45AE-8DAC-236F2874E5E5}"/>
              </a:ext>
            </a:extLst>
          </p:cNvPr>
          <p:cNvSpPr>
            <a:spLocks noGrp="1"/>
          </p:cNvSpPr>
          <p:nvPr/>
        </p:nvSpPr>
        <p:spPr>
          <a:xfrm>
            <a:off x="8058150" y="2514600"/>
            <a:ext cx="66675" cy="60960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DEB1082-E7A9-4E90-94E1-16DA7113502A}"/>
              </a:ext>
            </a:extLst>
          </p:cNvPr>
          <p:cNvSpPr>
            <a:spLocks noGrp="1"/>
          </p:cNvSpPr>
          <p:nvPr/>
        </p:nvSpPr>
        <p:spPr>
          <a:xfrm>
            <a:off x="8267700" y="2609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即时情绪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0DAB10A-666A-4CF1-9746-F6907BB0A65B}"/>
              </a:ext>
            </a:extLst>
          </p:cNvPr>
          <p:cNvSpPr>
            <a:spLocks noGrp="1"/>
          </p:cNvSpPr>
          <p:nvPr/>
        </p:nvSpPr>
        <p:spPr>
          <a:xfrm>
            <a:off x="9201150" y="25908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SAM / VAS / PANAS</a:t>
            </a:r>
          </a:p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喜欢度、熟悉度、安全感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0C74297-A3C8-4518-81B9-1A0887DF2477}"/>
              </a:ext>
            </a:extLst>
          </p:cNvPr>
          <p:cNvSpPr>
            <a:spLocks noGrp="1"/>
          </p:cNvSpPr>
          <p:nvPr/>
        </p:nvSpPr>
        <p:spPr>
          <a:xfrm>
            <a:off x="8058150" y="3295650"/>
            <a:ext cx="3143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C4A93A-E8F8-4C84-84C8-E2A74352767F}"/>
              </a:ext>
            </a:extLst>
          </p:cNvPr>
          <p:cNvSpPr>
            <a:spLocks noGrp="1"/>
          </p:cNvSpPr>
          <p:nvPr/>
        </p:nvSpPr>
        <p:spPr>
          <a:xfrm>
            <a:off x="8058150" y="3295650"/>
            <a:ext cx="66675" cy="6096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44581DD-3B20-458D-B963-3D66A9995551}"/>
              </a:ext>
            </a:extLst>
          </p:cNvPr>
          <p:cNvSpPr>
            <a:spLocks noGrp="1"/>
          </p:cNvSpPr>
          <p:nvPr/>
        </p:nvSpPr>
        <p:spPr>
          <a:xfrm>
            <a:off x="8267700" y="33909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生理反应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ECAC221-30D0-4D09-BF12-9A0E1094AB48}"/>
              </a:ext>
            </a:extLst>
          </p:cNvPr>
          <p:cNvSpPr>
            <a:spLocks noGrp="1"/>
          </p:cNvSpPr>
          <p:nvPr/>
        </p:nvSpPr>
        <p:spPr>
          <a:xfrm>
            <a:off x="9201150" y="33718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HRV、心率、呼吸、EDA/GSR</a:t>
            </a:r>
          </a:p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血压、皮温、皮质醇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7FF9BAC-39AE-41F3-90A6-1E7290111E13}"/>
              </a:ext>
            </a:extLst>
          </p:cNvPr>
          <p:cNvSpPr>
            <a:spLocks noGrp="1"/>
          </p:cNvSpPr>
          <p:nvPr/>
        </p:nvSpPr>
        <p:spPr>
          <a:xfrm>
            <a:off x="8058150" y="4076700"/>
            <a:ext cx="3143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F2C899B-0813-47B7-8BBC-2B05C1C4D4F5}"/>
              </a:ext>
            </a:extLst>
          </p:cNvPr>
          <p:cNvSpPr>
            <a:spLocks noGrp="1"/>
          </p:cNvSpPr>
          <p:nvPr/>
        </p:nvSpPr>
        <p:spPr>
          <a:xfrm>
            <a:off x="8058150" y="4076700"/>
            <a:ext cx="66675" cy="6096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8F4D2A5-932E-4066-BD10-E70CF8A391D0}"/>
              </a:ext>
            </a:extLst>
          </p:cNvPr>
          <p:cNvSpPr>
            <a:spLocks noGrp="1"/>
          </p:cNvSpPr>
          <p:nvPr/>
        </p:nvSpPr>
        <p:spPr>
          <a:xfrm>
            <a:off x="8267700" y="41719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行为与声学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74C612B-7E8B-43E5-BA4C-F22DE2A361C6}"/>
              </a:ext>
            </a:extLst>
          </p:cNvPr>
          <p:cNvSpPr>
            <a:spLocks noGrp="1"/>
          </p:cNvSpPr>
          <p:nvPr/>
        </p:nvSpPr>
        <p:spPr>
          <a:xfrm>
            <a:off x="9201150" y="41529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语速、停顿、F0、响度</a:t>
            </a:r>
          </a:p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注意时长、依从性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06252AE-CA0D-4389-BF85-415A23A093B9}"/>
              </a:ext>
            </a:extLst>
          </p:cNvPr>
          <p:cNvSpPr>
            <a:spLocks noGrp="1"/>
          </p:cNvSpPr>
          <p:nvPr/>
        </p:nvSpPr>
        <p:spPr>
          <a:xfrm>
            <a:off x="8058150" y="4857750"/>
            <a:ext cx="3143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37E8CFF-8099-4CD9-B362-985C5E0E6492}"/>
              </a:ext>
            </a:extLst>
          </p:cNvPr>
          <p:cNvSpPr>
            <a:spLocks noGrp="1"/>
          </p:cNvSpPr>
          <p:nvPr/>
        </p:nvSpPr>
        <p:spPr>
          <a:xfrm>
            <a:off x="8058150" y="4857750"/>
            <a:ext cx="66675" cy="60960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1447234-39DD-45E7-ADDB-6FD90DBD6B20}"/>
              </a:ext>
            </a:extLst>
          </p:cNvPr>
          <p:cNvSpPr>
            <a:spLocks noGrp="1"/>
          </p:cNvSpPr>
          <p:nvPr/>
        </p:nvSpPr>
        <p:spPr>
          <a:xfrm>
            <a:off x="8267700" y="49530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临床结局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F1DD48-4E5E-40AC-91AD-C06EA116C98D}"/>
              </a:ext>
            </a:extLst>
          </p:cNvPr>
          <p:cNvSpPr>
            <a:spLocks noGrp="1"/>
          </p:cNvSpPr>
          <p:nvPr/>
        </p:nvSpPr>
        <p:spPr>
          <a:xfrm>
            <a:off x="9201150" y="4933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GAD-7、STAI、HADS、疼痛 NRS</a:t>
            </a:r>
          </a:p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睡眠 PSQI、生活质量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9E4E455-E962-4DB2-A14A-F2A4084D1D2B}"/>
              </a:ext>
            </a:extLst>
          </p:cNvPr>
          <p:cNvSpPr>
            <a:spLocks noGrp="1"/>
          </p:cNvSpPr>
          <p:nvPr/>
        </p:nvSpPr>
        <p:spPr>
          <a:xfrm>
            <a:off x="628650" y="5876097"/>
            <a:ext cx="1104900" cy="266700"/>
          </a:xfrm>
          <a:prstGeom prst="rect">
            <a:avLst/>
          </a:prstGeom>
          <a:solidFill>
            <a:srgbClr val="D95D39">
              <a:alpha val="13333"/>
            </a:srgbClr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28E559E-4A3E-4113-85CC-419DF0084326}"/>
              </a:ext>
            </a:extLst>
          </p:cNvPr>
          <p:cNvSpPr>
            <a:spLocks noGrp="1"/>
          </p:cNvSpPr>
          <p:nvPr/>
        </p:nvSpPr>
        <p:spPr>
          <a:xfrm>
            <a:off x="704850" y="5923722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BRECVEMA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0D16BAC-D2F6-4847-98E5-8132DDC52AEF}"/>
              </a:ext>
            </a:extLst>
          </p:cNvPr>
          <p:cNvSpPr>
            <a:spLocks noGrp="1"/>
          </p:cNvSpPr>
          <p:nvPr/>
        </p:nvSpPr>
        <p:spPr>
          <a:xfrm>
            <a:off x="1894232" y="5943600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音乐情绪机制可归纳为脑干反射、节律同步、条件联结、情绪感染、视觉想象、情景记忆、音乐期待和审美判断。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30ED159-04EB-4A21-BF5C-49CFDBFB4893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听觉来源：Juslin &amp; Vastfjall / BRECVEMA；ISO 12913 soundscape；IADS；DEAP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4614141-8A43-4E2D-8A44-58AE2A4E9D58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010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1757AF96-E4E5-41BD-A263-F4F31445DB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6DA889-482F-46BB-B84E-D537B1F17F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F5A627-5D2C-4858-9B9F-B1B0E7F84930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0164088C-152A-4D97-982C-A5ED251A1DF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0A51C3E4-338B-4047-8D3A-FF68758C9FF1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VISUAL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04685C-C075-4A74-A26C-78E8281E6E92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视觉干预同时依赖低层视觉特征和场景语义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F45C5D-B2B8-4B33-9A25-F705E7A32F96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同一张图像既有亮度、色彩、运动等物理属性，也有面孔、自然、医疗、威胁等语义属性。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视觉干预是通过亮度、色彩、运动、场景语义和沉浸感，改变个体对环境的安全</a:t>
            </a:r>
            <a:r>
              <a:rPr lang="en-US" altLang="zh-CN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/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威胁评价。</a:t>
            </a:r>
            <a:endParaRPr sz="1350" b="0">
              <a:solidFill>
                <a:srgbClr val="45515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DD75B6-D3A5-4A33-B812-282A64B0EBC7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5143500" cy="3181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9BE0A9-0490-418B-8D37-657C09CE9766}"/>
              </a:ext>
            </a:extLst>
          </p:cNvPr>
          <p:cNvSpPr>
            <a:spLocks noGrp="1"/>
          </p:cNvSpPr>
          <p:nvPr/>
        </p:nvSpPr>
        <p:spPr>
          <a:xfrm>
            <a:off x="6515100" y="2000251"/>
            <a:ext cx="5143500" cy="3181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pic>
        <p:nvPicPr>
          <p:cNvPr id="10" name="图形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1050" y="2247900"/>
            <a:ext cx="361950" cy="36195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762750" y="2247900"/>
            <a:ext cx="361950" cy="3619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2CCA067-07CF-4BCC-8CC4-6AC00CEA0A7D}"/>
              </a:ext>
            </a:extLst>
          </p:cNvPr>
          <p:cNvSpPr>
            <a:spLocks noGrp="1"/>
          </p:cNvSpPr>
          <p:nvPr/>
        </p:nvSpPr>
        <p:spPr>
          <a:xfrm>
            <a:off x="1257300" y="227647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低层视觉层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5CCA56-D35F-47DC-8A4F-1582AA2D9939}"/>
              </a:ext>
            </a:extLst>
          </p:cNvPr>
          <p:cNvSpPr>
            <a:spLocks noGrp="1"/>
          </p:cNvSpPr>
          <p:nvPr/>
        </p:nvSpPr>
        <p:spPr>
          <a:xfrm>
            <a:off x="7239000" y="227647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语义与情境层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97273C-7508-4555-B3DA-D89471B2F3D7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0D09AB-1636-4D8A-8C3B-FA4C96B19809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亮度 / 对比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1F0478-8460-47AE-9130-A65F34610331}"/>
              </a:ext>
            </a:extLst>
          </p:cNvPr>
          <p:cNvSpPr>
            <a:spLocks noGrp="1"/>
          </p:cNvSpPr>
          <p:nvPr/>
        </p:nvSpPr>
        <p:spPr>
          <a:xfrm>
            <a:off x="2247900" y="2905125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影响警觉、疲劳、视觉舒适度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36344D-E355-401F-9C2E-6878A43DE3A3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9C3D24-1245-437A-AFCC-4ED2CC1186AD}"/>
              </a:ext>
            </a:extLst>
          </p:cNvPr>
          <p:cNvSpPr>
            <a:spLocks noGrp="1"/>
          </p:cNvSpPr>
          <p:nvPr/>
        </p:nvSpPr>
        <p:spPr>
          <a:xfrm>
            <a:off x="838200" y="34480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色相 / 饱和度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428F8E-B74F-41A0-B21E-57ABFF75EDEE}"/>
              </a:ext>
            </a:extLst>
          </p:cNvPr>
          <p:cNvSpPr>
            <a:spLocks noGrp="1"/>
          </p:cNvSpPr>
          <p:nvPr/>
        </p:nvSpPr>
        <p:spPr>
          <a:xfrm>
            <a:off x="2247900" y="3457575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改变愉悦感与唤醒，需考虑文化差异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2975B6-04CF-4313-A6EE-35BF77273DA4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08B4A-CCAB-4BD1-A103-BCAAA9C0F4C6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运动 / 闪烁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61BF18-647A-4B63-9F3E-A55D03677874}"/>
              </a:ext>
            </a:extLst>
          </p:cNvPr>
          <p:cNvSpPr>
            <a:spLocks noGrp="1"/>
          </p:cNvSpPr>
          <p:nvPr/>
        </p:nvSpPr>
        <p:spPr>
          <a:xfrm>
            <a:off x="2247900" y="4010025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可提高唤醒，也可能诱发不适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CC5231-5A49-48E6-8B50-D368A8A2D643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13F8E0-8BAF-4D3A-8C32-F82D7C9D6F48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复杂度 / 空间频率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79064D6-945F-4872-8E56-903E030CE4C9}"/>
              </a:ext>
            </a:extLst>
          </p:cNvPr>
          <p:cNvSpPr>
            <a:spLocks noGrp="1"/>
          </p:cNvSpPr>
          <p:nvPr/>
        </p:nvSpPr>
        <p:spPr>
          <a:xfrm>
            <a:off x="2247900" y="4562475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影响注意负荷、恢复感和沉浸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EAD5F3-F92D-4E4E-9EB3-7F17517AA816}"/>
              </a:ext>
            </a:extLst>
          </p:cNvPr>
          <p:cNvSpPr>
            <a:spLocks noGrp="1"/>
          </p:cNvSpPr>
          <p:nvPr/>
        </p:nvSpPr>
        <p:spPr>
          <a:xfrm>
            <a:off x="6800850" y="280035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E53717F-A34C-4773-A89B-901DAAFF99D0}"/>
              </a:ext>
            </a:extLst>
          </p:cNvPr>
          <p:cNvSpPr>
            <a:spLocks noGrp="1"/>
          </p:cNvSpPr>
          <p:nvPr/>
        </p:nvSpPr>
        <p:spPr>
          <a:xfrm>
            <a:off x="6819900" y="2895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自然场景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F1840B-DC8D-44F7-B58F-947601CC3AC5}"/>
              </a:ext>
            </a:extLst>
          </p:cNvPr>
          <p:cNvSpPr>
            <a:spLocks noGrp="1"/>
          </p:cNvSpPr>
          <p:nvPr/>
        </p:nvSpPr>
        <p:spPr>
          <a:xfrm>
            <a:off x="8362950" y="2905125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安全感、注意恢复、压力恢复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0EBFDB-50A4-42E1-83E7-9AA43DCCA237}"/>
              </a:ext>
            </a:extLst>
          </p:cNvPr>
          <p:cNvSpPr>
            <a:spLocks noGrp="1"/>
          </p:cNvSpPr>
          <p:nvPr/>
        </p:nvSpPr>
        <p:spPr>
          <a:xfrm>
            <a:off x="6800850" y="335280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AA8F0BB-2C48-489F-B2F7-29D6B2211AA9}"/>
              </a:ext>
            </a:extLst>
          </p:cNvPr>
          <p:cNvSpPr>
            <a:spLocks noGrp="1"/>
          </p:cNvSpPr>
          <p:nvPr/>
        </p:nvSpPr>
        <p:spPr>
          <a:xfrm>
            <a:off x="6819900" y="34480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面部 / 姿态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CEF9B90-FCCC-4AEE-9C78-7BD25385896D}"/>
              </a:ext>
            </a:extLst>
          </p:cNvPr>
          <p:cNvSpPr>
            <a:spLocks noGrp="1"/>
          </p:cNvSpPr>
          <p:nvPr/>
        </p:nvSpPr>
        <p:spPr>
          <a:xfrm>
            <a:off x="8362950" y="3457575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情绪感染与社会线索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B7F4C1B-5C7E-4E30-A9F3-794AFC90A0BD}"/>
              </a:ext>
            </a:extLst>
          </p:cNvPr>
          <p:cNvSpPr>
            <a:spLocks noGrp="1"/>
          </p:cNvSpPr>
          <p:nvPr/>
        </p:nvSpPr>
        <p:spPr>
          <a:xfrm>
            <a:off x="6800850" y="390525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C1D78BE-CE98-4881-B6F2-C34AF4B073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医疗 / 创伤线索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218423-A925-45A8-856C-D52CC4517862}"/>
              </a:ext>
            </a:extLst>
          </p:cNvPr>
          <p:cNvSpPr>
            <a:spLocks noGrp="1"/>
          </p:cNvSpPr>
          <p:nvPr/>
        </p:nvSpPr>
        <p:spPr>
          <a:xfrm>
            <a:off x="8362950" y="4010025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可能诱发威胁评价，需伦理筛查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C7CC29-5C6C-4842-9E25-E861E5B836D2}"/>
              </a:ext>
            </a:extLst>
          </p:cNvPr>
          <p:cNvSpPr>
            <a:spLocks noGrp="1"/>
          </p:cNvSpPr>
          <p:nvPr/>
        </p:nvSpPr>
        <p:spPr>
          <a:xfrm>
            <a:off x="6800850" y="4457700"/>
            <a:ext cx="4267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78BD55E-0D49-4DEE-BE88-DA1ABF3AF39C}"/>
              </a:ext>
            </a:extLst>
          </p:cNvPr>
          <p:cNvSpPr>
            <a:spLocks noGrp="1"/>
          </p:cNvSpPr>
          <p:nvPr/>
        </p:nvSpPr>
        <p:spPr>
          <a:xfrm>
            <a:off x="6819900" y="45529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VR / 暴露场景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055AEC-BB3C-4C01-B5F1-DF35AC511715}"/>
              </a:ext>
            </a:extLst>
          </p:cNvPr>
          <p:cNvSpPr>
            <a:spLocks noGrp="1"/>
          </p:cNvSpPr>
          <p:nvPr/>
        </p:nvSpPr>
        <p:spPr>
          <a:xfrm>
            <a:off x="8362950" y="4562475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可控提高唤醒，再训练恐惧反应下降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B5C00E4-4724-4939-AB49-ECE5D98EAC42}"/>
              </a:ext>
            </a:extLst>
          </p:cNvPr>
          <p:cNvSpPr>
            <a:spLocks noGrp="1"/>
          </p:cNvSpPr>
          <p:nvPr/>
        </p:nvSpPr>
        <p:spPr>
          <a:xfrm>
            <a:off x="931794" y="5457824"/>
            <a:ext cx="2971800" cy="838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24C46E-4B48-4BF8-A327-CC2C0D4B78B3}"/>
              </a:ext>
            </a:extLst>
          </p:cNvPr>
          <p:cNvSpPr>
            <a:spLocks noGrp="1"/>
          </p:cNvSpPr>
          <p:nvPr/>
        </p:nvSpPr>
        <p:spPr>
          <a:xfrm>
            <a:off x="931794" y="5457824"/>
            <a:ext cx="57150" cy="8382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C4E481C-4BBF-44D6-8144-D515F5FF7C44}"/>
              </a:ext>
            </a:extLst>
          </p:cNvPr>
          <p:cNvSpPr>
            <a:spLocks noGrp="1"/>
          </p:cNvSpPr>
          <p:nvPr/>
        </p:nvSpPr>
        <p:spPr>
          <a:xfrm>
            <a:off x="1103244" y="5591174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视觉测量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3547CD6-F470-42D6-A65A-2DF68ECEF2A5}"/>
              </a:ext>
            </a:extLst>
          </p:cNvPr>
          <p:cNvSpPr>
            <a:spLocks noGrp="1"/>
          </p:cNvSpPr>
          <p:nvPr/>
        </p:nvSpPr>
        <p:spPr>
          <a:xfrm>
            <a:off x="1103244" y="5915024"/>
            <a:ext cx="2628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SAM/VAS、眼动、瞳孔、面部表情、HRV/EDA、EEG、模拟器不适。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8C02959-5293-4DA0-A140-3A60F0D9040F}"/>
              </a:ext>
            </a:extLst>
          </p:cNvPr>
          <p:cNvSpPr>
            <a:spLocks noGrp="1"/>
          </p:cNvSpPr>
          <p:nvPr/>
        </p:nvSpPr>
        <p:spPr>
          <a:xfrm>
            <a:off x="4570344" y="5457824"/>
            <a:ext cx="2971800" cy="838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10970FA-FB04-4B56-85A8-7F5C2318F0B7}"/>
              </a:ext>
            </a:extLst>
          </p:cNvPr>
          <p:cNvSpPr>
            <a:spLocks noGrp="1"/>
          </p:cNvSpPr>
          <p:nvPr/>
        </p:nvSpPr>
        <p:spPr>
          <a:xfrm>
            <a:off x="4570344" y="5457824"/>
            <a:ext cx="57150" cy="838200"/>
          </a:xfrm>
          <a:prstGeom prst="rect">
            <a:avLst/>
          </a:prstGeom>
          <a:solidFill>
            <a:srgbClr val="B23A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49D1AE3-A675-43A0-A70B-EB7A6BB116EA}"/>
              </a:ext>
            </a:extLst>
          </p:cNvPr>
          <p:cNvSpPr>
            <a:spLocks noGrp="1"/>
          </p:cNvSpPr>
          <p:nvPr/>
        </p:nvSpPr>
        <p:spPr>
          <a:xfrm>
            <a:off x="4741794" y="5591174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干预风险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D231C40-F6B1-46B8-9460-8E722F2495E4}"/>
              </a:ext>
            </a:extLst>
          </p:cNvPr>
          <p:cNvSpPr>
            <a:spLocks noGrp="1"/>
          </p:cNvSpPr>
          <p:nvPr/>
        </p:nvSpPr>
        <p:spPr>
          <a:xfrm>
            <a:off x="4741794" y="5915024"/>
            <a:ext cx="2628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高闪烁、强运动、创伤线索、VR 眩晕都需要预筛查与退出机制。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596938-4F7A-439B-A462-BCC583959B62}"/>
              </a:ext>
            </a:extLst>
          </p:cNvPr>
          <p:cNvSpPr>
            <a:spLocks noGrp="1"/>
          </p:cNvSpPr>
          <p:nvPr/>
        </p:nvSpPr>
        <p:spPr>
          <a:xfrm>
            <a:off x="8208894" y="5457824"/>
            <a:ext cx="2971800" cy="838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D935255-DCA7-42F8-8FF9-91365CC01907}"/>
              </a:ext>
            </a:extLst>
          </p:cNvPr>
          <p:cNvSpPr>
            <a:spLocks noGrp="1"/>
          </p:cNvSpPr>
          <p:nvPr/>
        </p:nvSpPr>
        <p:spPr>
          <a:xfrm>
            <a:off x="8208894" y="5457824"/>
            <a:ext cx="57150" cy="83820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0451340-5886-45FB-90E9-0F7A133CAB13}"/>
              </a:ext>
            </a:extLst>
          </p:cNvPr>
          <p:cNvSpPr>
            <a:spLocks noGrp="1"/>
          </p:cNvSpPr>
          <p:nvPr/>
        </p:nvSpPr>
        <p:spPr>
          <a:xfrm>
            <a:off x="8380344" y="5591174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内容标定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467784-437A-45AE-81F2-F75CBE8F0E53}"/>
              </a:ext>
            </a:extLst>
          </p:cNvPr>
          <p:cNvSpPr>
            <a:spLocks noGrp="1"/>
          </p:cNvSpPr>
          <p:nvPr/>
        </p:nvSpPr>
        <p:spPr>
          <a:xfrm>
            <a:off x="8380344" y="5915024"/>
            <a:ext cx="2628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IAPS/OASIS 可选材，但目标患者人群仍需重新评分。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5D1FB7-22EF-4A1B-98FE-00D3C589A506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视觉来源：IAPS / OASIS / AffectNet；自然场景压力恢复研究；VR 不适与伦理风险报告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274D678-845D-4778-BE5A-F397AEBAF549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843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E88217DC-316A-4347-BBB9-E59F49FD2D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BB5E0D-8142-4D0D-BCD9-253E600F4F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810344-C998-435A-8220-92697B855EBF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451B0E06-5FBA-477C-93AD-33BEBB74F99E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05FDB1A9-61C9-4137-8D50-11BCFB6FEFE6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BRIDGE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065C2D-B572-4A1B-A334-F57BE4B3282F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干预目标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003867-8039-4E7F-ABD2-A03ED7CC4B04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视听内容干预情感的核心桥梁是“内容可控参数</a:t>
            </a:r>
            <a:r>
              <a:rPr lang="en-US" altLang="zh-CN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—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认知评价</a:t>
            </a:r>
            <a:r>
              <a:rPr lang="en-US" altLang="zh-CN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—VAD/PAD 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状态</a:t>
            </a:r>
            <a:r>
              <a:rPr lang="en-US" altLang="zh-CN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—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生理唤醒</a:t>
            </a:r>
            <a:r>
              <a:rPr lang="en-US" altLang="zh-CN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—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临床结局”的连续链条。</a:t>
            </a: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先定义</a:t>
            </a:r>
            <a:r>
              <a:rPr lang="zh-CN" altLang="en-US"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与选择</a:t>
            </a: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一个情绪维度，再选择声音、图像和测量指标。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3CDFEA-7989-44E9-BD0C-229305BFA818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6286500" cy="3638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53215D-57A4-49CF-BD50-EC4A45B2FC3B}"/>
              </a:ext>
            </a:extLst>
          </p:cNvPr>
          <p:cNvSpPr>
            <a:spLocks noGrp="1"/>
          </p:cNvSpPr>
          <p:nvPr/>
        </p:nvSpPr>
        <p:spPr>
          <a:xfrm>
            <a:off x="4139648" y="2452688"/>
            <a:ext cx="19050" cy="3028950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485D96-5233-4A28-AA1C-D6A465534054}"/>
              </a:ext>
            </a:extLst>
          </p:cNvPr>
          <p:cNvSpPr>
            <a:spLocks noGrp="1"/>
          </p:cNvSpPr>
          <p:nvPr/>
        </p:nvSpPr>
        <p:spPr>
          <a:xfrm>
            <a:off x="1399761" y="3977723"/>
            <a:ext cx="5448300" cy="19050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72363B-A87B-4F42-87B4-B0901587E44B}"/>
              </a:ext>
            </a:extLst>
          </p:cNvPr>
          <p:cNvSpPr>
            <a:spLocks noGrp="1"/>
          </p:cNvSpPr>
          <p:nvPr/>
        </p:nvSpPr>
        <p:spPr>
          <a:xfrm>
            <a:off x="1333500" y="56959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Valence 低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C19F0D-4980-4F7D-A016-202E597BDEA3}"/>
              </a:ext>
            </a:extLst>
          </p:cNvPr>
          <p:cNvSpPr>
            <a:spLocks noGrp="1"/>
          </p:cNvSpPr>
          <p:nvPr/>
        </p:nvSpPr>
        <p:spPr>
          <a:xfrm>
            <a:off x="5638800" y="56959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Valence 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12F5D7-F892-41CD-B04A-61D4EA350D47}"/>
              </a:ext>
            </a:extLst>
          </p:cNvPr>
          <p:cNvSpPr>
            <a:spLocks noGrp="1"/>
          </p:cNvSpPr>
          <p:nvPr/>
        </p:nvSpPr>
        <p:spPr>
          <a:xfrm>
            <a:off x="285750" y="24193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Arousal 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19D947-74A5-462D-A64C-29F5C6376CCC}"/>
              </a:ext>
            </a:extLst>
          </p:cNvPr>
          <p:cNvSpPr>
            <a:spLocks noGrp="1"/>
          </p:cNvSpPr>
          <p:nvPr/>
        </p:nvSpPr>
        <p:spPr>
          <a:xfrm>
            <a:off x="266700" y="54292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Arousal 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29B0E-9A85-4EBC-AE4C-B0D6E8F10DCE}"/>
              </a:ext>
            </a:extLst>
          </p:cNvPr>
          <p:cNvSpPr>
            <a:spLocks noGrp="1"/>
          </p:cNvSpPr>
          <p:nvPr/>
        </p:nvSpPr>
        <p:spPr>
          <a:xfrm>
            <a:off x="1524000" y="2667000"/>
            <a:ext cx="2476500" cy="1181100"/>
          </a:xfrm>
          <a:prstGeom prst="rect">
            <a:avLst/>
          </a:prstGeom>
          <a:solidFill>
            <a:srgbClr val="B23A48">
              <a:alpha val="7843"/>
            </a:srgbClr>
          </a:solidFill>
          <a:ln w="9525">
            <a:solidFill>
              <a:srgbClr val="B23A48">
                <a:alpha val="53333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496694-26E8-462A-BA64-54C059F81017}"/>
              </a:ext>
            </a:extLst>
          </p:cNvPr>
          <p:cNvSpPr>
            <a:spLocks noGrp="1"/>
          </p:cNvSpPr>
          <p:nvPr/>
        </p:nvSpPr>
        <p:spPr>
          <a:xfrm>
            <a:off x="1695450" y="281940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23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B23A48"/>
                </a:solidFill>
                <a:latin typeface="Microsoft YaHei UI"/>
                <a:ea typeface="Microsoft YaHei UI"/>
                <a:cs typeface="Microsoft YaHei UI"/>
              </a:rPr>
              <a:t>紧张 / 威胁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71DAD9-F91F-4C14-9CAC-EF1D4220D334}"/>
              </a:ext>
            </a:extLst>
          </p:cNvPr>
          <p:cNvSpPr>
            <a:spLocks noGrp="1"/>
          </p:cNvSpPr>
          <p:nvPr/>
        </p:nvSpPr>
        <p:spPr>
          <a:xfrm>
            <a:off x="1695450" y="3143250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刺耳、突发声；高对比、快速运动、威胁语义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DA150B-1405-4D99-966E-927D6D63C1D2}"/>
              </a:ext>
            </a:extLst>
          </p:cNvPr>
          <p:cNvSpPr>
            <a:spLocks noGrp="1"/>
          </p:cNvSpPr>
          <p:nvPr/>
        </p:nvSpPr>
        <p:spPr>
          <a:xfrm>
            <a:off x="4305300" y="2667000"/>
            <a:ext cx="2476500" cy="1181100"/>
          </a:xfrm>
          <a:prstGeom prst="rect">
            <a:avLst/>
          </a:prstGeom>
          <a:solidFill>
            <a:srgbClr val="D95D39">
              <a:alpha val="7843"/>
            </a:srgbClr>
          </a:solidFill>
          <a:ln w="9525">
            <a:solidFill>
              <a:srgbClr val="D95D39">
                <a:alpha val="53333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D89E44-BA3B-415A-8419-EC53D1B41093}"/>
              </a:ext>
            </a:extLst>
          </p:cNvPr>
          <p:cNvSpPr>
            <a:spLocks noGrp="1"/>
          </p:cNvSpPr>
          <p:nvPr/>
        </p:nvSpPr>
        <p:spPr>
          <a:xfrm>
            <a:off x="4476750" y="281940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兴奋 / 激活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21AC90-7BD1-462A-8064-C571429BFF13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快节奏音乐；高饱和、明亮、动态社交场景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F47904-A549-4374-85AE-06B85FAEC1EA}"/>
              </a:ext>
            </a:extLst>
          </p:cNvPr>
          <p:cNvSpPr>
            <a:spLocks noGrp="1"/>
          </p:cNvSpPr>
          <p:nvPr/>
        </p:nvSpPr>
        <p:spPr>
          <a:xfrm>
            <a:off x="1524000" y="4152900"/>
            <a:ext cx="2476500" cy="1181100"/>
          </a:xfrm>
          <a:prstGeom prst="rect">
            <a:avLst/>
          </a:prstGeom>
          <a:solidFill>
            <a:srgbClr val="3D5A80">
              <a:alpha val="7843"/>
            </a:srgbClr>
          </a:solidFill>
          <a:ln w="9525">
            <a:solidFill>
              <a:srgbClr val="3D5A80">
                <a:alpha val="53333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0C1885-33F4-444C-9067-39C65AB9E653}"/>
              </a:ext>
            </a:extLst>
          </p:cNvPr>
          <p:cNvSpPr>
            <a:spLocks noGrp="1"/>
          </p:cNvSpPr>
          <p:nvPr/>
        </p:nvSpPr>
        <p:spPr>
          <a:xfrm>
            <a:off x="1695450" y="430530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低落 / 麻木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5ADD7F-FF09-4DAC-B5FC-271017084F22}"/>
              </a:ext>
            </a:extLst>
          </p:cNvPr>
          <p:cNvSpPr>
            <a:spLocks noGrp="1"/>
          </p:cNvSpPr>
          <p:nvPr/>
        </p:nvSpPr>
        <p:spPr>
          <a:xfrm>
            <a:off x="1695450" y="4629150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低效价低唤醒状态；需谨慎避免进一步钝化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934087-F75F-476C-9A5E-F386AF735312}"/>
              </a:ext>
            </a:extLst>
          </p:cNvPr>
          <p:cNvSpPr>
            <a:spLocks noGrp="1"/>
          </p:cNvSpPr>
          <p:nvPr/>
        </p:nvSpPr>
        <p:spPr>
          <a:xfrm>
            <a:off x="4305300" y="4152900"/>
            <a:ext cx="2476500" cy="1181100"/>
          </a:xfrm>
          <a:prstGeom prst="rect">
            <a:avLst/>
          </a:prstGeom>
          <a:solidFill>
            <a:srgbClr val="7CB342">
              <a:alpha val="7843"/>
            </a:srgbClr>
          </a:solidFill>
          <a:ln w="9525">
            <a:solidFill>
              <a:srgbClr val="7CB342">
                <a:alpha val="53333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E4CC9A-8794-434C-812A-61B4F58CD830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平静 / 安全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6AA67-9E83-40A6-BFDE-5EF279AFE0FA}"/>
              </a:ext>
            </a:extLst>
          </p:cNvPr>
          <p:cNvSpPr>
            <a:spLocks noGrp="1"/>
          </p:cNvSpPr>
          <p:nvPr/>
        </p:nvSpPr>
        <p:spPr>
          <a:xfrm>
            <a:off x="4476750" y="4629150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柔和声景、慢节律；自然场景、稳定空间线索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80B70D-CE48-432D-87EC-F45914692AA0}"/>
              </a:ext>
            </a:extLst>
          </p:cNvPr>
          <p:cNvSpPr>
            <a:spLocks noGrp="1"/>
          </p:cNvSpPr>
          <p:nvPr/>
        </p:nvSpPr>
        <p:spPr>
          <a:xfrm>
            <a:off x="7848600" y="2000250"/>
            <a:ext cx="3276600" cy="36385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666857-012A-43A0-A352-71DEA68557AE}"/>
              </a:ext>
            </a:extLst>
          </p:cNvPr>
          <p:cNvSpPr>
            <a:spLocks noGrp="1"/>
          </p:cNvSpPr>
          <p:nvPr/>
        </p:nvSpPr>
        <p:spPr>
          <a:xfrm>
            <a:off x="8153400" y="22860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Dominance / 控制感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7DEBE5-6F3D-47AB-A12B-21D1B52038CC}"/>
              </a:ext>
            </a:extLst>
          </p:cNvPr>
          <p:cNvSpPr>
            <a:spLocks noGrp="1"/>
          </p:cNvSpPr>
          <p:nvPr/>
        </p:nvSpPr>
        <p:spPr>
          <a:xfrm>
            <a:off x="8191500" y="2733675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医学干预中，控制感经常决定同样的唤醒是“挑战”还是“威胁”。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C08D04-3C5F-40A9-B96F-4E31BAC20347}"/>
              </a:ext>
            </a:extLst>
          </p:cNvPr>
          <p:cNvSpPr>
            <a:spLocks noGrp="1"/>
          </p:cNvSpPr>
          <p:nvPr/>
        </p:nvSpPr>
        <p:spPr>
          <a:xfrm>
            <a:off x="8153400" y="3543300"/>
            <a:ext cx="990600" cy="266700"/>
          </a:xfrm>
          <a:prstGeom prst="rect">
            <a:avLst/>
          </a:prstGeom>
          <a:solidFill>
            <a:srgbClr val="B23A48">
              <a:alpha val="13333"/>
            </a:srgbClr>
          </a:solidFill>
          <a:ln w="9525">
            <a:solidFill>
              <a:srgbClr val="B23A4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CB67F7-FC62-4CDE-A548-238789E7A213}"/>
              </a:ext>
            </a:extLst>
          </p:cNvPr>
          <p:cNvSpPr>
            <a:spLocks noGrp="1"/>
          </p:cNvSpPr>
          <p:nvPr/>
        </p:nvSpPr>
        <p:spPr>
          <a:xfrm>
            <a:off x="8229600" y="35909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B23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3A48"/>
                </a:solidFill>
                <a:latin typeface="Microsoft YaHei UI"/>
                <a:ea typeface="Microsoft YaHei UI"/>
                <a:cs typeface="Microsoft YaHei UI"/>
              </a:rPr>
              <a:t>低控制感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3DBA90-A394-4A28-9945-DCB27B570661}"/>
              </a:ext>
            </a:extLst>
          </p:cNvPr>
          <p:cNvSpPr>
            <a:spLocks noGrp="1"/>
          </p:cNvSpPr>
          <p:nvPr/>
        </p:nvSpPr>
        <p:spPr>
          <a:xfrm>
            <a:off x="9315450" y="35528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强制刺激、不可预测、无法退出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8E089F-4549-4C2C-B339-927D80A2CAF1}"/>
              </a:ext>
            </a:extLst>
          </p:cNvPr>
          <p:cNvSpPr>
            <a:spLocks noGrp="1"/>
          </p:cNvSpPr>
          <p:nvPr/>
        </p:nvSpPr>
        <p:spPr>
          <a:xfrm>
            <a:off x="8153400" y="4114800"/>
            <a:ext cx="990600" cy="266700"/>
          </a:xfrm>
          <a:prstGeom prst="rect">
            <a:avLst/>
          </a:prstGeom>
          <a:solidFill>
            <a:srgbClr val="7CB342">
              <a:alpha val="13333"/>
            </a:srgbClr>
          </a:solidFill>
          <a:ln w="9525">
            <a:solidFill>
              <a:srgbClr val="7CB34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D0557CC-4085-4C12-BC50-15EC3659F5C2}"/>
              </a:ext>
            </a:extLst>
          </p:cNvPr>
          <p:cNvSpPr>
            <a:spLocks noGrp="1"/>
          </p:cNvSpPr>
          <p:nvPr/>
        </p:nvSpPr>
        <p:spPr>
          <a:xfrm>
            <a:off x="8229600" y="41624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高控制感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3398B27-AABA-49CE-9823-93DF6614D644}"/>
              </a:ext>
            </a:extLst>
          </p:cNvPr>
          <p:cNvSpPr>
            <a:spLocks noGrp="1"/>
          </p:cNvSpPr>
          <p:nvPr/>
        </p:nvSpPr>
        <p:spPr>
          <a:xfrm>
            <a:off x="9315450" y="41243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可暂停、可选材、可调音量/亮度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F87CAE5-BF63-41C4-BC02-128824B4AE97}"/>
              </a:ext>
            </a:extLst>
          </p:cNvPr>
          <p:cNvSpPr>
            <a:spLocks noGrp="1"/>
          </p:cNvSpPr>
          <p:nvPr/>
        </p:nvSpPr>
        <p:spPr>
          <a:xfrm>
            <a:off x="8153400" y="4686300"/>
            <a:ext cx="990600" cy="266700"/>
          </a:xfrm>
          <a:prstGeom prst="rect">
            <a:avLst/>
          </a:prstGeom>
          <a:solidFill>
            <a:srgbClr val="E9C46A">
              <a:alpha val="13333"/>
            </a:srgbClr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6FC138D-9343-456C-A11C-D3D17A767490}"/>
              </a:ext>
            </a:extLst>
          </p:cNvPr>
          <p:cNvSpPr>
            <a:spLocks noGrp="1"/>
          </p:cNvSpPr>
          <p:nvPr/>
        </p:nvSpPr>
        <p:spPr>
          <a:xfrm>
            <a:off x="8229600" y="47339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报告指标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56F6034-CFD0-401C-B58B-412606ACE011}"/>
              </a:ext>
            </a:extLst>
          </p:cNvPr>
          <p:cNvSpPr>
            <a:spLocks noGrp="1"/>
          </p:cNvSpPr>
          <p:nvPr/>
        </p:nvSpPr>
        <p:spPr>
          <a:xfrm>
            <a:off x="9315450" y="46958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安全感、可控感、眩晕/不适、不良事件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86D091-0F6A-4A45-95BE-8EF27BDB80FD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桥梁模型：Russell circumplex affect；SAM 的 valence / arousal / dominance 评分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7A37A90-CEEC-4181-A47F-A10A20DCFB89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92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4587234F-5DD6-4E4E-B20E-A0CC4EB3DD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73C9D4-B250-4A6C-A71D-BAF6AE8DFC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49597A-4C9D-40B7-8E09-96D170E88F79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47B74C08-F81F-4C16-B16A-AC4A2AEB778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DA8551EE-25FB-49AA-BEB0-3422F2630474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MEASUREMENT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42DD72-1BB5-46D1-870D-1AC29988F202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衡量情感干预</a:t>
            </a:r>
            <a:r>
              <a:rPr lang="zh-CN" altLang="en-US"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的</a:t>
            </a: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五层指标栈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BC4EEC-3648-4726-864C-499C84D932DA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主观、身体、行为、临床、实施过程各回答不同问题；组合后才有医学解释力。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534DC2-8235-40D8-BECE-873F80020652}"/>
              </a:ext>
            </a:extLst>
          </p:cNvPr>
          <p:cNvSpPr>
            <a:spLocks noGrp="1"/>
          </p:cNvSpPr>
          <p:nvPr/>
        </p:nvSpPr>
        <p:spPr>
          <a:xfrm>
            <a:off x="590550" y="2019300"/>
            <a:ext cx="7543800" cy="5334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EA43A2-F398-491D-9EDA-FEA03A1F4929}"/>
              </a:ext>
            </a:extLst>
          </p:cNvPr>
          <p:cNvSpPr>
            <a:spLocks noGrp="1"/>
          </p:cNvSpPr>
          <p:nvPr/>
        </p:nvSpPr>
        <p:spPr>
          <a:xfrm>
            <a:off x="590550" y="2019300"/>
            <a:ext cx="76200" cy="53340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图形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8200" y="2133600"/>
            <a:ext cx="285750" cy="2857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07DBCE8-107E-4593-93F6-6B1795B90E0A}"/>
              </a:ext>
            </a:extLst>
          </p:cNvPr>
          <p:cNvSpPr>
            <a:spLocks noGrp="1"/>
          </p:cNvSpPr>
          <p:nvPr/>
        </p:nvSpPr>
        <p:spPr>
          <a:xfrm>
            <a:off x="1295400" y="217667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主观情绪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C8CB03-9003-4C67-9CBC-F5B5A7D1CC76}"/>
              </a:ext>
            </a:extLst>
          </p:cNvPr>
          <p:cNvSpPr>
            <a:spLocks noGrp="1"/>
          </p:cNvSpPr>
          <p:nvPr/>
        </p:nvSpPr>
        <p:spPr>
          <a:xfrm>
            <a:off x="2533650" y="2193649"/>
            <a:ext cx="521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SAM、VAS、PANAS、愉悦度、紧张度、安全感、沉浸感、喜欢度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D4DE19-0C22-4A94-81B5-05C9347A6903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7543800" cy="5334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1D393F-46D6-459E-B478-6984C4620A11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76200" cy="5334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图形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38200" y="2838450"/>
            <a:ext cx="285750" cy="2857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941B8BC-94CB-4A71-9F7A-C3EF906074F1}"/>
              </a:ext>
            </a:extLst>
          </p:cNvPr>
          <p:cNvSpPr>
            <a:spLocks noGrp="1"/>
          </p:cNvSpPr>
          <p:nvPr/>
        </p:nvSpPr>
        <p:spPr>
          <a:xfrm>
            <a:off x="1295400" y="288152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生理反应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34A243-2DB8-4F7B-BB88-DB96B1385733}"/>
              </a:ext>
            </a:extLst>
          </p:cNvPr>
          <p:cNvSpPr>
            <a:spLocks noGrp="1"/>
          </p:cNvSpPr>
          <p:nvPr/>
        </p:nvSpPr>
        <p:spPr>
          <a:xfrm>
            <a:off x="2533650" y="2895600"/>
            <a:ext cx="521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心率、HRV、EDA/GSR、呼吸、血压、皮温、瞳孔、EEG、EMG、皮质醇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E376CC-08F6-4135-9C9C-376BD1481F75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7543800" cy="5334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30EF0E-CFFF-4A52-8FB7-9BA9885DC9EB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76200" cy="53340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图形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38200" y="3543300"/>
            <a:ext cx="285750" cy="28575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AFC76B4-65E9-48DE-8A83-96879A057940}"/>
              </a:ext>
            </a:extLst>
          </p:cNvPr>
          <p:cNvSpPr>
            <a:spLocks noGrp="1"/>
          </p:cNvSpPr>
          <p:nvPr/>
        </p:nvSpPr>
        <p:spPr>
          <a:xfrm>
            <a:off x="1295400" y="358637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行为信号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74820B-CBF5-41A9-A234-05C95C822E74}"/>
              </a:ext>
            </a:extLst>
          </p:cNvPr>
          <p:cNvSpPr>
            <a:spLocks noGrp="1"/>
          </p:cNvSpPr>
          <p:nvPr/>
        </p:nvSpPr>
        <p:spPr>
          <a:xfrm>
            <a:off x="2533650" y="3614116"/>
            <a:ext cx="521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语速、停顿、F0、面部表情、眼动、头姿、注意时长、依从性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C5C354-B5B5-4A2A-B72A-C1CA327E8A5D}"/>
              </a:ext>
            </a:extLst>
          </p:cNvPr>
          <p:cNvSpPr>
            <a:spLocks noGrp="1"/>
          </p:cNvSpPr>
          <p:nvPr/>
        </p:nvSpPr>
        <p:spPr>
          <a:xfrm>
            <a:off x="590550" y="4133850"/>
            <a:ext cx="7543800" cy="5334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49DE86-9ACB-4F68-B44F-55C1BD6DFE18}"/>
              </a:ext>
            </a:extLst>
          </p:cNvPr>
          <p:cNvSpPr>
            <a:spLocks noGrp="1"/>
          </p:cNvSpPr>
          <p:nvPr/>
        </p:nvSpPr>
        <p:spPr>
          <a:xfrm>
            <a:off x="590550" y="4133850"/>
            <a:ext cx="76200" cy="5334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图形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8200" y="4248150"/>
            <a:ext cx="285750" cy="28575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BBCB5C26-6554-4A4C-BA97-04490AF9279A}"/>
              </a:ext>
            </a:extLst>
          </p:cNvPr>
          <p:cNvSpPr>
            <a:spLocks noGrp="1"/>
          </p:cNvSpPr>
          <p:nvPr/>
        </p:nvSpPr>
        <p:spPr>
          <a:xfrm>
            <a:off x="1295400" y="429122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临床结局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0C9DBF6-5DDC-4881-B1AE-645179EE03D5}"/>
              </a:ext>
            </a:extLst>
          </p:cNvPr>
          <p:cNvSpPr>
            <a:spLocks noGrp="1"/>
          </p:cNvSpPr>
          <p:nvPr/>
        </p:nvSpPr>
        <p:spPr>
          <a:xfrm>
            <a:off x="2533650" y="4305300"/>
            <a:ext cx="521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PHQ-9/PHQ-8、GAD-7、STAI、HADS、PSS、疼痛 NRS、PSQI、EQ-5D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7AA7213-C83F-442B-8188-2A2DBAF4B3AB}"/>
              </a:ext>
            </a:extLst>
          </p:cNvPr>
          <p:cNvSpPr>
            <a:spLocks noGrp="1"/>
          </p:cNvSpPr>
          <p:nvPr/>
        </p:nvSpPr>
        <p:spPr>
          <a:xfrm>
            <a:off x="590550" y="4838700"/>
            <a:ext cx="7543800" cy="5334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85F358B-D9AF-4304-9305-CB008B90686E}"/>
              </a:ext>
            </a:extLst>
          </p:cNvPr>
          <p:cNvSpPr>
            <a:spLocks noGrp="1"/>
          </p:cNvSpPr>
          <p:nvPr/>
        </p:nvSpPr>
        <p:spPr>
          <a:xfrm>
            <a:off x="590550" y="4838700"/>
            <a:ext cx="76200" cy="53340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图形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8200" y="4953000"/>
            <a:ext cx="285750" cy="28575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188E787A-C231-497A-AB3F-33467909D76A}"/>
              </a:ext>
            </a:extLst>
          </p:cNvPr>
          <p:cNvSpPr>
            <a:spLocks noGrp="1"/>
          </p:cNvSpPr>
          <p:nvPr/>
        </p:nvSpPr>
        <p:spPr>
          <a:xfrm>
            <a:off x="1295400" y="499607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实施质量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9054D51-9E99-4664-8709-94DA33B4C56B}"/>
              </a:ext>
            </a:extLst>
          </p:cNvPr>
          <p:cNvSpPr>
            <a:spLocks noGrp="1"/>
          </p:cNvSpPr>
          <p:nvPr/>
        </p:nvSpPr>
        <p:spPr>
          <a:xfrm>
            <a:off x="2533650" y="5003110"/>
            <a:ext cx="521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剂量、频次、材料来源、个性化、退出率、不良事件、TIDieR 报告完整度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6FE8FA1-57C3-4A3C-9584-1E6315FD54BA}"/>
              </a:ext>
            </a:extLst>
          </p:cNvPr>
          <p:cNvSpPr>
            <a:spLocks noGrp="1"/>
          </p:cNvSpPr>
          <p:nvPr/>
        </p:nvSpPr>
        <p:spPr>
          <a:xfrm>
            <a:off x="8705850" y="2038350"/>
            <a:ext cx="2476500" cy="335280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B9E8B2-C752-4EA9-87B3-BAB19A34FF48}"/>
              </a:ext>
            </a:extLst>
          </p:cNvPr>
          <p:cNvSpPr>
            <a:spLocks noGrp="1"/>
          </p:cNvSpPr>
          <p:nvPr/>
        </p:nvSpPr>
        <p:spPr>
          <a:xfrm>
            <a:off x="8972550" y="22860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时间点设计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376E0D-AF51-4C5E-B1CA-89B2A0CD7E67}"/>
              </a:ext>
            </a:extLst>
          </p:cNvPr>
          <p:cNvSpPr>
            <a:spLocks noGrp="1"/>
          </p:cNvSpPr>
          <p:nvPr/>
        </p:nvSpPr>
        <p:spPr>
          <a:xfrm>
            <a:off x="8991600" y="2857500"/>
            <a:ext cx="647700" cy="2476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75885A8-2AAD-4009-B3C1-ED6B53B7AC11}"/>
              </a:ext>
            </a:extLst>
          </p:cNvPr>
          <p:cNvSpPr>
            <a:spLocks noGrp="1"/>
          </p:cNvSpPr>
          <p:nvPr/>
        </p:nvSpPr>
        <p:spPr>
          <a:xfrm>
            <a:off x="8991600" y="2905125"/>
            <a:ext cx="647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Pre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B9F105-2812-4282-9EEB-8C4161FA56B9}"/>
              </a:ext>
            </a:extLst>
          </p:cNvPr>
          <p:cNvSpPr>
            <a:spLocks noGrp="1"/>
          </p:cNvSpPr>
          <p:nvPr/>
        </p:nvSpPr>
        <p:spPr>
          <a:xfrm>
            <a:off x="9772650" y="2867025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基线症状、偏好、风险筛查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D59D66A-E63C-4F3C-A1BF-6368646021D4}"/>
              </a:ext>
            </a:extLst>
          </p:cNvPr>
          <p:cNvSpPr>
            <a:spLocks noGrp="1"/>
          </p:cNvSpPr>
          <p:nvPr/>
        </p:nvSpPr>
        <p:spPr>
          <a:xfrm>
            <a:off x="9305925" y="3143250"/>
            <a:ext cx="19050" cy="209550"/>
          </a:xfrm>
          <a:prstGeom prst="rect">
            <a:avLst/>
          </a:prstGeom>
          <a:solidFill>
            <a:srgbClr val="897D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CB0C76-37EF-44EE-98D2-ADF4C3E8C9FD}"/>
              </a:ext>
            </a:extLst>
          </p:cNvPr>
          <p:cNvSpPr>
            <a:spLocks noGrp="1"/>
          </p:cNvSpPr>
          <p:nvPr/>
        </p:nvSpPr>
        <p:spPr>
          <a:xfrm>
            <a:off x="8991600" y="3409950"/>
            <a:ext cx="647700" cy="2476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60E94E-0187-4D25-B358-8E3F15B3F66B}"/>
              </a:ext>
            </a:extLst>
          </p:cNvPr>
          <p:cNvSpPr>
            <a:spLocks noGrp="1"/>
          </p:cNvSpPr>
          <p:nvPr/>
        </p:nvSpPr>
        <p:spPr>
          <a:xfrm>
            <a:off x="8991600" y="3457575"/>
            <a:ext cx="647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During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E6C557-5FDC-4961-8267-6D8A44FCD998}"/>
              </a:ext>
            </a:extLst>
          </p:cNvPr>
          <p:cNvSpPr>
            <a:spLocks noGrp="1"/>
          </p:cNvSpPr>
          <p:nvPr/>
        </p:nvSpPr>
        <p:spPr>
          <a:xfrm>
            <a:off x="9772650" y="3419475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即时 VAD、HRV/EDA、行为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B37D40D-2521-4EFF-9D40-FB1304B83FFC}"/>
              </a:ext>
            </a:extLst>
          </p:cNvPr>
          <p:cNvSpPr>
            <a:spLocks noGrp="1"/>
          </p:cNvSpPr>
          <p:nvPr/>
        </p:nvSpPr>
        <p:spPr>
          <a:xfrm>
            <a:off x="9305925" y="3695700"/>
            <a:ext cx="19050" cy="209550"/>
          </a:xfrm>
          <a:prstGeom prst="rect">
            <a:avLst/>
          </a:prstGeom>
          <a:solidFill>
            <a:srgbClr val="897D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0DF80B5-0862-42AF-89DE-460B0A8A8D62}"/>
              </a:ext>
            </a:extLst>
          </p:cNvPr>
          <p:cNvSpPr>
            <a:spLocks noGrp="1"/>
          </p:cNvSpPr>
          <p:nvPr/>
        </p:nvSpPr>
        <p:spPr>
          <a:xfrm>
            <a:off x="8991600" y="3962400"/>
            <a:ext cx="647700" cy="24765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1406C9D-47FC-45A7-9AA2-AA55D20EA533}"/>
              </a:ext>
            </a:extLst>
          </p:cNvPr>
          <p:cNvSpPr>
            <a:spLocks noGrp="1"/>
          </p:cNvSpPr>
          <p:nvPr/>
        </p:nvSpPr>
        <p:spPr>
          <a:xfrm>
            <a:off x="8991600" y="4010025"/>
            <a:ext cx="647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Post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23E862-D2FB-4AED-96F0-6D67C7AD85F6}"/>
              </a:ext>
            </a:extLst>
          </p:cNvPr>
          <p:cNvSpPr>
            <a:spLocks noGrp="1"/>
          </p:cNvSpPr>
          <p:nvPr/>
        </p:nvSpPr>
        <p:spPr>
          <a:xfrm>
            <a:off x="9772650" y="4010025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干预后情绪与症状变化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077FD1-4C17-4327-9C06-4E7E525A2643}"/>
              </a:ext>
            </a:extLst>
          </p:cNvPr>
          <p:cNvSpPr>
            <a:spLocks noGrp="1"/>
          </p:cNvSpPr>
          <p:nvPr/>
        </p:nvSpPr>
        <p:spPr>
          <a:xfrm>
            <a:off x="9305925" y="4248150"/>
            <a:ext cx="19050" cy="209550"/>
          </a:xfrm>
          <a:prstGeom prst="rect">
            <a:avLst/>
          </a:prstGeom>
          <a:solidFill>
            <a:srgbClr val="897D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69FE42E-5875-40F0-8CA3-E4A59281F354}"/>
              </a:ext>
            </a:extLst>
          </p:cNvPr>
          <p:cNvSpPr>
            <a:spLocks noGrp="1"/>
          </p:cNvSpPr>
          <p:nvPr/>
        </p:nvSpPr>
        <p:spPr>
          <a:xfrm>
            <a:off x="8991600" y="4514850"/>
            <a:ext cx="647700" cy="24765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ECEC8E6-725D-4568-9352-ABB2C029D582}"/>
              </a:ext>
            </a:extLst>
          </p:cNvPr>
          <p:cNvSpPr>
            <a:spLocks noGrp="1"/>
          </p:cNvSpPr>
          <p:nvPr/>
        </p:nvSpPr>
        <p:spPr>
          <a:xfrm>
            <a:off x="8991600" y="4562475"/>
            <a:ext cx="647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Follow-up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C7D177D-AE69-4E21-9261-421EB0B9F570}"/>
              </a:ext>
            </a:extLst>
          </p:cNvPr>
          <p:cNvSpPr>
            <a:spLocks noGrp="1"/>
          </p:cNvSpPr>
          <p:nvPr/>
        </p:nvSpPr>
        <p:spPr>
          <a:xfrm>
            <a:off x="9772650" y="4524375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DE8DE"/>
                </a:solidFill>
                <a:latin typeface="Microsoft YaHei UI"/>
                <a:ea typeface="Microsoft YaHei UI"/>
                <a:cs typeface="Microsoft YaHei UI"/>
              </a:rPr>
              <a:t>维持效果、依从性、不良事件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B0DB2EB-ECB7-4DFE-AC21-7181413E78BA}"/>
              </a:ext>
            </a:extLst>
          </p:cNvPr>
          <p:cNvSpPr>
            <a:spLocks noGrp="1"/>
          </p:cNvSpPr>
          <p:nvPr/>
        </p:nvSpPr>
        <p:spPr>
          <a:xfrm>
            <a:off x="762000" y="5772150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解释原则：EDA更像“唤醒”，量表更像“主观体验”，临床量表更像“治疗结局”；三者不能互相替代。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DF46EE5-455C-4BCB-AE30-1D3B5B02B20A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指标来源：SAM；PANAS；PHQ-9；GAD-7；STAI/HADS/PSS/PSQI；TIDieR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E96B368-F6C2-4B5A-B907-97B29AAF725C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812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1269C55F-90AA-48CE-80B5-17A886B46A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F6AFDB-F311-44F9-B920-95C4B9F99F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D6482A-F2CC-418E-919E-684B666C648F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3194D177-1096-4685-B2FE-C57489C2D9C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B238C287-5AF3-46C5-9E67-0721A72A9116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DATASETS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C3721E-993C-484A-B2A7-7A5B9B647E44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相关数据集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055BFB-7635-4E66-9D61-80A267635A9B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规范刺激库、诱发实验库、表达识别库、临床/穿戴库回答的问题不同。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46CB48-39D5-4221-A92A-7E23FA70E737}"/>
              </a:ext>
            </a:extLst>
          </p:cNvPr>
          <p:cNvSpPr>
            <a:spLocks noGrp="1"/>
          </p:cNvSpPr>
          <p:nvPr/>
        </p:nvSpPr>
        <p:spPr>
          <a:xfrm>
            <a:off x="514350" y="2000250"/>
            <a:ext cx="180975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87655B-1A61-4E40-AF2F-EF39CEF4AC70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数据角色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019E9D-AF7B-4F41-B812-2059D0B6C5ED}"/>
              </a:ext>
            </a:extLst>
          </p:cNvPr>
          <p:cNvSpPr>
            <a:spLocks noGrp="1"/>
          </p:cNvSpPr>
          <p:nvPr/>
        </p:nvSpPr>
        <p:spPr>
          <a:xfrm>
            <a:off x="2324100" y="2000250"/>
            <a:ext cx="238125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5EB43E-5E23-46FD-A151-029EF9A3C9B8}"/>
              </a:ext>
            </a:extLst>
          </p:cNvPr>
          <p:cNvSpPr>
            <a:spLocks noGrp="1"/>
          </p:cNvSpPr>
          <p:nvPr/>
        </p:nvSpPr>
        <p:spPr>
          <a:xfrm>
            <a:off x="2438400" y="2114550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代表数据集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B283C9-1CDE-40A9-ACAB-604537937FCB}"/>
              </a:ext>
            </a:extLst>
          </p:cNvPr>
          <p:cNvSpPr>
            <a:spLocks noGrp="1"/>
          </p:cNvSpPr>
          <p:nvPr/>
        </p:nvSpPr>
        <p:spPr>
          <a:xfrm>
            <a:off x="4705350" y="2000250"/>
            <a:ext cx="285750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480937-04F8-4BF5-843B-C2D3F7305D61}"/>
              </a:ext>
            </a:extLst>
          </p:cNvPr>
          <p:cNvSpPr>
            <a:spLocks noGrp="1"/>
          </p:cNvSpPr>
          <p:nvPr/>
        </p:nvSpPr>
        <p:spPr>
          <a:xfrm>
            <a:off x="4819650" y="2114550"/>
            <a:ext cx="2628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核心标签 / 信号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E0B864-E5AA-49F5-9314-1CB94542D336}"/>
              </a:ext>
            </a:extLst>
          </p:cNvPr>
          <p:cNvSpPr>
            <a:spLocks noGrp="1"/>
          </p:cNvSpPr>
          <p:nvPr/>
        </p:nvSpPr>
        <p:spPr>
          <a:xfrm>
            <a:off x="7562850" y="2000250"/>
            <a:ext cx="314325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70366C-AAC8-4113-B1AB-B1A10FD07F9A}"/>
              </a:ext>
            </a:extLst>
          </p:cNvPr>
          <p:cNvSpPr>
            <a:spLocks noGrp="1"/>
          </p:cNvSpPr>
          <p:nvPr/>
        </p:nvSpPr>
        <p:spPr>
          <a:xfrm>
            <a:off x="7677150" y="2114550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适合回答的问题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B116C3-C78E-4FE6-AEE1-8532CCD9CB4D}"/>
              </a:ext>
            </a:extLst>
          </p:cNvPr>
          <p:cNvSpPr>
            <a:spLocks noGrp="1"/>
          </p:cNvSpPr>
          <p:nvPr/>
        </p:nvSpPr>
        <p:spPr>
          <a:xfrm>
            <a:off x="514350" y="2400300"/>
            <a:ext cx="180975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CE826F-9A55-4013-985B-1CD7C056F5FC}"/>
              </a:ext>
            </a:extLst>
          </p:cNvPr>
          <p:cNvSpPr>
            <a:spLocks noGrp="1"/>
          </p:cNvSpPr>
          <p:nvPr/>
        </p:nvSpPr>
        <p:spPr>
          <a:xfrm>
            <a:off x="514350" y="2400300"/>
            <a:ext cx="57150" cy="74295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3FB54C-A773-4F0D-8025-80F4E9173BBF}"/>
              </a:ext>
            </a:extLst>
          </p:cNvPr>
          <p:cNvSpPr>
            <a:spLocks noGrp="1"/>
          </p:cNvSpPr>
          <p:nvPr/>
        </p:nvSpPr>
        <p:spPr>
          <a:xfrm>
            <a:off x="647700" y="2514600"/>
            <a:ext cx="1543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规范刺激库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E0CDDB-350D-41D2-8D7B-A52A1CD5C1B3}"/>
              </a:ext>
            </a:extLst>
          </p:cNvPr>
          <p:cNvSpPr>
            <a:spLocks noGrp="1"/>
          </p:cNvSpPr>
          <p:nvPr/>
        </p:nvSpPr>
        <p:spPr>
          <a:xfrm>
            <a:off x="2324100" y="2400300"/>
            <a:ext cx="238125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684A3DC-7F42-4ADC-BD02-07537215C702}"/>
              </a:ext>
            </a:extLst>
          </p:cNvPr>
          <p:cNvSpPr>
            <a:spLocks noGrp="1"/>
          </p:cNvSpPr>
          <p:nvPr/>
        </p:nvSpPr>
        <p:spPr>
          <a:xfrm>
            <a:off x="2457450" y="2514600"/>
            <a:ext cx="2114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IAPS / OASIS / IADS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6471D5-EBF4-4B0A-ABF3-3FA1EE2C551B}"/>
              </a:ext>
            </a:extLst>
          </p:cNvPr>
          <p:cNvSpPr>
            <a:spLocks noGrp="1"/>
          </p:cNvSpPr>
          <p:nvPr/>
        </p:nvSpPr>
        <p:spPr>
          <a:xfrm>
            <a:off x="4705350" y="2400300"/>
            <a:ext cx="285750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840D549-64DF-4A01-9ADF-D7AFE048845F}"/>
              </a:ext>
            </a:extLst>
          </p:cNvPr>
          <p:cNvSpPr>
            <a:spLocks noGrp="1"/>
          </p:cNvSpPr>
          <p:nvPr/>
        </p:nvSpPr>
        <p:spPr>
          <a:xfrm>
            <a:off x="4838700" y="2514600"/>
            <a:ext cx="2590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图片或声音的valence、arousal、dominance规范评分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5939B4-FCEA-43DA-811E-FAF5A0BFA977}"/>
              </a:ext>
            </a:extLst>
          </p:cNvPr>
          <p:cNvSpPr>
            <a:spLocks noGrp="1"/>
          </p:cNvSpPr>
          <p:nvPr/>
        </p:nvSpPr>
        <p:spPr>
          <a:xfrm>
            <a:off x="7562850" y="2400300"/>
            <a:ext cx="314325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D6845C-5D85-44D6-8E76-AD11B0493CBF}"/>
              </a:ext>
            </a:extLst>
          </p:cNvPr>
          <p:cNvSpPr>
            <a:spLocks noGrp="1"/>
          </p:cNvSpPr>
          <p:nvPr/>
        </p:nvSpPr>
        <p:spPr>
          <a:xfrm>
            <a:off x="7696200" y="2514600"/>
            <a:ext cx="287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选材与预标定：先找可能放松、激活或诱发压力的材料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002250-F6E8-4A0A-B2DD-023DDB1C073A}"/>
              </a:ext>
            </a:extLst>
          </p:cNvPr>
          <p:cNvSpPr>
            <a:spLocks noGrp="1"/>
          </p:cNvSpPr>
          <p:nvPr/>
        </p:nvSpPr>
        <p:spPr>
          <a:xfrm>
            <a:off x="514350" y="3143250"/>
            <a:ext cx="180975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8063B5-060C-4C7C-94BA-0FD723EB8090}"/>
              </a:ext>
            </a:extLst>
          </p:cNvPr>
          <p:cNvSpPr>
            <a:spLocks noGrp="1"/>
          </p:cNvSpPr>
          <p:nvPr/>
        </p:nvSpPr>
        <p:spPr>
          <a:xfrm>
            <a:off x="514350" y="3143250"/>
            <a:ext cx="57150" cy="7429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0CAA35-DA0F-4986-AC51-9E1B9C5B509F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1543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视听诱发库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F5F6BB-5F0F-4ACC-B605-4FE42B1CFD66}"/>
              </a:ext>
            </a:extLst>
          </p:cNvPr>
          <p:cNvSpPr>
            <a:spLocks noGrp="1"/>
          </p:cNvSpPr>
          <p:nvPr/>
        </p:nvSpPr>
        <p:spPr>
          <a:xfrm>
            <a:off x="2324100" y="3143250"/>
            <a:ext cx="238125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7AB5276-08F9-491C-88C0-24B34C2680CB}"/>
              </a:ext>
            </a:extLst>
          </p:cNvPr>
          <p:cNvSpPr>
            <a:spLocks noGrp="1"/>
          </p:cNvSpPr>
          <p:nvPr/>
        </p:nvSpPr>
        <p:spPr>
          <a:xfrm>
            <a:off x="2457450" y="3257550"/>
            <a:ext cx="2114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DEAP / DREAMER / AMIGOS / MAHNOB-HCI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48EF47-8A11-410A-8469-6D0E54BC18CF}"/>
              </a:ext>
            </a:extLst>
          </p:cNvPr>
          <p:cNvSpPr>
            <a:spLocks noGrp="1"/>
          </p:cNvSpPr>
          <p:nvPr/>
        </p:nvSpPr>
        <p:spPr>
          <a:xfrm>
            <a:off x="4705350" y="3143250"/>
            <a:ext cx="285750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26CEE9C-834F-4D24-A71C-EB6AFA0F5F54}"/>
              </a:ext>
            </a:extLst>
          </p:cNvPr>
          <p:cNvSpPr>
            <a:spLocks noGrp="1"/>
          </p:cNvSpPr>
          <p:nvPr/>
        </p:nvSpPr>
        <p:spPr>
          <a:xfrm>
            <a:off x="4838700" y="3257550"/>
            <a:ext cx="2590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音乐视频或视频刺激 + EEG、ECG、EDA等生理信号 + VAD</a:t>
            </a:r>
            <a:r>
              <a:rPr lang="zh-CN" altLang="en-US"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评分</a:t>
            </a:r>
            <a:endParaRPr sz="900" b="0">
              <a:solidFill>
                <a:srgbClr val="45515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04E3D1-9242-49BC-BDA4-FBB315846FA1}"/>
              </a:ext>
            </a:extLst>
          </p:cNvPr>
          <p:cNvSpPr>
            <a:spLocks noGrp="1"/>
          </p:cNvSpPr>
          <p:nvPr/>
        </p:nvSpPr>
        <p:spPr>
          <a:xfrm>
            <a:off x="7562850" y="3143250"/>
            <a:ext cx="314325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4201CA-6FCC-4E2F-B47F-5BE2E8399A5A}"/>
              </a:ext>
            </a:extLst>
          </p:cNvPr>
          <p:cNvSpPr>
            <a:spLocks noGrp="1"/>
          </p:cNvSpPr>
          <p:nvPr/>
        </p:nvSpPr>
        <p:spPr>
          <a:xfrm>
            <a:off x="7696200" y="3257550"/>
            <a:ext cx="287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建立内容特征、情绪评分和生理反应之间的模型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773BCB3-F9E5-4C05-B2E7-E6DF74E8917A}"/>
              </a:ext>
            </a:extLst>
          </p:cNvPr>
          <p:cNvSpPr>
            <a:spLocks noGrp="1"/>
          </p:cNvSpPr>
          <p:nvPr/>
        </p:nvSpPr>
        <p:spPr>
          <a:xfrm>
            <a:off x="514350" y="3886200"/>
            <a:ext cx="180975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8B94DD6-51E5-42D2-9EF6-94367585657A}"/>
              </a:ext>
            </a:extLst>
          </p:cNvPr>
          <p:cNvSpPr>
            <a:spLocks noGrp="1"/>
          </p:cNvSpPr>
          <p:nvPr/>
        </p:nvSpPr>
        <p:spPr>
          <a:xfrm>
            <a:off x="514350" y="3886200"/>
            <a:ext cx="57150" cy="7429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3CFC4C-498C-48F2-86FB-861B18171CBF}"/>
              </a:ext>
            </a:extLst>
          </p:cNvPr>
          <p:cNvSpPr>
            <a:spLocks noGrp="1"/>
          </p:cNvSpPr>
          <p:nvPr/>
        </p:nvSpPr>
        <p:spPr>
          <a:xfrm>
            <a:off x="647700" y="4000500"/>
            <a:ext cx="1543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表达识别库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3A3C32C-A4AB-45EC-9C5D-CFAA2C1F71F8}"/>
              </a:ext>
            </a:extLst>
          </p:cNvPr>
          <p:cNvSpPr>
            <a:spLocks noGrp="1"/>
          </p:cNvSpPr>
          <p:nvPr/>
        </p:nvSpPr>
        <p:spPr>
          <a:xfrm>
            <a:off x="2324100" y="3886200"/>
            <a:ext cx="238125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BD50234-12E7-45F5-BDE2-5E9DE6CFD135}"/>
              </a:ext>
            </a:extLst>
          </p:cNvPr>
          <p:cNvSpPr>
            <a:spLocks noGrp="1"/>
          </p:cNvSpPr>
          <p:nvPr/>
        </p:nvSpPr>
        <p:spPr>
          <a:xfrm>
            <a:off x="2457450" y="4000500"/>
            <a:ext cx="2114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IEMOCAP / RAVDESS / AffectNet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7EE63FB-90D8-4E32-833B-D69DE1431617}"/>
              </a:ext>
            </a:extLst>
          </p:cNvPr>
          <p:cNvSpPr>
            <a:spLocks noGrp="1"/>
          </p:cNvSpPr>
          <p:nvPr/>
        </p:nvSpPr>
        <p:spPr>
          <a:xfrm>
            <a:off x="4705350" y="3886200"/>
            <a:ext cx="285750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E0AB17D-6F20-4AE1-B03E-1DE8E2D8BBE6}"/>
              </a:ext>
            </a:extLst>
          </p:cNvPr>
          <p:cNvSpPr>
            <a:spLocks noGrp="1"/>
          </p:cNvSpPr>
          <p:nvPr/>
        </p:nvSpPr>
        <p:spPr>
          <a:xfrm>
            <a:off x="4838700" y="4000500"/>
            <a:ext cx="2590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语音、面部、文本、动作；类别情绪或 VAD 标注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3580653-03DA-47C7-9032-405362013C4E}"/>
              </a:ext>
            </a:extLst>
          </p:cNvPr>
          <p:cNvSpPr>
            <a:spLocks noGrp="1"/>
          </p:cNvSpPr>
          <p:nvPr/>
        </p:nvSpPr>
        <p:spPr>
          <a:xfrm>
            <a:off x="7562850" y="3886200"/>
            <a:ext cx="3143250" cy="742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FD2C7B-6895-4AF9-A305-9A3B3EA9EC17}"/>
              </a:ext>
            </a:extLst>
          </p:cNvPr>
          <p:cNvSpPr>
            <a:spLocks noGrp="1"/>
          </p:cNvSpPr>
          <p:nvPr/>
        </p:nvSpPr>
        <p:spPr>
          <a:xfrm>
            <a:off x="7696200" y="4000500"/>
            <a:ext cx="287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识别患者表达出来的情绪，而不是直接证明干预效果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AA2436-CD0B-4908-9ED3-256A0CC38BE4}"/>
              </a:ext>
            </a:extLst>
          </p:cNvPr>
          <p:cNvSpPr>
            <a:spLocks noGrp="1"/>
          </p:cNvSpPr>
          <p:nvPr/>
        </p:nvSpPr>
        <p:spPr>
          <a:xfrm>
            <a:off x="514350" y="4629150"/>
            <a:ext cx="180975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2E8FD7D-3A6D-451C-BFA8-4252166A6C57}"/>
              </a:ext>
            </a:extLst>
          </p:cNvPr>
          <p:cNvSpPr>
            <a:spLocks noGrp="1"/>
          </p:cNvSpPr>
          <p:nvPr/>
        </p:nvSpPr>
        <p:spPr>
          <a:xfrm>
            <a:off x="514350" y="4629150"/>
            <a:ext cx="57150" cy="74295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2952D0E-1184-4D33-8CA9-24ACBE35FDDA}"/>
              </a:ext>
            </a:extLst>
          </p:cNvPr>
          <p:cNvSpPr>
            <a:spLocks noGrp="1"/>
          </p:cNvSpPr>
          <p:nvPr/>
        </p:nvSpPr>
        <p:spPr>
          <a:xfrm>
            <a:off x="647700" y="4743450"/>
            <a:ext cx="1543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压力/临床库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40B65B7-D2B4-47A8-B407-8F80347F0503}"/>
              </a:ext>
            </a:extLst>
          </p:cNvPr>
          <p:cNvSpPr>
            <a:spLocks noGrp="1"/>
          </p:cNvSpPr>
          <p:nvPr/>
        </p:nvSpPr>
        <p:spPr>
          <a:xfrm>
            <a:off x="2324100" y="4629150"/>
            <a:ext cx="238125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2D1273A-691C-4D64-BBCD-52948AC3A94D}"/>
              </a:ext>
            </a:extLst>
          </p:cNvPr>
          <p:cNvSpPr>
            <a:spLocks noGrp="1"/>
          </p:cNvSpPr>
          <p:nvPr/>
        </p:nvSpPr>
        <p:spPr>
          <a:xfrm>
            <a:off x="2457450" y="4743450"/>
            <a:ext cx="2114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WESAD / DAIC-WOZ / E-DAIC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BD030D7-363C-4FC3-A996-D3242C48EB20}"/>
              </a:ext>
            </a:extLst>
          </p:cNvPr>
          <p:cNvSpPr>
            <a:spLocks noGrp="1"/>
          </p:cNvSpPr>
          <p:nvPr/>
        </p:nvSpPr>
        <p:spPr>
          <a:xfrm>
            <a:off x="4705350" y="4629150"/>
            <a:ext cx="285750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39A51B8-7C61-4335-B184-722AA4477514}"/>
              </a:ext>
            </a:extLst>
          </p:cNvPr>
          <p:cNvSpPr>
            <a:spLocks noGrp="1"/>
          </p:cNvSpPr>
          <p:nvPr/>
        </p:nvSpPr>
        <p:spPr>
          <a:xfrm>
            <a:off x="4838700" y="4743450"/>
            <a:ext cx="2590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穿戴生理压力标签；临床访谈音视频 + PHQ 等问卷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739F744-C289-4C41-AC1B-70A50B7A9404}"/>
              </a:ext>
            </a:extLst>
          </p:cNvPr>
          <p:cNvSpPr>
            <a:spLocks noGrp="1"/>
          </p:cNvSpPr>
          <p:nvPr/>
        </p:nvSpPr>
        <p:spPr>
          <a:xfrm>
            <a:off x="7562850" y="4629150"/>
            <a:ext cx="3143250" cy="74295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64743FE-FF4F-4063-B73D-2D5E9D3233D8}"/>
              </a:ext>
            </a:extLst>
          </p:cNvPr>
          <p:cNvSpPr>
            <a:spLocks noGrp="1"/>
          </p:cNvSpPr>
          <p:nvPr/>
        </p:nvSpPr>
        <p:spPr>
          <a:xfrm>
            <a:off x="7696200" y="4743450"/>
            <a:ext cx="287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压力/抑郁困扰识别，辅助干预前风险评估和随访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103C27D-2A17-4D35-8557-1E358F3C62C6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47750" cy="285750"/>
          </a:xfrm>
          <a:prstGeom prst="rect">
            <a:avLst/>
          </a:prstGeom>
          <a:solidFill>
            <a:srgbClr val="E9C46A">
              <a:alpha val="9412"/>
            </a:srgbClr>
          </a:solidFill>
          <a:ln w="9525">
            <a:solidFill>
              <a:srgbClr val="E9C46A">
                <a:alpha val="66667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CFB2588-FFF7-4098-9804-A286E90754F7}"/>
              </a:ext>
            </a:extLst>
          </p:cNvPr>
          <p:cNvSpPr>
            <a:spLocks noGrp="1"/>
          </p:cNvSpPr>
          <p:nvPr/>
        </p:nvSpPr>
        <p:spPr>
          <a:xfrm>
            <a:off x="7429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IAPS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F054406-5725-473A-960A-7569CDB2E777}"/>
              </a:ext>
            </a:extLst>
          </p:cNvPr>
          <p:cNvSpPr>
            <a:spLocks noGrp="1"/>
          </p:cNvSpPr>
          <p:nvPr/>
        </p:nvSpPr>
        <p:spPr>
          <a:xfrm>
            <a:off x="1847850" y="5753100"/>
            <a:ext cx="1047750" cy="285750"/>
          </a:xfrm>
          <a:prstGeom prst="rect">
            <a:avLst/>
          </a:prstGeom>
          <a:solidFill>
            <a:srgbClr val="E9C46A">
              <a:alpha val="9412"/>
            </a:srgbClr>
          </a:solidFill>
          <a:ln w="9525">
            <a:solidFill>
              <a:srgbClr val="E9C46A">
                <a:alpha val="66667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B930BB3-6D67-4D7C-A799-70CFDD82BAE4}"/>
              </a:ext>
            </a:extLst>
          </p:cNvPr>
          <p:cNvSpPr>
            <a:spLocks noGrp="1"/>
          </p:cNvSpPr>
          <p:nvPr/>
        </p:nvSpPr>
        <p:spPr>
          <a:xfrm>
            <a:off x="19240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OASIS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8C28A54-1C33-4018-BBF9-90EDC7239185}"/>
              </a:ext>
            </a:extLst>
          </p:cNvPr>
          <p:cNvSpPr>
            <a:spLocks noGrp="1"/>
          </p:cNvSpPr>
          <p:nvPr/>
        </p:nvSpPr>
        <p:spPr>
          <a:xfrm>
            <a:off x="3028950" y="5753100"/>
            <a:ext cx="1047750" cy="285750"/>
          </a:xfrm>
          <a:prstGeom prst="rect">
            <a:avLst/>
          </a:prstGeom>
          <a:solidFill>
            <a:srgbClr val="E9C46A">
              <a:alpha val="9412"/>
            </a:srgbClr>
          </a:solidFill>
          <a:ln w="9525">
            <a:solidFill>
              <a:srgbClr val="E9C46A">
                <a:alpha val="66667"/>
              </a:srgbClr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40386B8-AF86-48D2-9148-9E8E6616D841}"/>
              </a:ext>
            </a:extLst>
          </p:cNvPr>
          <p:cNvSpPr>
            <a:spLocks noGrp="1"/>
          </p:cNvSpPr>
          <p:nvPr/>
        </p:nvSpPr>
        <p:spPr>
          <a:xfrm>
            <a:off x="31051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IADS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141C06D-C62C-4F30-B270-396A124F12B5}"/>
              </a:ext>
            </a:extLst>
          </p:cNvPr>
          <p:cNvSpPr>
            <a:spLocks noGrp="1"/>
          </p:cNvSpPr>
          <p:nvPr/>
        </p:nvSpPr>
        <p:spPr>
          <a:xfrm>
            <a:off x="4210050" y="5753100"/>
            <a:ext cx="1047750" cy="285750"/>
          </a:xfrm>
          <a:prstGeom prst="rect">
            <a:avLst/>
          </a:prstGeom>
          <a:solidFill>
            <a:srgbClr val="2A9D8F">
              <a:alpha val="9412"/>
            </a:srgbClr>
          </a:solidFill>
          <a:ln w="9525">
            <a:solidFill>
              <a:srgbClr val="2A9D8F">
                <a:alpha val="66667"/>
              </a:srgbClr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A884B15-7DB5-434E-A4C8-5DEC751AD5EE}"/>
              </a:ext>
            </a:extLst>
          </p:cNvPr>
          <p:cNvSpPr>
            <a:spLocks noGrp="1"/>
          </p:cNvSpPr>
          <p:nvPr/>
        </p:nvSpPr>
        <p:spPr>
          <a:xfrm>
            <a:off x="42862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DEAP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135299-334B-4B1B-9BE7-6682686865D7}"/>
              </a:ext>
            </a:extLst>
          </p:cNvPr>
          <p:cNvSpPr>
            <a:spLocks noGrp="1"/>
          </p:cNvSpPr>
          <p:nvPr/>
        </p:nvSpPr>
        <p:spPr>
          <a:xfrm>
            <a:off x="5391150" y="5753100"/>
            <a:ext cx="1047750" cy="285750"/>
          </a:xfrm>
          <a:prstGeom prst="rect">
            <a:avLst/>
          </a:prstGeom>
          <a:solidFill>
            <a:srgbClr val="3D5A80">
              <a:alpha val="9412"/>
            </a:srgbClr>
          </a:solidFill>
          <a:ln w="9525">
            <a:solidFill>
              <a:srgbClr val="3D5A80">
                <a:alpha val="66667"/>
              </a:srgbClr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6687605-417E-4584-A3F1-151C342A0BDD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WESAD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4254A93-8631-4884-99D6-E3D1EEB2629A}"/>
              </a:ext>
            </a:extLst>
          </p:cNvPr>
          <p:cNvSpPr>
            <a:spLocks noGrp="1"/>
          </p:cNvSpPr>
          <p:nvPr/>
        </p:nvSpPr>
        <p:spPr>
          <a:xfrm>
            <a:off x="6572250" y="5753100"/>
            <a:ext cx="1047750" cy="285750"/>
          </a:xfrm>
          <a:prstGeom prst="rect">
            <a:avLst/>
          </a:prstGeom>
          <a:solidFill>
            <a:srgbClr val="3D5A80">
              <a:alpha val="9412"/>
            </a:srgbClr>
          </a:solidFill>
          <a:ln w="9525">
            <a:solidFill>
              <a:srgbClr val="3D5A80">
                <a:alpha val="66667"/>
              </a:srgbClr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A6BE33A-4496-450C-90C0-53B278ED6971}"/>
              </a:ext>
            </a:extLst>
          </p:cNvPr>
          <p:cNvSpPr>
            <a:spLocks noGrp="1"/>
          </p:cNvSpPr>
          <p:nvPr/>
        </p:nvSpPr>
        <p:spPr>
          <a:xfrm>
            <a:off x="66484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DAIC-WOZ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01ED801-605F-4D1A-A02E-CFED19872ADB}"/>
              </a:ext>
            </a:extLst>
          </p:cNvPr>
          <p:cNvSpPr>
            <a:spLocks noGrp="1"/>
          </p:cNvSpPr>
          <p:nvPr/>
        </p:nvSpPr>
        <p:spPr>
          <a:xfrm>
            <a:off x="7753350" y="5753100"/>
            <a:ext cx="1047750" cy="285750"/>
          </a:xfrm>
          <a:prstGeom prst="rect">
            <a:avLst/>
          </a:prstGeom>
          <a:solidFill>
            <a:srgbClr val="D95D39">
              <a:alpha val="9412"/>
            </a:srgbClr>
          </a:solidFill>
          <a:ln w="9525">
            <a:solidFill>
              <a:srgbClr val="D95D39">
                <a:alpha val="66667"/>
              </a:srgbClr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A0ACAD0-2888-46DD-835E-1F09AFB8BF04}"/>
              </a:ext>
            </a:extLst>
          </p:cNvPr>
          <p:cNvSpPr>
            <a:spLocks noGrp="1"/>
          </p:cNvSpPr>
          <p:nvPr/>
        </p:nvSpPr>
        <p:spPr>
          <a:xfrm>
            <a:off x="78295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IEMOCAP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E6B4482-FB9F-45EC-A7F4-5BEF55327EDA}"/>
              </a:ext>
            </a:extLst>
          </p:cNvPr>
          <p:cNvSpPr>
            <a:spLocks noGrp="1"/>
          </p:cNvSpPr>
          <p:nvPr/>
        </p:nvSpPr>
        <p:spPr>
          <a:xfrm>
            <a:off x="8934450" y="5753100"/>
            <a:ext cx="1047750" cy="285750"/>
          </a:xfrm>
          <a:prstGeom prst="rect">
            <a:avLst/>
          </a:prstGeom>
          <a:solidFill>
            <a:srgbClr val="D95D39">
              <a:alpha val="9412"/>
            </a:srgbClr>
          </a:solidFill>
          <a:ln w="9525">
            <a:solidFill>
              <a:srgbClr val="D95D39">
                <a:alpha val="66667"/>
              </a:srgbClr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289D62C-68FD-41A4-8931-1290A32C7A68}"/>
              </a:ext>
            </a:extLst>
          </p:cNvPr>
          <p:cNvSpPr>
            <a:spLocks noGrp="1"/>
          </p:cNvSpPr>
          <p:nvPr/>
        </p:nvSpPr>
        <p:spPr>
          <a:xfrm>
            <a:off x="90106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RAVDESS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8852887-84AF-442D-BF9D-DD1B4255E5DF}"/>
              </a:ext>
            </a:extLst>
          </p:cNvPr>
          <p:cNvSpPr>
            <a:spLocks noGrp="1"/>
          </p:cNvSpPr>
          <p:nvPr/>
        </p:nvSpPr>
        <p:spPr>
          <a:xfrm>
            <a:off x="10115550" y="5753100"/>
            <a:ext cx="1047750" cy="285750"/>
          </a:xfrm>
          <a:prstGeom prst="rect">
            <a:avLst/>
          </a:prstGeom>
          <a:solidFill>
            <a:srgbClr val="D95D39">
              <a:alpha val="9412"/>
            </a:srgbClr>
          </a:solidFill>
          <a:ln w="9525">
            <a:solidFill>
              <a:srgbClr val="D95D39">
                <a:alpha val="66667"/>
              </a:srgbClr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2B4A629-7ECC-4F1C-A798-430D0C65D953}"/>
              </a:ext>
            </a:extLst>
          </p:cNvPr>
          <p:cNvSpPr>
            <a:spLocks noGrp="1"/>
          </p:cNvSpPr>
          <p:nvPr/>
        </p:nvSpPr>
        <p:spPr>
          <a:xfrm>
            <a:off x="10191750" y="58197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AffectNet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352D6D0-E04F-467B-9989-8CA40B081B53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注意：多数数据集证明“诱发/识别”，不等于证明医学干预疗效；临床干预需独立试验验证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411D617-530D-46F3-86F9-E3F2AEEB269E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74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B8D4FACB-00FB-4572-8221-09BB09152C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14F403-BDF0-4AD5-A3C7-52D61AC3B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6506CF-F7AC-44CB-AC16-DFE2423FC35C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76EF338C-6AE9-4E74-BCE1-7ACCF24BB847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7B587C94-4DAE-460D-B432-15F28842CDEF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STUDY DESIGN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C64E3A-497C-447E-9566-9E6D01AFBC09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可执行的研究流程：先标定材料，再谈干预效果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3A2FA4-2E12-4D68-8A92-14C5CC6ED566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临床或医学场景中，目标人群的反应优先级高于公开数据库的平均评分。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BA0815-0229-4328-95A7-C3AACD9A041F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752600" cy="2571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3C2C19-CCD4-4BB8-B39B-8C6A77F88DF5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419100" cy="41910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2CE94E-2FFB-4B36-80AA-BB093F1FC51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51EEFD-E491-407E-8051-61EFDD99D669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选材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392FBA-3C0E-4D0E-B49F-63ECE4E316F6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13525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75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从</a:t>
            </a: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OASIS/IAPS/IADS</a:t>
            </a:r>
            <a:r>
              <a:rPr lang="en-US"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/</a:t>
            </a:r>
          </a:p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DEAP等选择候选声画；记录来源、版权、语义风险。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B8A56D-6A70-45E3-81F7-174A7F80C864}"/>
              </a:ext>
            </a:extLst>
          </p:cNvPr>
          <p:cNvSpPr>
            <a:spLocks noGrp="1"/>
          </p:cNvSpPr>
          <p:nvPr/>
        </p:nvSpPr>
        <p:spPr>
          <a:xfrm>
            <a:off x="2438400" y="3448050"/>
            <a:ext cx="419100" cy="2857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3651F50-FB51-480E-9F26-53A15AF5FC52}"/>
              </a:ext>
            </a:extLst>
          </p:cNvPr>
          <p:cNvSpPr>
            <a:spLocks noGrp="1"/>
          </p:cNvSpPr>
          <p:nvPr/>
        </p:nvSpPr>
        <p:spPr>
          <a:xfrm>
            <a:off x="2819400" y="3390900"/>
            <a:ext cx="123825" cy="123825"/>
          </a:xfrm>
          <a:prstGeom prst="ellipse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A00487-AFB9-43BB-99CB-E9AF23C73A33}"/>
              </a:ext>
            </a:extLst>
          </p:cNvPr>
          <p:cNvSpPr>
            <a:spLocks noGrp="1"/>
          </p:cNvSpPr>
          <p:nvPr/>
        </p:nvSpPr>
        <p:spPr>
          <a:xfrm>
            <a:off x="2895600" y="2171700"/>
            <a:ext cx="1752600" cy="2571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B3CD48-C377-4F4E-9AF3-B7896AE9F352}"/>
              </a:ext>
            </a:extLst>
          </p:cNvPr>
          <p:cNvSpPr>
            <a:spLocks noGrp="1"/>
          </p:cNvSpPr>
          <p:nvPr/>
        </p:nvSpPr>
        <p:spPr>
          <a:xfrm>
            <a:off x="3086100" y="2381250"/>
            <a:ext cx="419100" cy="4191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6C056E-011B-4549-B8DB-F6A687F8317E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A3CD3E-849F-4080-BE72-4FE377F29621}"/>
              </a:ext>
            </a:extLst>
          </p:cNvPr>
          <p:cNvSpPr>
            <a:spLocks noGrp="1"/>
          </p:cNvSpPr>
          <p:nvPr/>
        </p:nvSpPr>
        <p:spPr>
          <a:xfrm>
            <a:off x="3086100" y="30289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本地标定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C59484F-E3FA-4DAC-9B92-32E7EC5C76EA}"/>
              </a:ext>
            </a:extLst>
          </p:cNvPr>
          <p:cNvSpPr>
            <a:spLocks noGrp="1"/>
          </p:cNvSpPr>
          <p:nvPr/>
        </p:nvSpPr>
        <p:spPr>
          <a:xfrm>
            <a:off x="3086100" y="3467100"/>
            <a:ext cx="13525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目标人群对 valence/</a:t>
            </a:r>
            <a:endParaRPr lang="en-US" sz="975" b="0">
              <a:solidFill>
                <a:srgbClr val="45515F"/>
              </a:solidFill>
              <a:latin typeface="Microsoft YaHei UI"/>
              <a:ea typeface="Microsoft YaHei UI"/>
              <a:cs typeface="Microsoft YaHei UI"/>
            </a:endParaRPr>
          </a:p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arousal/dominance、</a:t>
            </a:r>
            <a:r>
              <a:rPr lang="zh-CN" altLang="en-US"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喜欢度、熟悉度、安全感重新评分。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759203-F03E-4F3E-9665-77B817C1C2D0}"/>
              </a:ext>
            </a:extLst>
          </p:cNvPr>
          <p:cNvSpPr>
            <a:spLocks noGrp="1"/>
          </p:cNvSpPr>
          <p:nvPr/>
        </p:nvSpPr>
        <p:spPr>
          <a:xfrm>
            <a:off x="4648200" y="3448050"/>
            <a:ext cx="419100" cy="2857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D79EE60-A68C-4D14-BE8F-75B32146A548}"/>
              </a:ext>
            </a:extLst>
          </p:cNvPr>
          <p:cNvSpPr>
            <a:spLocks noGrp="1"/>
          </p:cNvSpPr>
          <p:nvPr/>
        </p:nvSpPr>
        <p:spPr>
          <a:xfrm>
            <a:off x="5029200" y="3390900"/>
            <a:ext cx="123825" cy="123825"/>
          </a:xfrm>
          <a:prstGeom prst="ellipse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DCCE7A-DA5D-43DD-B249-615BAE31B50F}"/>
              </a:ext>
            </a:extLst>
          </p:cNvPr>
          <p:cNvSpPr>
            <a:spLocks noGrp="1"/>
          </p:cNvSpPr>
          <p:nvPr/>
        </p:nvSpPr>
        <p:spPr>
          <a:xfrm>
            <a:off x="5105400" y="2171700"/>
            <a:ext cx="1752600" cy="2571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34DFFE-55E7-427C-AF7D-E7221FA37855}"/>
              </a:ext>
            </a:extLst>
          </p:cNvPr>
          <p:cNvSpPr>
            <a:spLocks noGrp="1"/>
          </p:cNvSpPr>
          <p:nvPr/>
        </p:nvSpPr>
        <p:spPr>
          <a:xfrm>
            <a:off x="5295900" y="2381250"/>
            <a:ext cx="419100" cy="4191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713834-4594-4623-983E-F4AC6236FB5F}"/>
              </a:ext>
            </a:extLst>
          </p:cNvPr>
          <p:cNvSpPr>
            <a:spLocks noGrp="1"/>
          </p:cNvSpPr>
          <p:nvPr/>
        </p:nvSpPr>
        <p:spPr>
          <a:xfrm>
            <a:off x="5295900" y="24765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4B1F41-C296-46CF-B84C-902D78D9D6D5}"/>
              </a:ext>
            </a:extLst>
          </p:cNvPr>
          <p:cNvSpPr>
            <a:spLocks noGrp="1"/>
          </p:cNvSpPr>
          <p:nvPr/>
        </p:nvSpPr>
        <p:spPr>
          <a:xfrm>
            <a:off x="5295900" y="30289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随机对照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CE3643-E7C9-462D-974F-6974EEAAA5CC}"/>
              </a:ext>
            </a:extLst>
          </p:cNvPr>
          <p:cNvSpPr>
            <a:spLocks noGrp="1"/>
          </p:cNvSpPr>
          <p:nvPr/>
        </p:nvSpPr>
        <p:spPr>
          <a:xfrm>
            <a:off x="5295900" y="3467100"/>
            <a:ext cx="13525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设置静息、非情绪内容、单模态、双模态或常规护理对照。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3E8760-630C-469F-91F7-AF84A9E2C564}"/>
              </a:ext>
            </a:extLst>
          </p:cNvPr>
          <p:cNvSpPr>
            <a:spLocks noGrp="1"/>
          </p:cNvSpPr>
          <p:nvPr/>
        </p:nvSpPr>
        <p:spPr>
          <a:xfrm>
            <a:off x="6858000" y="3448050"/>
            <a:ext cx="419100" cy="2857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5FE48E2-4A9B-4BC8-BA05-AAA350F64E71}"/>
              </a:ext>
            </a:extLst>
          </p:cNvPr>
          <p:cNvSpPr>
            <a:spLocks noGrp="1"/>
          </p:cNvSpPr>
          <p:nvPr/>
        </p:nvSpPr>
        <p:spPr>
          <a:xfrm>
            <a:off x="7239000" y="3390900"/>
            <a:ext cx="123825" cy="123825"/>
          </a:xfrm>
          <a:prstGeom prst="ellipse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18E040-155A-44AF-9367-B39C5A1C1E7C}"/>
              </a:ext>
            </a:extLst>
          </p:cNvPr>
          <p:cNvSpPr>
            <a:spLocks noGrp="1"/>
          </p:cNvSpPr>
          <p:nvPr/>
        </p:nvSpPr>
        <p:spPr>
          <a:xfrm>
            <a:off x="7315200" y="2171700"/>
            <a:ext cx="1752600" cy="2571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63AF92-1F00-4D5A-BD99-3F26EF12E77F}"/>
              </a:ext>
            </a:extLst>
          </p:cNvPr>
          <p:cNvSpPr>
            <a:spLocks noGrp="1"/>
          </p:cNvSpPr>
          <p:nvPr/>
        </p:nvSpPr>
        <p:spPr>
          <a:xfrm>
            <a:off x="7505700" y="2381250"/>
            <a:ext cx="419100" cy="41910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C62568F-C30B-4B3E-B1CD-9C190C333F55}"/>
              </a:ext>
            </a:extLst>
          </p:cNvPr>
          <p:cNvSpPr>
            <a:spLocks noGrp="1"/>
          </p:cNvSpPr>
          <p:nvPr/>
        </p:nvSpPr>
        <p:spPr>
          <a:xfrm>
            <a:off x="7505700" y="24765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07CF68-4257-4D5E-9539-4A8938C91908}"/>
              </a:ext>
            </a:extLst>
          </p:cNvPr>
          <p:cNvSpPr>
            <a:spLocks noGrp="1"/>
          </p:cNvSpPr>
          <p:nvPr/>
        </p:nvSpPr>
        <p:spPr>
          <a:xfrm>
            <a:off x="7505700" y="30289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多模态测量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E910DCE-98CA-4B2B-8CB7-AFC1F299D54C}"/>
              </a:ext>
            </a:extLst>
          </p:cNvPr>
          <p:cNvSpPr>
            <a:spLocks noGrp="1"/>
          </p:cNvSpPr>
          <p:nvPr/>
        </p:nvSpPr>
        <p:spPr>
          <a:xfrm>
            <a:off x="7505700" y="3467100"/>
            <a:ext cx="13525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同步采集 SAM/VAS、HRV、EDA、呼吸、眼动、行为和临床量表。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70F7BFD-358B-4F0E-A40C-6D1EE4D3A421}"/>
              </a:ext>
            </a:extLst>
          </p:cNvPr>
          <p:cNvSpPr>
            <a:spLocks noGrp="1"/>
          </p:cNvSpPr>
          <p:nvPr/>
        </p:nvSpPr>
        <p:spPr>
          <a:xfrm>
            <a:off x="9067800" y="3448050"/>
            <a:ext cx="419100" cy="2857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A5322918-B6C2-45C8-87E1-AB75BB4BB741}"/>
              </a:ext>
            </a:extLst>
          </p:cNvPr>
          <p:cNvSpPr>
            <a:spLocks noGrp="1"/>
          </p:cNvSpPr>
          <p:nvPr/>
        </p:nvSpPr>
        <p:spPr>
          <a:xfrm>
            <a:off x="9448800" y="3390900"/>
            <a:ext cx="123825" cy="123825"/>
          </a:xfrm>
          <a:prstGeom prst="ellipse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C101375-37AA-4584-B32D-330793344A92}"/>
              </a:ext>
            </a:extLst>
          </p:cNvPr>
          <p:cNvSpPr>
            <a:spLocks noGrp="1"/>
          </p:cNvSpPr>
          <p:nvPr/>
        </p:nvSpPr>
        <p:spPr>
          <a:xfrm>
            <a:off x="9525000" y="2171700"/>
            <a:ext cx="1752600" cy="2571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FC99EAE-8B22-421F-940F-22C40714EBFF}"/>
              </a:ext>
            </a:extLst>
          </p:cNvPr>
          <p:cNvSpPr>
            <a:spLocks noGrp="1"/>
          </p:cNvSpPr>
          <p:nvPr/>
        </p:nvSpPr>
        <p:spPr>
          <a:xfrm>
            <a:off x="9715500" y="2381250"/>
            <a:ext cx="419100" cy="41910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D28351C-F6CD-46EB-A61D-C63F7B19D2FB}"/>
              </a:ext>
            </a:extLst>
          </p:cNvPr>
          <p:cNvSpPr>
            <a:spLocks noGrp="1"/>
          </p:cNvSpPr>
          <p:nvPr/>
        </p:nvSpPr>
        <p:spPr>
          <a:xfrm>
            <a:off x="9715500" y="24765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306C57-B03E-4F47-9ABB-54856474E33A}"/>
              </a:ext>
            </a:extLst>
          </p:cNvPr>
          <p:cNvSpPr>
            <a:spLocks noGrp="1"/>
          </p:cNvSpPr>
          <p:nvPr/>
        </p:nvSpPr>
        <p:spPr>
          <a:xfrm>
            <a:off x="9715500" y="30289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解释与随访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93DF485-10C1-42EE-AB19-93880CA434B8}"/>
              </a:ext>
            </a:extLst>
          </p:cNvPr>
          <p:cNvSpPr>
            <a:spLocks noGrp="1"/>
          </p:cNvSpPr>
          <p:nvPr/>
        </p:nvSpPr>
        <p:spPr>
          <a:xfrm>
            <a:off x="9715500" y="3467100"/>
            <a:ext cx="13525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区分即时情绪改变、生理变化和临床症状改善；记录不良事件。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2D25E22-ADAF-4EFD-9E6D-0426CA3D8BB5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3048000" cy="876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86071EF-F831-4814-89C6-4D3206596A8C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57150" cy="8763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C315EE6-DC17-44D0-A66E-953BB9756FF2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关键控制变量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0E04BA7-5B03-4564-812D-B60300A10E29}"/>
              </a:ext>
            </a:extLst>
          </p:cNvPr>
          <p:cNvSpPr>
            <a:spLocks noGrp="1"/>
          </p:cNvSpPr>
          <p:nvPr/>
        </p:nvSpPr>
        <p:spPr>
          <a:xfrm>
            <a:off x="933450" y="552450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音量、屏幕亮度、时长、暴露顺序、个体偏好、既往创伤、药物状态、睡眠和疼痛基线。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40687B9-D291-4DEB-995E-87E263EF6814}"/>
              </a:ext>
            </a:extLst>
          </p:cNvPr>
          <p:cNvSpPr>
            <a:spLocks noGrp="1"/>
          </p:cNvSpPr>
          <p:nvPr/>
        </p:nvSpPr>
        <p:spPr>
          <a:xfrm>
            <a:off x="4552950" y="5067300"/>
            <a:ext cx="3048000" cy="876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04D8B1-78F3-4E07-9A25-3F7DBE96F482}"/>
              </a:ext>
            </a:extLst>
          </p:cNvPr>
          <p:cNvSpPr>
            <a:spLocks noGrp="1"/>
          </p:cNvSpPr>
          <p:nvPr/>
        </p:nvSpPr>
        <p:spPr>
          <a:xfrm>
            <a:off x="4552950" y="5067300"/>
            <a:ext cx="57150" cy="8763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33C583A-5351-403F-ACA9-CE002774C3F9}"/>
              </a:ext>
            </a:extLst>
          </p:cNvPr>
          <p:cNvSpPr>
            <a:spLocks noGrp="1"/>
          </p:cNvSpPr>
          <p:nvPr/>
        </p:nvSpPr>
        <p:spPr>
          <a:xfrm>
            <a:off x="4724400" y="5200650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常见对照组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75EA144-34B3-4764-9460-56D4F98D2ABF}"/>
              </a:ext>
            </a:extLst>
          </p:cNvPr>
          <p:cNvSpPr>
            <a:spLocks noGrp="1"/>
          </p:cNvSpPr>
          <p:nvPr/>
        </p:nvSpPr>
        <p:spPr>
          <a:xfrm>
            <a:off x="4724400" y="552450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无刺激/静息、普通信息内容、无声画面、纯音频、非情绪匹配内容、常规护理。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FDB49D2-482B-4102-8767-21134BF82C32}"/>
              </a:ext>
            </a:extLst>
          </p:cNvPr>
          <p:cNvSpPr>
            <a:spLocks noGrp="1"/>
          </p:cNvSpPr>
          <p:nvPr/>
        </p:nvSpPr>
        <p:spPr>
          <a:xfrm>
            <a:off x="8343900" y="5067300"/>
            <a:ext cx="3048000" cy="876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B36F127-8DE7-4DCB-8050-7EF07954D80C}"/>
              </a:ext>
            </a:extLst>
          </p:cNvPr>
          <p:cNvSpPr>
            <a:spLocks noGrp="1"/>
          </p:cNvSpPr>
          <p:nvPr/>
        </p:nvSpPr>
        <p:spPr>
          <a:xfrm>
            <a:off x="8343900" y="5067300"/>
            <a:ext cx="57150" cy="876300"/>
          </a:xfrm>
          <a:prstGeom prst="rect">
            <a:avLst/>
          </a:prstGeom>
          <a:solidFill>
            <a:srgbClr val="B23A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5FF0DA3-C358-40E5-BA9A-15A5002CAA18}"/>
              </a:ext>
            </a:extLst>
          </p:cNvPr>
          <p:cNvSpPr>
            <a:spLocks noGrp="1"/>
          </p:cNvSpPr>
          <p:nvPr/>
        </p:nvSpPr>
        <p:spPr>
          <a:xfrm>
            <a:off x="8515350" y="5200650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风险与伦理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0DBB0F8-31E3-42A7-9948-4F50EC4604D2}"/>
              </a:ext>
            </a:extLst>
          </p:cNvPr>
          <p:cNvSpPr>
            <a:spLocks noGrp="1"/>
          </p:cNvSpPr>
          <p:nvPr/>
        </p:nvSpPr>
        <p:spPr>
          <a:xfrm>
            <a:off x="8515350" y="552450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38100" anchor="t"/>
          <a:lstStyle/>
          <a:p>
            <a:pPr algn="l">
              <a:def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允许暂停退出；VR 眩晕、闪烁敏感、创伤线索、强声刺激和隐私数据必须预案化。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BCA0490-25F6-45B6-BD36-10523EA23E04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研究设计：刺激标定 + 对照 + 多时间点测量 + TIDieR 式干预剂量报告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23AAB5A-4E4C-4244-AB2C-790833DA86A3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279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3E1CDD79-1C06-4DB2-8178-19EDA54FEE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E907FD-FE0E-4D76-AEAA-C61D615C3F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42F8E6-923E-4F9A-9057-F0129A4C91CC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E40A48F3-3BED-4146-9748-6A1C1936766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4B31F528-85D0-43A6-894A-7F77E443DE14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D95D39"/>
                </a:solidFill>
                <a:latin typeface="Microsoft YaHei UI"/>
                <a:ea typeface="Microsoft YaHei UI"/>
                <a:cs typeface="Microsoft YaHei UI"/>
              </a:rPr>
              <a:t>APPLICATION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D13914-39DC-4629-ACB2-6E7C67AFC361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不同医学目标需要不同的 VAD 方向和指标优先级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DA6E9-67BB-409D-98C9-15ABD2CE59C0}"/>
              </a:ext>
            </a:extLst>
          </p:cNvPr>
          <p:cNvSpPr>
            <a:spLocks noGrp="1"/>
          </p:cNvSpPr>
          <p:nvPr/>
        </p:nvSpPr>
        <p:spPr>
          <a:xfrm>
            <a:off x="438150" y="14097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不要把所有“积极内容”都当作放松干预；激活、镇静、暴露和转移注意的设计目标不同。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C846CE-D2C2-4F99-A774-6ED76EE92DCF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152400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7B7543-00CC-4909-809A-A004FD0E6874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应用目标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7971E4-2963-4769-A7F0-304887DFDA4B}"/>
              </a:ext>
            </a:extLst>
          </p:cNvPr>
          <p:cNvSpPr>
            <a:spLocks noGrp="1"/>
          </p:cNvSpPr>
          <p:nvPr/>
        </p:nvSpPr>
        <p:spPr>
          <a:xfrm>
            <a:off x="2076450" y="2019300"/>
            <a:ext cx="161925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2A1796-D3C1-476B-BB9F-5DADF79A78FB}"/>
              </a:ext>
            </a:extLst>
          </p:cNvPr>
          <p:cNvSpPr>
            <a:spLocks noGrp="1"/>
          </p:cNvSpPr>
          <p:nvPr/>
        </p:nvSpPr>
        <p:spPr>
          <a:xfrm>
            <a:off x="2171700" y="213360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VAD 方向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2A67B1-D7CD-4742-A56B-3E5C6ADA0E93}"/>
              </a:ext>
            </a:extLst>
          </p:cNvPr>
          <p:cNvSpPr>
            <a:spLocks noGrp="1"/>
          </p:cNvSpPr>
          <p:nvPr/>
        </p:nvSpPr>
        <p:spPr>
          <a:xfrm>
            <a:off x="3695700" y="2019300"/>
            <a:ext cx="352425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0A77F4-B862-45BC-8450-7C705C1395F1}"/>
              </a:ext>
            </a:extLst>
          </p:cNvPr>
          <p:cNvSpPr>
            <a:spLocks noGrp="1"/>
          </p:cNvSpPr>
          <p:nvPr/>
        </p:nvSpPr>
        <p:spPr>
          <a:xfrm>
            <a:off x="3790950" y="2133600"/>
            <a:ext cx="3333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内容策略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3F79BF-4B7E-41FC-8A07-F2C856F943F0}"/>
              </a:ext>
            </a:extLst>
          </p:cNvPr>
          <p:cNvSpPr>
            <a:spLocks noGrp="1"/>
          </p:cNvSpPr>
          <p:nvPr/>
        </p:nvSpPr>
        <p:spPr>
          <a:xfrm>
            <a:off x="7219950" y="2019300"/>
            <a:ext cx="4095750" cy="400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C1EFC0-78AE-470F-B0A6-8BC19C7EC767}"/>
              </a:ext>
            </a:extLst>
          </p:cNvPr>
          <p:cNvSpPr>
            <a:spLocks noGrp="1"/>
          </p:cNvSpPr>
          <p:nvPr/>
        </p:nvSpPr>
        <p:spPr>
          <a:xfrm>
            <a:off x="7315200" y="2133600"/>
            <a:ext cx="3905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优先指标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1B4B9E-3E74-4B96-9FB3-53CE6D3F6046}"/>
              </a:ext>
            </a:extLst>
          </p:cNvPr>
          <p:cNvSpPr>
            <a:spLocks noGrp="1"/>
          </p:cNvSpPr>
          <p:nvPr/>
        </p:nvSpPr>
        <p:spPr>
          <a:xfrm>
            <a:off x="552450" y="2419350"/>
            <a:ext cx="152400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A796B4-1923-454C-8170-1953681D95E0}"/>
              </a:ext>
            </a:extLst>
          </p:cNvPr>
          <p:cNvSpPr>
            <a:spLocks noGrp="1"/>
          </p:cNvSpPr>
          <p:nvPr/>
        </p:nvSpPr>
        <p:spPr>
          <a:xfrm>
            <a:off x="552450" y="2419350"/>
            <a:ext cx="57150" cy="685800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56DF24-9F77-42DD-B4CA-E9625F1D2E50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295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抗焦虑 / 放松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71AC6D-8657-4F30-BDA2-1C3EB87396CC}"/>
              </a:ext>
            </a:extLst>
          </p:cNvPr>
          <p:cNvSpPr>
            <a:spLocks noGrp="1"/>
          </p:cNvSpPr>
          <p:nvPr/>
        </p:nvSpPr>
        <p:spPr>
          <a:xfrm>
            <a:off x="2076450" y="2419350"/>
            <a:ext cx="16192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CAE438-42BB-4AC1-9C5F-F5D8CCF01E96}"/>
              </a:ext>
            </a:extLst>
          </p:cNvPr>
          <p:cNvSpPr>
            <a:spLocks noGrp="1"/>
          </p:cNvSpPr>
          <p:nvPr/>
        </p:nvSpPr>
        <p:spPr>
          <a:xfrm>
            <a:off x="2190750" y="2514600"/>
            <a:ext cx="1390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Valence↑</a:t>
            </a:r>
          </a:p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Arousal↓</a:t>
            </a:r>
          </a:p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Control↑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2D5125-497D-45CD-9EF9-61BAB3B295D3}"/>
              </a:ext>
            </a:extLst>
          </p:cNvPr>
          <p:cNvSpPr>
            <a:spLocks noGrp="1"/>
          </p:cNvSpPr>
          <p:nvPr/>
        </p:nvSpPr>
        <p:spPr>
          <a:xfrm>
            <a:off x="3695700" y="2419350"/>
            <a:ext cx="35242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9053EA-AE00-4FE4-9397-CF6638BE46DA}"/>
              </a:ext>
            </a:extLst>
          </p:cNvPr>
          <p:cNvSpPr>
            <a:spLocks noGrp="1"/>
          </p:cNvSpPr>
          <p:nvPr/>
        </p:nvSpPr>
        <p:spPr>
          <a:xfrm>
            <a:off x="3810000" y="2514600"/>
            <a:ext cx="3295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柔和自然声、慢节律音乐、低威胁自然/安全场景；可调音量和亮度。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2EFB37-213E-471D-A065-C9E989AB2F23}"/>
              </a:ext>
            </a:extLst>
          </p:cNvPr>
          <p:cNvSpPr>
            <a:spLocks noGrp="1"/>
          </p:cNvSpPr>
          <p:nvPr/>
        </p:nvSpPr>
        <p:spPr>
          <a:xfrm>
            <a:off x="7219950" y="2419350"/>
            <a:ext cx="40957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817A46-E796-4E4A-951C-5A1545468177}"/>
              </a:ext>
            </a:extLst>
          </p:cNvPr>
          <p:cNvSpPr>
            <a:spLocks noGrp="1"/>
          </p:cNvSpPr>
          <p:nvPr/>
        </p:nvSpPr>
        <p:spPr>
          <a:xfrm>
            <a:off x="7334250" y="2514600"/>
            <a:ext cx="3867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SAM / VAS 紧张度；HRV↑、EDA↓、呼吸变慢；GAD-7、STAI、HADS。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A6C781-069C-4035-93E2-B405EF7EE10A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152400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C52A1D-4A40-4706-BCCE-9CA924AF5170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57150" cy="685800"/>
          </a:xfrm>
          <a:prstGeom prst="rect">
            <a:avLst/>
          </a:prstGeom>
          <a:solidFill>
            <a:srgbClr val="E9C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EF6BFC-CC5F-4409-9E3E-5D9CB823B87E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1295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9C46A"/>
                </a:solidFill>
                <a:latin typeface="Microsoft YaHei UI"/>
                <a:ea typeface="Microsoft YaHei UI"/>
                <a:cs typeface="Microsoft YaHei UI"/>
              </a:rPr>
              <a:t>抑郁激活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6F4163-060E-4BD6-BB4B-4AB8DCDADC49}"/>
              </a:ext>
            </a:extLst>
          </p:cNvPr>
          <p:cNvSpPr>
            <a:spLocks noGrp="1"/>
          </p:cNvSpPr>
          <p:nvPr/>
        </p:nvSpPr>
        <p:spPr>
          <a:xfrm>
            <a:off x="2076450" y="3105150"/>
            <a:ext cx="161925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4943798-1967-492B-A8E2-CEE9B1351A86}"/>
              </a:ext>
            </a:extLst>
          </p:cNvPr>
          <p:cNvSpPr>
            <a:spLocks noGrp="1"/>
          </p:cNvSpPr>
          <p:nvPr/>
        </p:nvSpPr>
        <p:spPr>
          <a:xfrm>
            <a:off x="2190750" y="3200400"/>
            <a:ext cx="1390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Valence↑</a:t>
            </a:r>
          </a:p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Arousal适度↑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7AFDF5-3AE6-47A6-A556-FC09F46A3BB0}"/>
              </a:ext>
            </a:extLst>
          </p:cNvPr>
          <p:cNvSpPr>
            <a:spLocks noGrp="1"/>
          </p:cNvSpPr>
          <p:nvPr/>
        </p:nvSpPr>
        <p:spPr>
          <a:xfrm>
            <a:off x="3695700" y="3105150"/>
            <a:ext cx="352425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5A2DA0-4151-4717-9AC0-ED6F4B9026F9}"/>
              </a:ext>
            </a:extLst>
          </p:cNvPr>
          <p:cNvSpPr>
            <a:spLocks noGrp="1"/>
          </p:cNvSpPr>
          <p:nvPr/>
        </p:nvSpPr>
        <p:spPr>
          <a:xfrm>
            <a:off x="3810000" y="3200400"/>
            <a:ext cx="3295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偏好音乐、明亮但不过刺激的视觉、社交/成就线索；避免低唤醒钝化。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4973A9-852E-4296-87DC-DCB1316ED645}"/>
              </a:ext>
            </a:extLst>
          </p:cNvPr>
          <p:cNvSpPr>
            <a:spLocks noGrp="1"/>
          </p:cNvSpPr>
          <p:nvPr/>
        </p:nvSpPr>
        <p:spPr>
          <a:xfrm>
            <a:off x="7219950" y="3105150"/>
            <a:ext cx="409575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BF03A2-8082-4A84-9453-6455E71939CC}"/>
              </a:ext>
            </a:extLst>
          </p:cNvPr>
          <p:cNvSpPr>
            <a:spLocks noGrp="1"/>
          </p:cNvSpPr>
          <p:nvPr/>
        </p:nvSpPr>
        <p:spPr>
          <a:xfrm>
            <a:off x="7334250" y="3200400"/>
            <a:ext cx="3867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PANAS 正性情绪；活动量、语速、参与度；PHQ-9/PHQ-8。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4FA901-2010-45D4-B411-10BF7CA84B12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152400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7063F0-C29D-495E-8D7D-A1CA297937F0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57150" cy="6858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B253ADB-3527-4B29-A9F6-6AB26B278396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1295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D5A80"/>
                </a:solidFill>
                <a:latin typeface="Microsoft YaHei UI"/>
                <a:ea typeface="Microsoft YaHei UI"/>
                <a:cs typeface="Microsoft YaHei UI"/>
              </a:rPr>
              <a:t>疼痛转移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A49DDA8-D443-48CB-B04D-8A9D38C02B96}"/>
              </a:ext>
            </a:extLst>
          </p:cNvPr>
          <p:cNvSpPr>
            <a:spLocks noGrp="1"/>
          </p:cNvSpPr>
          <p:nvPr/>
        </p:nvSpPr>
        <p:spPr>
          <a:xfrm>
            <a:off x="2076450" y="3790950"/>
            <a:ext cx="16192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8D6808B-56BA-4633-A65A-34CFE15A621C}"/>
              </a:ext>
            </a:extLst>
          </p:cNvPr>
          <p:cNvSpPr>
            <a:spLocks noGrp="1"/>
          </p:cNvSpPr>
          <p:nvPr/>
        </p:nvSpPr>
        <p:spPr>
          <a:xfrm>
            <a:off x="2190750" y="3886200"/>
            <a:ext cx="1390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负性效价↓</a:t>
            </a:r>
          </a:p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注意占用↑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843115-15C7-4DA7-9143-24C78E46E2F9}"/>
              </a:ext>
            </a:extLst>
          </p:cNvPr>
          <p:cNvSpPr>
            <a:spLocks noGrp="1"/>
          </p:cNvSpPr>
          <p:nvPr/>
        </p:nvSpPr>
        <p:spPr>
          <a:xfrm>
            <a:off x="3695700" y="3790950"/>
            <a:ext cx="35242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EDE7655-77F4-4E15-A9D8-7D23E9E5DA5F}"/>
              </a:ext>
            </a:extLst>
          </p:cNvPr>
          <p:cNvSpPr>
            <a:spLocks noGrp="1"/>
          </p:cNvSpPr>
          <p:nvPr/>
        </p:nvSpPr>
        <p:spPr>
          <a:xfrm>
            <a:off x="3810000" y="3886200"/>
            <a:ext cx="3295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沉浸式音视频、VR 自然/游戏化场景、语音引导；控制认知负荷。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604E76D-2506-47B5-A06C-2F9D7C13E17C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0957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AA09FC7-CC79-4621-AB4B-0C0C93A64165}"/>
              </a:ext>
            </a:extLst>
          </p:cNvPr>
          <p:cNvSpPr>
            <a:spLocks noGrp="1"/>
          </p:cNvSpPr>
          <p:nvPr/>
        </p:nvSpPr>
        <p:spPr>
          <a:xfrm>
            <a:off x="7334250" y="3886200"/>
            <a:ext cx="3867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疼痛 NRS/VAS、镇痛药需求、注意任务表现、HRV/EDA、体验满意度。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8526AB1-30B0-4BB2-823B-444E42B7FA9D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152400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F4EB149-DA53-4D76-AE75-43BE49BF3243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57150" cy="685800"/>
          </a:xfrm>
          <a:prstGeom prst="rect">
            <a:avLst/>
          </a:prstGeom>
          <a:solidFill>
            <a:srgbClr val="B23A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0C9CEE5-EB76-46AF-8E4F-1D7609A2380E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295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23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B23A48"/>
                </a:solidFill>
                <a:latin typeface="Microsoft YaHei UI"/>
                <a:ea typeface="Microsoft YaHei UI"/>
                <a:cs typeface="Microsoft YaHei UI"/>
              </a:rPr>
              <a:t>恐惧 / 暴露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4B691E0-FC12-416D-8284-7807C35A8CA0}"/>
              </a:ext>
            </a:extLst>
          </p:cNvPr>
          <p:cNvSpPr>
            <a:spLocks noGrp="1"/>
          </p:cNvSpPr>
          <p:nvPr/>
        </p:nvSpPr>
        <p:spPr>
          <a:xfrm>
            <a:off x="2076450" y="4476750"/>
            <a:ext cx="161925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A4AD6E2-BDA4-4EED-8223-C2A50B47A263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1390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Arousal可控↑</a:t>
            </a:r>
          </a:p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Control↑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2C62415-8307-4ACD-BF18-27FB92FDCC7C}"/>
              </a:ext>
            </a:extLst>
          </p:cNvPr>
          <p:cNvSpPr>
            <a:spLocks noGrp="1"/>
          </p:cNvSpPr>
          <p:nvPr/>
        </p:nvSpPr>
        <p:spPr>
          <a:xfrm>
            <a:off x="3695700" y="4476750"/>
            <a:ext cx="352425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2DC4981-8F19-471B-A03C-F0A0B784C55D}"/>
              </a:ext>
            </a:extLst>
          </p:cNvPr>
          <p:cNvSpPr>
            <a:spLocks noGrp="1"/>
          </p:cNvSpPr>
          <p:nvPr/>
        </p:nvSpPr>
        <p:spPr>
          <a:xfrm>
            <a:off x="3810000" y="4572000"/>
            <a:ext cx="3295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逐级呈现恐惧相关视觉/声音线索，明确退出机制，重复训练反应下降。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9275F4E-CAFD-4BB2-A750-D4644B04ED4D}"/>
              </a:ext>
            </a:extLst>
          </p:cNvPr>
          <p:cNvSpPr>
            <a:spLocks noGrp="1"/>
          </p:cNvSpPr>
          <p:nvPr/>
        </p:nvSpPr>
        <p:spPr>
          <a:xfrm>
            <a:off x="7219950" y="4476750"/>
            <a:ext cx="4095750" cy="685800"/>
          </a:xfrm>
          <a:prstGeom prst="rect">
            <a:avLst/>
          </a:prstGeom>
          <a:solidFill>
            <a:srgbClr val="FBF8E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3D3E800-7833-43AE-B26E-5C754379ED06}"/>
              </a:ext>
            </a:extLst>
          </p:cNvPr>
          <p:cNvSpPr>
            <a:spLocks noGrp="1"/>
          </p:cNvSpPr>
          <p:nvPr/>
        </p:nvSpPr>
        <p:spPr>
          <a:xfrm>
            <a:off x="7334250" y="4572000"/>
            <a:ext cx="3867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SUDS、EDA/心率峰值、回避行为、暴露完成率、不良事件。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94B177E-A72C-4D74-8A78-3DAA659FE19D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52400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929A7AB-7435-40E6-AD4D-50EF4F6B2D88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57150" cy="685800"/>
          </a:xfrm>
          <a:prstGeom prst="rect">
            <a:avLst/>
          </a:prstGeom>
          <a:solidFill>
            <a:srgbClr val="7CB3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E2A89F6-BD39-4767-A050-F48CE985812B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1295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7CB342"/>
                </a:solidFill>
                <a:latin typeface="Microsoft YaHei UI"/>
                <a:ea typeface="Microsoft YaHei UI"/>
                <a:cs typeface="Microsoft YaHei UI"/>
              </a:rPr>
              <a:t>睡眠 / 安宁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1C6A68A-5F3D-4D79-80DE-D585440C585F}"/>
              </a:ext>
            </a:extLst>
          </p:cNvPr>
          <p:cNvSpPr>
            <a:spLocks noGrp="1"/>
          </p:cNvSpPr>
          <p:nvPr/>
        </p:nvSpPr>
        <p:spPr>
          <a:xfrm>
            <a:off x="2076450" y="5162550"/>
            <a:ext cx="16192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7423FE8-7D02-4B3B-B31C-DA5C8FF4FA59}"/>
              </a:ext>
            </a:extLst>
          </p:cNvPr>
          <p:cNvSpPr>
            <a:spLocks noGrp="1"/>
          </p:cNvSpPr>
          <p:nvPr/>
        </p:nvSpPr>
        <p:spPr>
          <a:xfrm>
            <a:off x="2190750" y="5257800"/>
            <a:ext cx="1390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Arousal↓</a:t>
            </a:r>
          </a:p>
          <a:p>
            <a:pPr algn="ctr">
              <a:def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Valence稳定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BCF5CA2-5608-4D5E-8ABF-FF27F4261935}"/>
              </a:ext>
            </a:extLst>
          </p:cNvPr>
          <p:cNvSpPr>
            <a:spLocks noGrp="1"/>
          </p:cNvSpPr>
          <p:nvPr/>
        </p:nvSpPr>
        <p:spPr>
          <a:xfrm>
            <a:off x="3695700" y="5162550"/>
            <a:ext cx="35242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A5E35FB-74C8-48DA-844E-7CBF99FE5B6A}"/>
              </a:ext>
            </a:extLst>
          </p:cNvPr>
          <p:cNvSpPr>
            <a:spLocks noGrp="1"/>
          </p:cNvSpPr>
          <p:nvPr/>
        </p:nvSpPr>
        <p:spPr>
          <a:xfrm>
            <a:off x="3810000" y="5257800"/>
            <a:ext cx="3295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低动态范围声景、呼吸节律音频、暗色低运动画面；避免蓝光和突发声音。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0481F25-24EA-4925-86D3-925BEFBA351D}"/>
              </a:ext>
            </a:extLst>
          </p:cNvPr>
          <p:cNvSpPr>
            <a:spLocks noGrp="1"/>
          </p:cNvSpPr>
          <p:nvPr/>
        </p:nvSpPr>
        <p:spPr>
          <a:xfrm>
            <a:off x="7219950" y="5162550"/>
            <a:ext cx="40957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D7D5CA7-3900-4D74-8622-203B77BEA269}"/>
              </a:ext>
            </a:extLst>
          </p:cNvPr>
          <p:cNvSpPr>
            <a:spLocks noGrp="1"/>
          </p:cNvSpPr>
          <p:nvPr/>
        </p:nvSpPr>
        <p:spPr>
          <a:xfrm>
            <a:off x="7334250" y="5257800"/>
            <a:ext cx="3867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PSQI、入睡潜伏期、夜醒、HRV、主观安宁感。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D48A38C-9919-45B9-BDB4-098F35801D4E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6808A"/>
                </a:solidFill>
                <a:latin typeface="Microsoft YaHei UI"/>
                <a:ea typeface="Microsoft YaHei UI"/>
                <a:cs typeface="Microsoft YaHei UI"/>
              </a:rPr>
              <a:t>应用矩阵是研究设计起点，不替代诊疗建议；具体方案需伦理审批和目标人群验证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CD077F5-2604-4E8A-BFC8-FA6736EF5909}"/>
              </a:ext>
            </a:extLst>
          </p:cNvPr>
          <p:cNvSpPr>
            <a:spLocks noGrp="1"/>
          </p:cNvSpPr>
          <p:nvPr/>
        </p:nvSpPr>
        <p:spPr>
          <a:xfrm>
            <a:off x="11334750" y="654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45515F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68832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1349</Words>
  <Application>Microsoft Office PowerPoint</Application>
  <DocSecurity>0</DocSecurity>
  <PresentationFormat>宽屏</PresentationFormat>
  <Paragraphs>268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霄鹏 郑</cp:lastModifiedBy>
  <cp:revision>4</cp:revision>
  <dcterms:created xsi:type="dcterms:W3CDTF">2026-06-03T10:48:28Z</dcterms:created>
  <dcterms:modified xsi:type="dcterms:W3CDTF">2026-06-17T12:08:07Z</dcterms:modified>
</cp:coreProperties>
</file>